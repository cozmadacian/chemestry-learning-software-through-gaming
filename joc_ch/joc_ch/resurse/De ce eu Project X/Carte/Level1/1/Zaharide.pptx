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76" r:id="rId7"/>
    <p:sldId id="277" r:id="rId8"/>
    <p:sldId id="278" r:id="rId9"/>
    <p:sldId id="279" r:id="rId10"/>
    <p:sldId id="280" r:id="rId11"/>
    <p:sldId id="268" r:id="rId12"/>
    <p:sldId id="269" r:id="rId13"/>
    <p:sldId id="270" r:id="rId14"/>
    <p:sldId id="271" r:id="rId15"/>
    <p:sldId id="272" r:id="rId16"/>
    <p:sldId id="281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>
      <p:cViewPr varScale="1">
        <p:scale>
          <a:sx n="92" d="100"/>
          <a:sy n="92" d="100"/>
        </p:scale>
        <p:origin x="84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0192" y="476707"/>
            <a:ext cx="2133599" cy="402221"/>
          </a:xfrm>
        </p:spPr>
        <p:txBody>
          <a:bodyPr>
            <a:normAutofit fontScale="90000"/>
          </a:bodyPr>
          <a:lstStyle/>
          <a:p>
            <a:r>
              <a:rPr lang="en-US" sz="2400" b="1" u="sng" dirty="0" err="1">
                <a:latin typeface="Helvetica" pitchFamily="34" charset="0"/>
                <a:cs typeface="Helvetica" pitchFamily="34" charset="0"/>
              </a:rPr>
              <a:t>Monozaharide</a:t>
            </a:r>
            <a:endParaRPr lang="en-US" sz="2400" b="1" u="sng" dirty="0"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284" y="1016372"/>
            <a:ext cx="3333415" cy="1922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28162" y="3114675"/>
            <a:ext cx="4958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Molecula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unei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monozaharide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formata</a:t>
            </a:r>
            <a:endParaRPr lang="en-US" sz="1600" b="1" dirty="0">
              <a:latin typeface="Helvetica" pitchFamily="34" charset="0"/>
              <a:ea typeface="Verdana" panose="020B0604030504040204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dintr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-o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grup</a:t>
            </a:r>
            <a:r>
              <a:rPr lang="ro-RO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ă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carbonil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tip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aldehida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cetona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una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doua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grupe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alcool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primar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una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multe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grupe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alcool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secundar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2572" y="4242418"/>
            <a:ext cx="50238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caracterizarea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unei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monozaharide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se</a:t>
            </a:r>
          </a:p>
          <a:p>
            <a:pPr algn="just"/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precizeaza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: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tipul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grupei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carbonil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numarul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atomilor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carbon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apare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sufixul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caracteristic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–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oza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9056" y="677818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u="sng" dirty="0" err="1">
                <a:latin typeface="Helvetica" pitchFamily="34" charset="0"/>
                <a:cs typeface="Helvetica" pitchFamily="34" charset="0"/>
              </a:rPr>
              <a:t>Izomerie</a:t>
            </a:r>
            <a:endParaRPr lang="en-US" sz="1600" b="1" u="sng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59056" y="1207821"/>
            <a:ext cx="48223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Monozaharidele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au 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molecula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lor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unul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sau</a:t>
            </a:r>
            <a:endParaRPr lang="en-US" sz="1600" b="1" dirty="0">
              <a:latin typeface="Helvetica" pitchFamily="34" charset="0"/>
              <a:ea typeface="Verdana" panose="020B0604030504040204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multi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atomi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carboni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asimetrici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sunt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optic active.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Numarul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stereoizomerilor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calculeaza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dupa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relatia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2^n,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unde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numarul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atomilor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carbon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chirali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Astfel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sunt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2^4=16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aldohexoze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2^3=8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cetohexoze</a:t>
            </a:r>
            <a:endParaRPr lang="en-US" sz="1600" b="1" dirty="0">
              <a:latin typeface="Helvetica" pitchFamily="34" charset="0"/>
              <a:ea typeface="Verdana" panose="020B0604030504040204" pitchFamily="34" charset="0"/>
              <a:cs typeface="Helvetica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68581" y="2938462"/>
            <a:ext cx="48128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functie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configuratia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atimului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 carbon</a:t>
            </a:r>
          </a:p>
          <a:p>
            <a:pPr algn="just"/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asimetric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cel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departat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grupa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carbonil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monozaharidele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sunt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incadrate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doua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serii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notate cu D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8581" y="4015680"/>
            <a:ext cx="48223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seria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 au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fost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cuprinse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cele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care au  la</a:t>
            </a:r>
          </a:p>
          <a:p>
            <a:pPr algn="just"/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acest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atom de carbon chiral o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configuratie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identica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cu a D-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glicerinaldehidei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849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  <p:sp>
        <p:nvSpPr>
          <p:cNvPr id="3" name="TextBox 2"/>
          <p:cNvSpPr txBox="1"/>
          <p:nvPr/>
        </p:nvSpPr>
        <p:spPr>
          <a:xfrm>
            <a:off x="2222518" y="392364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Exemple</a:t>
            </a: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735" y="5029200"/>
            <a:ext cx="1609344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032674"/>
            <a:ext cx="12192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3048000"/>
            <a:ext cx="1028700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672" y="3067050"/>
            <a:ext cx="981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297" y="1008073"/>
            <a:ext cx="1205827" cy="1853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753225" y="577030"/>
            <a:ext cx="42477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seria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L au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fost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cuprinse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cele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care au</a:t>
            </a:r>
          </a:p>
          <a:p>
            <a:pPr algn="just"/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atomul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de carbon chiral o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configura</a:t>
            </a:r>
            <a:r>
              <a:rPr lang="ro-RO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ț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ie</a:t>
            </a:r>
            <a:endParaRPr lang="en-U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/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identic</a:t>
            </a:r>
            <a:r>
              <a:rPr lang="ro-RO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ă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cu a L-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glicerinaldehidei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1800" y="147597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Exemple</a:t>
            </a: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</p:txBody>
      </p:sp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225" y="1981199"/>
            <a:ext cx="35718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044" y="3962400"/>
            <a:ext cx="2333625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033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2" y="-36510"/>
            <a:ext cx="12192000" cy="6858000"/>
          </a:xfrm>
        </p:spPr>
      </p:pic>
      <p:sp>
        <p:nvSpPr>
          <p:cNvPr id="3" name="Rectangle 2"/>
          <p:cNvSpPr/>
          <p:nvPr/>
        </p:nvSpPr>
        <p:spPr>
          <a:xfrm>
            <a:off x="666750" y="863025"/>
            <a:ext cx="52768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Fiecare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termen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din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seria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L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este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enantiomerul</a:t>
            </a:r>
            <a:endParaRPr lang="en-U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/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corespunzitor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al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unui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termen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din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seria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7225" y="3443360"/>
            <a:ext cx="48196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Doua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monozaharide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izomere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care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difera</a:t>
            </a:r>
            <a:endParaRPr lang="en-U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/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intre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ele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doar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prin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configuratia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unui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singur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atom de carbon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asimetric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se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numesc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epimeri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 De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exemplu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, D-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glucoza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D-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monoza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sunt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epimeri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C2,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iar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D-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glucoza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D-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galactoza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sunt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epimeri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C4.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Epimerii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sunt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un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caz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particular de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diastereoizomerie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7225" y="1619250"/>
            <a:ext cx="48196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Notaliile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L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sau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 nu au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nicio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legatura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cu</a:t>
            </a:r>
          </a:p>
          <a:p>
            <a:pPr algn="just"/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cuvintele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dextrogir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levogir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, care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indica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sensul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de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rotatie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al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planului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luminii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polarizate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 De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exemplu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 D-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fructoza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este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levogira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iar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D-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glucoza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este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dextrogira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Marea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majoritate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monozaharidelor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naturale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parte din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seria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7907" y="50113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Structura</a:t>
            </a:r>
            <a:endParaRPr lang="en-U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81800" y="1173464"/>
            <a:ext cx="429636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Toate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pentozele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hexozele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adopta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o</a:t>
            </a:r>
          </a:p>
          <a:p>
            <a:pPr algn="just"/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forma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cuclica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prin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aditia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unei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grupe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algn="just"/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hidroxil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la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grupa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carbonil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Formele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ciclice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algn="just"/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sunt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mai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stabile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decat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formele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aciclice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7855" y="2491814"/>
            <a:ext cx="42274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Pentru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reprezentarea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structurilor</a:t>
            </a:r>
            <a:endParaRPr lang="en-U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/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ciclice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ale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monozaharidelor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se pot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utiliza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algn="just"/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formule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Fischer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sau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formule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Haworth.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708" y="3563944"/>
            <a:ext cx="3775891" cy="1695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6178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57233" y="990600"/>
            <a:ext cx="49053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urma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ciclizarii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apare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o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grupa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hidroxil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</a:t>
            </a:r>
          </a:p>
          <a:p>
            <a:pPr algn="just"/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numita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hidroxil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glicozidic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care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poate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fi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dispusa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raport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cu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hidroxilul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pozitia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4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cu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cel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pozitia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2, de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aceeasi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parte a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catenei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ciclice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stereoizomerul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l-GR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α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glucoz</a:t>
            </a:r>
            <a:r>
              <a:rPr lang="ro-RO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ă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cealalta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parte a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catenei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ciclice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in 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stereoizomerul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l-GR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β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-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glucoza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7232" y="3409828"/>
            <a:ext cx="49053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La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inchiderea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ciclului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atomul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carbon</a:t>
            </a:r>
          </a:p>
          <a:p>
            <a:pPr algn="just"/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grupa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carbonil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devine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asimetric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se</a:t>
            </a:r>
          </a:p>
          <a:p>
            <a:pPr algn="just"/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numeste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carbon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anomeric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singurul</a:t>
            </a:r>
            <a:endParaRPr lang="en-US" sz="1600" b="1" dirty="0">
              <a:latin typeface="Helvetica" pitchFamily="34" charset="0"/>
              <a:ea typeface="Verdana" panose="020B0604030504040204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atom de carbon din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molecula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care se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leaga</a:t>
            </a:r>
            <a:endParaRPr lang="en-US" sz="1600" b="1" dirty="0">
              <a:latin typeface="Helvetica" pitchFamily="34" charset="0"/>
              <a:ea typeface="Verdana" panose="020B0604030504040204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doi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atomi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oxigen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4569" y="454223"/>
            <a:ext cx="214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600" b="1" u="sng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Propriet</a:t>
            </a:r>
            <a:r>
              <a:rPr lang="ro-RO" sz="1600" b="1" u="sng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ă</a:t>
            </a:r>
            <a:r>
              <a:rPr lang="en-US" sz="1600" b="1" u="sng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ti</a:t>
            </a:r>
            <a:r>
              <a:rPr lang="en-US" sz="1600" b="1" u="sng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u="sng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fizice</a:t>
            </a:r>
            <a:r>
              <a:rPr lang="en-US" sz="1600" b="1" u="sng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0841" y="1265366"/>
            <a:ext cx="448872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Moleculele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monozaharidelor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sunt</a:t>
            </a:r>
            <a:endParaRPr lang="en-US" sz="1600" b="1" dirty="0">
              <a:latin typeface="Helvetica" pitchFamily="34" charset="0"/>
              <a:ea typeface="Verdana" panose="020B0604030504040204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asociate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legaturi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hidrogen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;</a:t>
            </a:r>
          </a:p>
          <a:p>
            <a:pPr algn="just"/>
            <a:endParaRPr lang="en-US" sz="1600" b="1" dirty="0">
              <a:latin typeface="Helvetica" pitchFamily="34" charset="0"/>
              <a:ea typeface="Verdana" panose="020B0604030504040204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Monozaharidele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sunt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substantele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</a:p>
          <a:p>
            <a:pPr algn="just"/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solide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cristalizate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albe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care la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incalzire</a:t>
            </a:r>
            <a:endParaRPr lang="en-US" sz="1600" b="1" dirty="0">
              <a:latin typeface="Helvetica" pitchFamily="34" charset="0"/>
              <a:ea typeface="Verdana" panose="020B0604030504040204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avansata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descompun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in carbon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apa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;</a:t>
            </a:r>
          </a:p>
          <a:p>
            <a:pPr algn="just"/>
            <a:endParaRPr lang="en-US" sz="1600" b="1" dirty="0">
              <a:latin typeface="Helvetica" pitchFamily="34" charset="0"/>
              <a:ea typeface="Verdana" panose="020B0604030504040204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Sunt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solubile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apa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putin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solubile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in</a:t>
            </a:r>
          </a:p>
          <a:p>
            <a:pPr algn="just"/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alcool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greu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solubile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solventi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organici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;</a:t>
            </a:r>
          </a:p>
          <a:p>
            <a:pPr algn="just"/>
            <a:endParaRPr lang="en-US" sz="1600" b="1" dirty="0">
              <a:latin typeface="Helvetica" pitchFamily="34" charset="0"/>
              <a:ea typeface="Verdana" panose="020B0604030504040204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Au gust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dulce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proprietate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care se</a:t>
            </a:r>
          </a:p>
          <a:p>
            <a:pPr algn="just"/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intensifica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odata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cu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cresterea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numarului</a:t>
            </a:r>
            <a:endParaRPr lang="en-US" sz="1600" b="1" dirty="0">
              <a:latin typeface="Helvetica" pitchFamily="34" charset="0"/>
              <a:ea typeface="Verdana" panose="020B0604030504040204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de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grupe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hidroxil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molecula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Glucoza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</a:t>
            </a:r>
          </a:p>
          <a:p>
            <a:pPr algn="just"/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are 75% din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puterea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indulcire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fructozei</a:t>
            </a:r>
            <a:r>
              <a:rPr lang="en-US" sz="1600" b="1" dirty="0">
                <a:latin typeface="Helvetica" pitchFamily="34" charset="0"/>
                <a:ea typeface="Verdana" panose="020B0604030504040204" pitchFamily="34" charset="0"/>
                <a:cs typeface="Helvetica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28759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94342" y="618997"/>
            <a:ext cx="2323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Proprietati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chimice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FE99CE-5C6B-64F5-65B8-A1A6E7F5C576}"/>
              </a:ext>
            </a:extLst>
          </p:cNvPr>
          <p:cNvSpPr txBox="1"/>
          <p:nvPr/>
        </p:nvSpPr>
        <p:spPr>
          <a:xfrm>
            <a:off x="1775292" y="1079084"/>
            <a:ext cx="3527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b="1" u="sng" dirty="0" err="1">
                <a:latin typeface="Helvetica" pitchFamily="34" charset="0"/>
                <a:cs typeface="Helvetica" pitchFamily="34" charset="0"/>
              </a:rPr>
              <a:t>Reactia</a:t>
            </a:r>
            <a:r>
              <a:rPr lang="en-US" sz="1600" b="1" u="sng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u="sng" dirty="0" err="1">
                <a:latin typeface="Helvetica" pitchFamily="34" charset="0"/>
                <a:cs typeface="Helvetica" pitchFamily="34" charset="0"/>
              </a:rPr>
              <a:t>oxidare</a:t>
            </a:r>
            <a:r>
              <a:rPr lang="en-US" sz="1600" b="1" u="sng" dirty="0">
                <a:latin typeface="Helvetica" pitchFamily="34" charset="0"/>
                <a:cs typeface="Helvetica" pitchFamily="34" charset="0"/>
              </a:rPr>
              <a:t> a </a:t>
            </a:r>
            <a:r>
              <a:rPr lang="en-US" sz="1600" b="1" u="sng" dirty="0" err="1">
                <a:latin typeface="Helvetica" pitchFamily="34" charset="0"/>
                <a:cs typeface="Helvetica" pitchFamily="34" charset="0"/>
              </a:rPr>
              <a:t>aldozelor</a:t>
            </a:r>
            <a:endParaRPr lang="en-US" sz="1600" b="1" u="sng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7DFBA-8E01-E9F2-5CDF-5AD830144717}"/>
              </a:ext>
            </a:extLst>
          </p:cNvPr>
          <p:cNvSpPr txBox="1"/>
          <p:nvPr/>
        </p:nvSpPr>
        <p:spPr>
          <a:xfrm>
            <a:off x="1775292" y="1524000"/>
            <a:ext cx="37337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cs typeface="Helvetica" pitchFamily="34" charset="0"/>
              </a:rPr>
              <a:t>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molecula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aldose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afla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grupe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functionale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(--CH=O, </a:t>
            </a: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--CH2OH) care pot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trece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usor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grupe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carboxil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(--COOH) sub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actiunea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agenti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oxidanti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1.1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oxidare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blanda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: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Conditii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: </a:t>
            </a: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a)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apa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brom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apa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;</a:t>
            </a: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b)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reactiv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Tollens,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reactiv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Fehling;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52EC1A-0B14-DBAC-F16C-5FAEF47BE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044" y="3429000"/>
            <a:ext cx="3250293" cy="16936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150579-39E9-DCAE-CF6F-3B3889F87079}"/>
              </a:ext>
            </a:extLst>
          </p:cNvPr>
          <p:cNvSpPr txBox="1"/>
          <p:nvPr/>
        </p:nvSpPr>
        <p:spPr>
          <a:xfrm>
            <a:off x="6477000" y="359574"/>
            <a:ext cx="1262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Elephant" pitchFamily="18" charset="0"/>
              </a:rPr>
              <a:t>Exemple</a:t>
            </a:r>
            <a:r>
              <a:rPr lang="en-US" dirty="0">
                <a:latin typeface="Elephant" pitchFamily="18" charset="0"/>
              </a:rPr>
              <a:t>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C7A035-4CED-BA1E-22E8-51AD76EFC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655" y="923237"/>
            <a:ext cx="3420145" cy="18290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E769C86-D43B-5025-333D-3008F7EE1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749" y="3057688"/>
            <a:ext cx="3665956" cy="9502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7D46A0A-2BE0-CD1D-C644-0C9D0EDFE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076" y="4238615"/>
            <a:ext cx="3577301" cy="111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44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54A4EE-F0CE-B094-7D17-8F066D02C11C}"/>
              </a:ext>
            </a:extLst>
          </p:cNvPr>
          <p:cNvSpPr txBox="1"/>
          <p:nvPr/>
        </p:nvSpPr>
        <p:spPr>
          <a:xfrm>
            <a:off x="762000" y="874453"/>
            <a:ext cx="46482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cs typeface="Helvetica" pitchFamily="34" charset="0"/>
              </a:rPr>
              <a:t>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solutii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bazice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monozaharidele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sufera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un process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ireversibil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epimerizare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care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rezulta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un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amestec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complex de aldose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cetoze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izomere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exemplu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mediu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basic D-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gluzcoza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trece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D-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manoza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D-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fructoza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inver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manoza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fructoza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trec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D-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glucoza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cs typeface="Helvetica" pitchFamily="34" charset="0"/>
              </a:rPr>
              <a:t>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reactivii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Tollens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Fehling, care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sunt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solutii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bazice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nu pot fi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folositi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pentru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diferentia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aldozele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cetoze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desi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oxideaxza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numani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alhidele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nu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cetonele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B5FCB-E463-A449-EADE-4621B6255C1B}"/>
              </a:ext>
            </a:extLst>
          </p:cNvPr>
          <p:cNvSpPr txBox="1"/>
          <p:nvPr/>
        </p:nvSpPr>
        <p:spPr>
          <a:xfrm>
            <a:off x="6705600" y="382011"/>
            <a:ext cx="3799114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Helvetica" pitchFamily="34" charset="0"/>
                <a:cs typeface="Helvetica" pitchFamily="34" charset="0"/>
              </a:rPr>
              <a:t>1.2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Reactia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oxidare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energica</a:t>
            </a:r>
            <a:endParaRPr lang="en-US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b="1" dirty="0">
              <a:latin typeface="Helvetica" pitchFamily="34" charset="0"/>
              <a:cs typeface="Helvetica" pitchFamily="34" charset="0"/>
            </a:endParaRPr>
          </a:p>
          <a:p>
            <a:pPr algn="just"/>
            <a:endParaRPr lang="en-US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b="1" dirty="0" err="1">
                <a:latin typeface="Helvetica" pitchFamily="34" charset="0"/>
                <a:cs typeface="Helvetica" pitchFamily="34" charset="0"/>
              </a:rPr>
              <a:t>Conditii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:</a:t>
            </a:r>
          </a:p>
          <a:p>
            <a:pPr marL="342900" indent="-342900" algn="just">
              <a:buAutoNum type="alphaLcParenR"/>
            </a:pPr>
            <a:r>
              <a:rPr lang="en-US" b="1" dirty="0">
                <a:latin typeface="Helvetica" pitchFamily="34" charset="0"/>
                <a:cs typeface="Helvetica" pitchFamily="34" charset="0"/>
              </a:rPr>
              <a:t>HNO3,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solutie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concentrata</a:t>
            </a:r>
            <a:endParaRPr lang="en-US" b="1" dirty="0">
              <a:latin typeface="Helvetica" pitchFamily="34" charset="0"/>
              <a:cs typeface="Helvetica" pitchFamily="34" charset="0"/>
            </a:endParaRPr>
          </a:p>
          <a:p>
            <a:pPr marL="342900" indent="-342900" algn="just">
              <a:buAutoNum type="alphaLcParenR"/>
            </a:pPr>
            <a:endParaRPr lang="en-US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tratarea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aldozelor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cu HNO3, sunt oxidate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grupele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aldehida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(--CH=O)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si</a:t>
            </a:r>
            <a:endParaRPr lang="en-US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b="1" dirty="0" err="1">
                <a:latin typeface="Helvetica" pitchFamily="34" charset="0"/>
                <a:cs typeface="Helvetica" pitchFamily="34" charset="0"/>
              </a:rPr>
              <a:t>alcool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primar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(--CH2—OH)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obtin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acizi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polihidroxicarboxilici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numiti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acizi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zaharici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acizi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dirty="0" err="1">
                <a:latin typeface="Helvetica" pitchFamily="34" charset="0"/>
                <a:cs typeface="Helvetica" pitchFamily="34" charset="0"/>
              </a:rPr>
              <a:t>aldarici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622D0B-4812-EB85-C9B8-6D10A6104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786" y="1162050"/>
            <a:ext cx="3524742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60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0A92C6-32B8-B18F-3669-863985C79614}"/>
              </a:ext>
            </a:extLst>
          </p:cNvPr>
          <p:cNvSpPr txBox="1"/>
          <p:nvPr/>
        </p:nvSpPr>
        <p:spPr>
          <a:xfrm>
            <a:off x="1949140" y="45720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Exemplu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20B938-1F6E-29EF-281E-4281AAFF9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3620497" cy="21888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FC6128-8ED7-9CBB-E8CB-DA2DADBB2454}"/>
              </a:ext>
            </a:extLst>
          </p:cNvPr>
          <p:cNvSpPr txBox="1"/>
          <p:nvPr/>
        </p:nvSpPr>
        <p:spPr>
          <a:xfrm>
            <a:off x="1360037" y="3419475"/>
            <a:ext cx="3632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2.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reducere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D3925-C7F5-63F1-B2AC-792FF5721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292" y="3918613"/>
            <a:ext cx="3807796" cy="9581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ABC5E7-8D69-594A-807F-B225A80F0B86}"/>
              </a:ext>
            </a:extLst>
          </p:cNvPr>
          <p:cNvSpPr txBox="1"/>
          <p:nvPr/>
        </p:nvSpPr>
        <p:spPr>
          <a:xfrm>
            <a:off x="6609778" y="501545"/>
            <a:ext cx="49726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cs typeface="Helvetica" pitchFamily="34" charset="0"/>
              </a:rPr>
              <a:t>O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aldoza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formeaza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reducere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un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singur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alditol.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reducerea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cetoze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atomul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carbon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grupa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carbonil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devine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asimetric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obtin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doi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alditoli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izomeri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difera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intre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configuratia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acestui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atom de carbon.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CB4B2B-8473-EEB5-D52C-CA83244D014F}"/>
              </a:ext>
            </a:extLst>
          </p:cNvPr>
          <p:cNvSpPr txBox="1"/>
          <p:nvPr/>
        </p:nvSpPr>
        <p:spPr>
          <a:xfrm>
            <a:off x="6514104" y="2133600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Helvetica" pitchFamily="34" charset="0"/>
                <a:cs typeface="Helvetica" pitchFamily="34" charset="0"/>
              </a:rPr>
              <a:t>Exemple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7356CE-BFF9-0D57-5ED4-6856167D3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549" y="2670664"/>
            <a:ext cx="3761480" cy="28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4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38AC16-10C0-BC87-C50C-ADD9FC61D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620570"/>
            <a:ext cx="3657600" cy="50896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7C0510-67EC-0369-C61E-DD78AE39E841}"/>
              </a:ext>
            </a:extLst>
          </p:cNvPr>
          <p:cNvSpPr txBox="1"/>
          <p:nvPr/>
        </p:nvSpPr>
        <p:spPr>
          <a:xfrm>
            <a:off x="6477000" y="451293"/>
            <a:ext cx="3632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3.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condensare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85E746-51F7-CCB1-712E-609417593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50" y="942600"/>
            <a:ext cx="4650854" cy="1191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680A69-20C1-B403-1DCA-D0D7F17BBB38}"/>
              </a:ext>
            </a:extLst>
          </p:cNvPr>
          <p:cNvSpPr txBox="1"/>
          <p:nvPr/>
        </p:nvSpPr>
        <p:spPr>
          <a:xfrm>
            <a:off x="6705600" y="2212545"/>
            <a:ext cx="411480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Aldozele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cetozele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pot da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condensare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fenilhidrazina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La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formeaza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fenilhidrazonele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care, la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cald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exces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fenilhidrazina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trec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osazone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algn="just"/>
            <a:endParaRPr lang="en-US" sz="1400" b="1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B7F05B-6E0D-7E47-F321-DA3F9A0B306D}"/>
              </a:ext>
            </a:extLst>
          </p:cNvPr>
          <p:cNvSpPr txBox="1"/>
          <p:nvPr/>
        </p:nvSpPr>
        <p:spPr>
          <a:xfrm>
            <a:off x="6629399" y="3748577"/>
            <a:ext cx="50292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Deoarece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formarea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osazonelor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sunt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implicati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atomii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carbon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pozitiile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1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 2,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monozaharidele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aceleasi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configuratii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ale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celorlalti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atomi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carbon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aceeasi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osazona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Osazonele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sunt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substante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frumos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cristalizate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culoare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galbena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servesc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la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caracterizarea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monozaharidelor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2955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77C32D-498F-98B8-7964-70E5C750E897}"/>
              </a:ext>
            </a:extLst>
          </p:cNvPr>
          <p:cNvSpPr txBox="1"/>
          <p:nvPr/>
        </p:nvSpPr>
        <p:spPr>
          <a:xfrm>
            <a:off x="914400" y="849978"/>
            <a:ext cx="363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u="sng" dirty="0">
                <a:latin typeface="Helvetica" pitchFamily="34" charset="0"/>
                <a:cs typeface="Helvetica" pitchFamily="34" charset="0"/>
              </a:rPr>
              <a:t>4. </a:t>
            </a:r>
            <a:r>
              <a:rPr lang="en-US" b="1" u="sng" dirty="0" err="1">
                <a:latin typeface="Helvetica" pitchFamily="34" charset="0"/>
                <a:cs typeface="Helvetica" pitchFamily="34" charset="0"/>
              </a:rPr>
              <a:t>Reactii</a:t>
            </a:r>
            <a:r>
              <a:rPr lang="en-US" b="1" u="sng" dirty="0">
                <a:latin typeface="Helvetica" pitchFamily="34" charset="0"/>
                <a:cs typeface="Helvetica" pitchFamily="34" charset="0"/>
              </a:rPr>
              <a:t> ale </a:t>
            </a:r>
            <a:r>
              <a:rPr lang="en-US" b="1" u="sng" dirty="0" err="1">
                <a:latin typeface="Helvetica" pitchFamily="34" charset="0"/>
                <a:cs typeface="Helvetica" pitchFamily="34" charset="0"/>
              </a:rPr>
              <a:t>grupelor</a:t>
            </a:r>
            <a:r>
              <a:rPr lang="en-US" b="1" u="sng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b="1" u="sng" dirty="0" err="1">
                <a:latin typeface="Helvetica" pitchFamily="34" charset="0"/>
                <a:cs typeface="Helvetica" pitchFamily="34" charset="0"/>
              </a:rPr>
              <a:t>hidroxil</a:t>
            </a:r>
            <a:endParaRPr lang="en-US" b="1" u="sng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515D3-8393-84E3-DB66-790708068DB4}"/>
              </a:ext>
            </a:extLst>
          </p:cNvPr>
          <p:cNvSpPr txBox="1"/>
          <p:nvPr/>
        </p:nvSpPr>
        <p:spPr>
          <a:xfrm>
            <a:off x="914400" y="1524000"/>
            <a:ext cx="44196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Reactivitatea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grupelor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alchilare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(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eterificare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)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acilare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(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esterificare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)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scade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ordinea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: --OH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&gt; --OH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alcool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primar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&gt; --OH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alcool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secundar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cs typeface="Helvetica" pitchFamily="34" charset="0"/>
              </a:rPr>
              <a:t>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exemplu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poate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reactiona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alcoolii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inferiori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mediu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acid,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formand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timp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celelalte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grupe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trec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numai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reactive cu CH3I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prezenta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Ag2O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sulfat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metil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((CH3O)2SO2)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mediu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basic (NaOH).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F3057-C993-D212-BF7C-7FB34CA410FA}"/>
              </a:ext>
            </a:extLst>
          </p:cNvPr>
          <p:cNvSpPr txBox="1"/>
          <p:nvPr/>
        </p:nvSpPr>
        <p:spPr>
          <a:xfrm>
            <a:off x="6517196" y="419091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dirty="0" err="1">
                <a:latin typeface="Helvetica" pitchFamily="34" charset="0"/>
                <a:cs typeface="Helvetica" pitchFamily="34" charset="0"/>
              </a:rPr>
              <a:t>Exemplu</a:t>
            </a:r>
            <a:r>
              <a:rPr lang="en-US" b="1" dirty="0">
                <a:latin typeface="Helvetica" pitchFamily="34" charset="0"/>
                <a:cs typeface="Helvetica" pitchFamily="34" charset="0"/>
              </a:rPr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7E1CDE-66F9-6371-D8A4-DC0EE9907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849978"/>
            <a:ext cx="4063150" cy="23058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8F776B-D7F5-A7B8-46AD-C6BA8E93793C}"/>
              </a:ext>
            </a:extLst>
          </p:cNvPr>
          <p:cNvSpPr txBox="1"/>
          <p:nvPr/>
        </p:nvSpPr>
        <p:spPr>
          <a:xfrm>
            <a:off x="6629400" y="3295649"/>
            <a:ext cx="42917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hidrozila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blanda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prezentaa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de acid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clorhidric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hidrolizeaza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numai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la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atomul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carbon 1,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refacand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cs typeface="Helvetica" pitchFamily="34" charset="0"/>
              </a:rPr>
              <a:t>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esterificarem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grupa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reactioneaza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viteza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mare.</a:t>
            </a:r>
          </a:p>
        </p:txBody>
      </p:sp>
    </p:spTree>
    <p:extLst>
      <p:ext uri="{BB962C8B-B14F-4D97-AF65-F5344CB8AC3E}">
        <p14:creationId xmlns:p14="http://schemas.microsoft.com/office/powerpoint/2010/main" val="241133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A2E892-B355-60E6-111E-11BE23203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676275"/>
            <a:ext cx="4544292" cy="12009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E1D0B1-127D-0095-25BF-BE5CCC67820F}"/>
              </a:ext>
            </a:extLst>
          </p:cNvPr>
          <p:cNvSpPr txBox="1"/>
          <p:nvPr/>
        </p:nvSpPr>
        <p:spPr>
          <a:xfrm>
            <a:off x="895350" y="2312658"/>
            <a:ext cx="3632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u="sng" dirty="0">
                <a:latin typeface="Helvetica" pitchFamily="34" charset="0"/>
                <a:cs typeface="Helvetica" pitchFamily="34" charset="0"/>
              </a:rPr>
              <a:t>3. </a:t>
            </a:r>
            <a:r>
              <a:rPr lang="en-US" sz="1600" b="1" u="sng" dirty="0" err="1">
                <a:latin typeface="Helvetica" pitchFamily="34" charset="0"/>
                <a:cs typeface="Helvetica" pitchFamily="34" charset="0"/>
              </a:rPr>
              <a:t>Fermentatia</a:t>
            </a:r>
            <a:r>
              <a:rPr lang="en-US" sz="1600" b="1" u="sng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u="sng" dirty="0" err="1">
                <a:latin typeface="Helvetica" pitchFamily="34" charset="0"/>
                <a:cs typeface="Helvetica" pitchFamily="34" charset="0"/>
              </a:rPr>
              <a:t>alcoolica</a:t>
            </a:r>
            <a:endParaRPr lang="en-US" sz="1600" b="1" u="sng" dirty="0"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B93133-175D-4EAF-6DA1-17EF8885E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21" y="3181350"/>
            <a:ext cx="4471150" cy="70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77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52600" y="457200"/>
            <a:ext cx="2515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Elephant" pitchFamily="18" charset="0"/>
              </a:rPr>
              <a:t>Dizaharidele</a:t>
            </a:r>
            <a:endParaRPr lang="en-US" sz="2800" dirty="0">
              <a:latin typeface="Elephant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1" y="952500"/>
            <a:ext cx="487679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Molecula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dizaharide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obtine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teoretic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eliminarea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molecule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apa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intre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doua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molecule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monozaharide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identice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diferite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Eliminarea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poate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face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doua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moduri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Daca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eliminarea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apei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realizeaza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intre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hidroxidul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la o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molecula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monozaharida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o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grupa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obicei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pozitia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4, de la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cealalta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molecula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monozaharida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(C-O-C)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numeste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monocarbonilica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Daca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participa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la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condensare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provine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dintr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-un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anomer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l-GR" sz="1600" b="1" dirty="0">
                <a:latin typeface="Helvetica" pitchFamily="34" charset="0"/>
                <a:cs typeface="Helvetica" pitchFamily="34" charset="0"/>
              </a:rPr>
              <a:t>α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l-GR" sz="1600" b="1" dirty="0">
                <a:latin typeface="Helvetica" pitchFamily="34" charset="0"/>
                <a:cs typeface="Helvetica" pitchFamily="34" charset="0"/>
              </a:rPr>
              <a:t>α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(A)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Daca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participa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la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condensare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provine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dintr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-un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anomer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l-GR" sz="1600" b="1" dirty="0">
                <a:latin typeface="Helvetica" pitchFamily="34" charset="0"/>
                <a:cs typeface="Helvetica" pitchFamily="34" charset="0"/>
              </a:rPr>
              <a:t>β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l-GR" sz="1600" b="1" dirty="0">
                <a:latin typeface="Helvetica" pitchFamily="34" charset="0"/>
                <a:cs typeface="Helvetica" pitchFamily="34" charset="0"/>
              </a:rPr>
              <a:t>β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(B)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308" y="763193"/>
            <a:ext cx="3199869" cy="293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799" y="3886200"/>
            <a:ext cx="4338889" cy="1655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7493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5022" y="619127"/>
            <a:ext cx="4724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Daca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eliminarea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apei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loc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intre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grupele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glicozodice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ale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doua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monozaharide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formata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numeste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dicarbonilica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(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cazul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C).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molecula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zaharozei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unitatea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glucoza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unitatea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fructoza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sunt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unite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printr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-o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dicarbonilica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l-GR" sz="1600" b="1" dirty="0">
                <a:latin typeface="Helvetica" pitchFamily="34" charset="0"/>
                <a:cs typeface="Helvetica" pitchFamily="34" charset="0"/>
              </a:rPr>
              <a:t>α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partea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glucozei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l-GR" sz="1600" b="1" dirty="0">
                <a:latin typeface="Helvetica" pitchFamily="34" charset="0"/>
                <a:cs typeface="Helvetica" pitchFamily="34" charset="0"/>
              </a:rPr>
              <a:t>β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partea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fructozei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071" y="3048000"/>
            <a:ext cx="3872303" cy="2640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553201" y="5334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err="1">
                <a:latin typeface="Helvetica" pitchFamily="34" charset="0"/>
                <a:cs typeface="Helvetica" pitchFamily="34" charset="0"/>
              </a:rPr>
              <a:t>Proprietati</a:t>
            </a:r>
            <a:endParaRPr lang="en-US" b="1" u="sng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53200" y="1143000"/>
            <a:ext cx="4591321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Proprietatile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dizaharidelor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sunt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determinate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natura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Dizaharidele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monocarbonilica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avand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un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liber, pot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trece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in forma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carbonilica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pot da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reactii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specifice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acesteia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dizaharide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exista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sub forma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doi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anomeri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l-GR" sz="1600" b="1" dirty="0">
                <a:latin typeface="Helvetica" pitchFamily="34" charset="0"/>
                <a:cs typeface="Helvetica" pitchFamily="34" charset="0"/>
              </a:rPr>
              <a:t>α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l-GR" sz="1600" b="1" dirty="0">
                <a:latin typeface="Helvetica" pitchFamily="34" charset="0"/>
                <a:cs typeface="Helvetica" pitchFamily="34" charset="0"/>
              </a:rPr>
              <a:t>β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prezinta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mutarotatie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oxideaza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reduc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reactivii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:</a:t>
            </a: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Br2,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Tollens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Fehling.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Acestea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numesc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dizaharide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reducatoare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Dizaharidele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dicarbonilica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neavand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hidroxidul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live, nu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pot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trece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forma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carbonilica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nu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pot</a:t>
            </a: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da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specifice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acesteia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: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fenomenul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mutoritatie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reducere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solutiilor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Tolens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</a:t>
            </a: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Fehling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Br2.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numesc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dizaharide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nereducatoare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7491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00309" y="990600"/>
            <a:ext cx="48323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Hidroliza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oligozaharidelor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 un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proces</a:t>
            </a:r>
            <a:endParaRPr lang="en-US" sz="1600" b="1" dirty="0">
              <a:latin typeface="Helvetica" pitchFamily="34" charset="0"/>
              <a:ea typeface="Roboto" panose="02000000000000000000" pitchFamily="2" charset="0"/>
              <a:cs typeface="Helvetica" pitchFamily="34" charset="0"/>
            </a:endParaRPr>
          </a:p>
          <a:p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invers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condensarii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biochimice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monozaharidelor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Hidroliza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mediu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 acid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 o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hidroliza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totala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 conduce la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monozaharidele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constituente</a:t>
            </a:r>
            <a:r>
              <a:rPr lang="en-US" sz="1600" b="1" dirty="0">
                <a:latin typeface="Helvetica" pitchFamily="34" charset="0"/>
                <a:ea typeface="Roboto" panose="02000000000000000000" pitchFamily="2" charset="0"/>
                <a:cs typeface="Helvetica" pitchFamily="34" charset="0"/>
              </a:rPr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43" y="2610598"/>
            <a:ext cx="4547534" cy="642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690784" y="3657600"/>
            <a:ext cx="47788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cs typeface="Helvetica" pitchFamily="34" charset="0"/>
              </a:rPr>
              <a:t>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mediu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viu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hidroliza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sunt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catalizate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enzime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specifice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l-GR" sz="1600" b="1" dirty="0">
                <a:latin typeface="Helvetica" pitchFamily="34" charset="0"/>
                <a:cs typeface="Helvetica" pitchFamily="34" charset="0"/>
              </a:rPr>
              <a:t>α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sunt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hidrolizate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 </a:t>
            </a:r>
            <a:r>
              <a:rPr lang="el-GR" sz="1600" b="1" dirty="0">
                <a:latin typeface="Helvetica" pitchFamily="34" charset="0"/>
                <a:cs typeface="Helvetica" pitchFamily="34" charset="0"/>
              </a:rPr>
              <a:t>α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glicozidaze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l-GR" sz="1600" b="1" dirty="0">
                <a:latin typeface="Helvetica" pitchFamily="34" charset="0"/>
                <a:cs typeface="Helvetica" pitchFamily="34" charset="0"/>
              </a:rPr>
              <a:t>β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sunt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hidrolizate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l-GR" sz="1600" b="1" dirty="0">
                <a:latin typeface="Helvetica" pitchFamily="34" charset="0"/>
                <a:cs typeface="Helvetica" pitchFamily="34" charset="0"/>
              </a:rPr>
              <a:t>β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glicozidaze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838200"/>
            <a:ext cx="438613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Zaharoza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o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substanta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solida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alba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cristalizata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cu gust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dulce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solubila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apa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Zaharoza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topeste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la 185 grade Celsius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cand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formeaza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un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lichid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galben-brun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care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racire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da o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masa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amorfa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densa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cu </a:t>
            </a: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aspect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sticlos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numita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caramel. 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Daca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incalzirea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avansata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loc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un</a:t>
            </a: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proces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deshidratare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zaharoza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</a:t>
            </a: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carbonizeaza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hidroliza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acida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enzimatica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zaharoza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formeaza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un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amestec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echimolecular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D-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glucoza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fructoza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numit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zahar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invertit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Zaharoza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dextrogira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iar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solutia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rezultata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hidroliza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levrogira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1968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06441" y="457199"/>
            <a:ext cx="25987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3200" b="1" u="sng" dirty="0" err="1">
                <a:latin typeface="Helvetica" pitchFamily="34" charset="0"/>
                <a:cs typeface="Helvetica" pitchFamily="34" charset="0"/>
              </a:rPr>
              <a:t>Polizaharide</a:t>
            </a:r>
            <a:endParaRPr lang="en-US" sz="3200" b="1" u="sng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4483" y="1362071"/>
            <a:ext cx="42627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Sunt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compusi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macrimoleculari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naturali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obtinuti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policondensarea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biochimica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monozaharide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0E0DE2-26F9-EE76-0CB0-6F9C51842CBB}"/>
              </a:ext>
            </a:extLst>
          </p:cNvPr>
          <p:cNvSpPr txBox="1"/>
          <p:nvPr/>
        </p:nvSpPr>
        <p:spPr>
          <a:xfrm>
            <a:off x="774483" y="2369559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b="1" u="sng" dirty="0">
                <a:latin typeface="Helvetica" pitchFamily="34" charset="0"/>
                <a:cs typeface="Helvetica" pitchFamily="34" charset="0"/>
              </a:rPr>
              <a:t>Amidon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6B387-47FC-3177-C61B-16A4E61D5543}"/>
              </a:ext>
            </a:extLst>
          </p:cNvPr>
          <p:cNvSpPr txBox="1"/>
          <p:nvPr/>
        </p:nvSpPr>
        <p:spPr>
          <a:xfrm>
            <a:off x="774483" y="2857694"/>
            <a:ext cx="3836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Amidonul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polizaharida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rezerva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plantelor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format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doua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componente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: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amiloza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amilopectina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0CB858-DBFF-AFF7-B710-9BA3D56F1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066" y="4000775"/>
            <a:ext cx="3508310" cy="20243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B03254-69C7-B41D-1925-A3F1CEDF5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422" y="457199"/>
            <a:ext cx="4644578" cy="20292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8D6FC5-A1E8-A0E0-FA29-885EB6D04471}"/>
              </a:ext>
            </a:extLst>
          </p:cNvPr>
          <p:cNvSpPr txBox="1"/>
          <p:nvPr/>
        </p:nvSpPr>
        <p:spPr>
          <a:xfrm>
            <a:off x="6781800" y="2600392"/>
            <a:ext cx="464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cs typeface="Helvetica" pitchFamily="34" charset="0"/>
              </a:rPr>
              <a:t>În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amiloză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resturile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a-D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glucopiranoză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sunt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unite în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pozițiile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1-4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legături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monocarbonilice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macromoleculele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amiloză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nu sunt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ramificate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Între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covalenţele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C-O-C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puntea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eterică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un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unghi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111°. În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amiloză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toate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punțile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aceeaşi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orientare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atomii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oxigen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aflându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-se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aceeaşi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parte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axei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macromoleculei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5253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336108-3721-4503-65D4-054C0C836D1D}"/>
              </a:ext>
            </a:extLst>
          </p:cNvPr>
          <p:cNvSpPr txBox="1"/>
          <p:nvPr/>
        </p:nvSpPr>
        <p:spPr>
          <a:xfrm>
            <a:off x="866775" y="556260"/>
            <a:ext cx="4419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cs typeface="Helvetica" pitchFamily="34" charset="0"/>
              </a:rPr>
              <a:t>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această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cauză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macromoleculele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amiloză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sunt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răsucite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în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spirală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În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canalul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interiorul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spiralei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pot fi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adsorbite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moleculele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iod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situație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în care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apare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o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colorație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albastră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persistentă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Structura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simplă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macromoleculei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amiloză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facilitează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accesul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moleculelor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apă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în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jurul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acestor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molecule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şi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amiloza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solubilă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în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apă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caldă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cs typeface="Helvetica" pitchFamily="34" charset="0"/>
              </a:rPr>
              <a:t>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plante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amidoul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găseşte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sub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formă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de granule,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căror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formă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şi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mărime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sunt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caracteristice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fiecărei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specii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vegetale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Amiloza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reprezintă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10-20% din masa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amidonului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şi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constituie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în mare parte,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miezul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granulei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amidon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Are formula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generală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H(CHO) OH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simplu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-(C,H,O,)-, în care n=300-1200, în funcție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specia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vegetală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care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provine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0CEB3B-0974-5316-CB9C-646350366288}"/>
              </a:ext>
            </a:extLst>
          </p:cNvPr>
          <p:cNvSpPr txBox="1"/>
          <p:nvPr/>
        </p:nvSpPr>
        <p:spPr>
          <a:xfrm>
            <a:off x="6781800" y="503481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u="sng" dirty="0" err="1">
                <a:latin typeface="Helvetica" pitchFamily="34" charset="0"/>
                <a:cs typeface="Helvetica" pitchFamily="34" charset="0"/>
              </a:rPr>
              <a:t>Utilizari</a:t>
            </a:r>
            <a:endParaRPr lang="en-US" b="1" u="sng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DDED2-B564-FA6D-A5D3-3D371445CAF5}"/>
              </a:ext>
            </a:extLst>
          </p:cNvPr>
          <p:cNvSpPr txBox="1"/>
          <p:nvPr/>
        </p:nvSpPr>
        <p:spPr>
          <a:xfrm>
            <a:off x="6557127" y="1066800"/>
            <a:ext cx="5025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>
                <a:latin typeface="Helvetica" pitchFamily="34" charset="0"/>
                <a:cs typeface="Helvetica" pitchFamily="34" charset="0"/>
              </a:rPr>
              <a:t>Sub forma de coca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fiarta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coapta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amidonul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constituie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hrana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baza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omului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hidroliza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totala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amidonului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obtine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glucoza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57C2F1-502D-FB00-9EA8-47ECD0B5F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003" y="2133600"/>
            <a:ext cx="4119519" cy="4329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2A528C-156D-32A5-0C70-CD559F6DF7B6}"/>
              </a:ext>
            </a:extLst>
          </p:cNvPr>
          <p:cNvSpPr txBox="1"/>
          <p:nvPr/>
        </p:nvSpPr>
        <p:spPr>
          <a:xfrm>
            <a:off x="6614438" y="2819400"/>
            <a:ext cx="5025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Amidonul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cereale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utilizat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materie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prima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industria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berii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bauturilor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alcoolice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Alcoolul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etilic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obtine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amidon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conform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schemei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83C138-2967-4064-E58A-DF08BD2AB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4343400"/>
            <a:ext cx="4728650" cy="107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20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1D6E6E-FFEA-A543-843C-386E1F6DF7F2}"/>
              </a:ext>
            </a:extLst>
          </p:cNvPr>
          <p:cNvSpPr txBox="1"/>
          <p:nvPr/>
        </p:nvSpPr>
        <p:spPr>
          <a:xfrm>
            <a:off x="2270750" y="304800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err="1">
                <a:latin typeface="Helvetica" pitchFamily="34" charset="0"/>
                <a:cs typeface="Helvetica" pitchFamily="34" charset="0"/>
              </a:rPr>
              <a:t>Celuloza</a:t>
            </a:r>
            <a:endParaRPr lang="en-US" b="1" u="sng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BBBDC-1F77-EDC1-2A24-6D561A3CCEB4}"/>
              </a:ext>
            </a:extLst>
          </p:cNvPr>
          <p:cNvSpPr txBox="1"/>
          <p:nvPr/>
        </p:nvSpPr>
        <p:spPr>
          <a:xfrm>
            <a:off x="609600" y="3733800"/>
            <a:ext cx="4979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Macromoleculele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sunt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formate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resturi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B-D-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glucopiranoză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unite în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pozițiile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1-4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legături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monocarbonilice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B-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glicozidice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În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atomii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oxigen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punțile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eterice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sunt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orientați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alternativ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o parte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şi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axei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macromoleculei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iar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macromoleculele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au o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orientare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liniară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21C77-0324-427D-2E41-687E230C543C}"/>
              </a:ext>
            </a:extLst>
          </p:cNvPr>
          <p:cNvSpPr txBox="1"/>
          <p:nvPr/>
        </p:nvSpPr>
        <p:spPr>
          <a:xfrm>
            <a:off x="6705600" y="762000"/>
            <a:ext cx="48768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Structura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filiformă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macromoleculelor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</a:t>
            </a:r>
          </a:p>
          <a:p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permite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formarea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legături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hidrogen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intramoleculare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orientarea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paralelă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macromoleculelor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şi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realizarea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unui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număr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mare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legături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hidrogen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între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grupele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macromoleculele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învecinate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În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felul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acesta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macromoleculele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sunt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foarte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strâns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împachetate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iar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firul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rezistent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şi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insolubilă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în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apă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are formula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generala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--(C6H10O5)N-- </a:t>
            </a:r>
          </a:p>
          <a:p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unde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variaza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intre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300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3400, in funcție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specia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vegetala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care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provine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formeaza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partile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sustinere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ale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plantelor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impreuna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lignina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substante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necelulozice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confera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plantelor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rezistenta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mecanica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elasticitate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12478-FCFE-1B91-C8B4-081C7A780441}"/>
              </a:ext>
            </a:extLst>
          </p:cNvPr>
          <p:cNvSpPr txBox="1"/>
          <p:nvPr/>
        </p:nvSpPr>
        <p:spPr>
          <a:xfrm>
            <a:off x="586962" y="685800"/>
            <a:ext cx="502527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distilarea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amestecului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reactiv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obtine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spirtul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alb.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intreruperea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hidrolizei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acide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enzimatice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amidonului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obtine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un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sirop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alcatuit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dextrin,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maltoza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glucoza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Este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numit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melasa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midonata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sirop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porumb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foloseste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la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indulcirea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produlesor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cofetarie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algn="just"/>
            <a:endParaRPr lang="en-US" sz="1600" b="1" dirty="0">
              <a:latin typeface="Helvetica" pitchFamily="34" charset="0"/>
              <a:cs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501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7E4085-8FF7-BCF0-F1C0-4CC09EC10A11}"/>
              </a:ext>
            </a:extLst>
          </p:cNvPr>
          <p:cNvSpPr txBox="1"/>
          <p:nvPr/>
        </p:nvSpPr>
        <p:spPr>
          <a:xfrm>
            <a:off x="600075" y="1222329"/>
            <a:ext cx="50292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Organismul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uman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nu 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enzimele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necesare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hidrolizarii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nu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o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substanta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nutritive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pentru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om.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mare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cantitate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utilizata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la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obtinerea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fibrelor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textile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hartiei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Grupele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sunt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implicate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legaturi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hydrogen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aceea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sunt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putin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reactive.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Prin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tratarea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cu acid azotic</a:t>
            </a:r>
          </a:p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acid sulfuric, se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obtin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ai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cu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acidul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azotic,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nitrati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numiti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impropriu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nitroceluloza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0B9B6E-F1BF-CFC3-D223-FC24C1042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594519"/>
            <a:ext cx="4229399" cy="10969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67AC3A-0C75-6E81-BA68-1FA362413F2D}"/>
              </a:ext>
            </a:extLst>
          </p:cNvPr>
          <p:cNvSpPr txBox="1"/>
          <p:nvPr/>
        </p:nvSpPr>
        <p:spPr>
          <a:xfrm>
            <a:off x="6781801" y="1860758"/>
            <a:ext cx="4648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Ecuatia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reactiei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poate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fi redate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simplu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F3EC6E-8D5E-15FD-E395-A6BF6E3AF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285999"/>
            <a:ext cx="4385970" cy="7974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09D606-7739-0278-6B3F-1D629FB03DE2}"/>
              </a:ext>
            </a:extLst>
          </p:cNvPr>
          <p:cNvSpPr txBox="1"/>
          <p:nvPr/>
        </p:nvSpPr>
        <p:spPr>
          <a:xfrm>
            <a:off x="6781801" y="3276600"/>
            <a:ext cx="43859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Helvetica" pitchFamily="34" charset="0"/>
                <a:cs typeface="Helvetica" pitchFamily="34" charset="0"/>
              </a:rPr>
              <a:t>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fiecare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unitate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glucoza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celuloza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pot fi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esterificate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una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,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doua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sau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trei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grupe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hidroxil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4A568C-A45A-FD9F-EB18-089C5D983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4254874"/>
            <a:ext cx="4615341" cy="107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8B86BD-AF87-E5C1-2BD5-8FC28705C7CD}"/>
              </a:ext>
            </a:extLst>
          </p:cNvPr>
          <p:cNvSpPr txBox="1"/>
          <p:nvPr/>
        </p:nvSpPr>
        <p:spPr>
          <a:xfrm>
            <a:off x="2483640" y="609600"/>
            <a:ext cx="128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 err="1">
                <a:latin typeface="Helvetica" pitchFamily="34" charset="0"/>
                <a:cs typeface="Helvetica" pitchFamily="34" charset="0"/>
              </a:rPr>
              <a:t>Glicogen</a:t>
            </a:r>
            <a:endParaRPr lang="en-US" sz="2000" b="1" u="sng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197AF5-B9E8-A467-0560-4096296CB427}"/>
              </a:ext>
            </a:extLst>
          </p:cNvPr>
          <p:cNvSpPr txBox="1"/>
          <p:nvPr/>
        </p:nvSpPr>
        <p:spPr>
          <a:xfrm>
            <a:off x="762000" y="1485900"/>
            <a:ext cx="4724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Glicogenul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o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polizaharida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rezerva</a:t>
            </a:r>
            <a:endParaRPr lang="en-US" sz="1600" b="1" dirty="0">
              <a:latin typeface="Helvetica" pitchFamily="34" charset="0"/>
              <a:cs typeface="Helvetica" pitchFamily="34" charset="0"/>
            </a:endParaRPr>
          </a:p>
          <a:p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pentru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om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animale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este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depozitat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ficat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concentratie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mica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muschi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 Este format ca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amilopectina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sin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resturi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de a-D-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glicopiranoza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legate in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pozitiile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1-4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1-6. Are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macromoleculele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mici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si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mai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ramnificate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decat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 </a:t>
            </a:r>
            <a:r>
              <a:rPr lang="en-US" sz="1600" b="1" dirty="0" err="1">
                <a:latin typeface="Helvetica" pitchFamily="34" charset="0"/>
                <a:cs typeface="Helvetica" pitchFamily="34" charset="0"/>
              </a:rPr>
              <a:t>amilopectina</a:t>
            </a:r>
            <a:r>
              <a:rPr lang="en-US" sz="1600" b="1" dirty="0">
                <a:latin typeface="Helvetica" pitchFamily="34" charset="0"/>
                <a:cs typeface="Helvetic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6643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marL="285750" indent="-285750">
          <a:buFont typeface="Wingdings" pitchFamily="2" charset="2"/>
          <a:buChar char="v"/>
          <a:defRPr sz="1400" dirty="0" err="1" smtClean="0">
            <a:latin typeface="Elephant" pitchFamily="18" charset="0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2010</Words>
  <Application>Microsoft Office PowerPoint</Application>
  <PresentationFormat>Widescreen</PresentationFormat>
  <Paragraphs>219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Elephant</vt:lpstr>
      <vt:lpstr>Helvetica</vt:lpstr>
      <vt:lpstr>Wingdings</vt:lpstr>
      <vt:lpstr>Office Theme</vt:lpstr>
      <vt:lpstr>Monozaharide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Cozma Dacian</cp:lastModifiedBy>
  <cp:revision>47</cp:revision>
  <dcterms:created xsi:type="dcterms:W3CDTF">2006-08-16T00:00:00Z</dcterms:created>
  <dcterms:modified xsi:type="dcterms:W3CDTF">2024-05-13T11:00:08Z</dcterms:modified>
</cp:coreProperties>
</file>