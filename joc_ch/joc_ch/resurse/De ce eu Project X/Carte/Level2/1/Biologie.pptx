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1" r:id="rId2"/>
    <p:sldId id="262" r:id="rId3"/>
    <p:sldId id="263" r:id="rId4"/>
    <p:sldId id="264" r:id="rId5"/>
    <p:sldId id="265" r:id="rId6"/>
    <p:sldId id="266" r:id="rId7"/>
    <p:sldId id="257" r:id="rId8"/>
    <p:sldId id="258" r:id="rId9"/>
    <p:sldId id="259" r:id="rId10"/>
    <p:sldId id="260" r:id="rId11"/>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482" autoAdjust="0"/>
  </p:normalViewPr>
  <p:slideViewPr>
    <p:cSldViewPr>
      <p:cViewPr varScale="1">
        <p:scale>
          <a:sx n="91" d="100"/>
          <a:sy n="91" d="100"/>
        </p:scale>
        <p:origin x="96" y="102"/>
      </p:cViewPr>
      <p:guideLst>
        <p:guide orient="horz" pos="2160"/>
        <p:guide pos="3839"/>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162" y="2130428"/>
            <a:ext cx="10360501" cy="1470025"/>
          </a:xfrm>
        </p:spPr>
        <p:txBody>
          <a:bodyPr/>
          <a:lstStyle/>
          <a:p>
            <a:r>
              <a:rPr lang="en-US"/>
              <a:t>Click to edit Master title style</a:t>
            </a:r>
          </a:p>
        </p:txBody>
      </p:sp>
      <p:sp>
        <p:nvSpPr>
          <p:cNvPr id="3" name="Subtitle 2"/>
          <p:cNvSpPr>
            <a:spLocks noGrp="1"/>
          </p:cNvSpPr>
          <p:nvPr>
            <p:ph type="subTitle" idx="1"/>
          </p:nvPr>
        </p:nvSpPr>
        <p:spPr>
          <a:xfrm>
            <a:off x="1828324" y="3886200"/>
            <a:ext cx="8532178"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5/13/2024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008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5/13/2024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40447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833" y="4406903"/>
            <a:ext cx="10360501"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2833" y="2906713"/>
            <a:ext cx="10360501"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5/13/2024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46086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441" y="1600203"/>
            <a:ext cx="538339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5986" y="1600203"/>
            <a:ext cx="538339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5/13/2024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423949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441" y="1535113"/>
            <a:ext cx="5385514"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441" y="2174875"/>
            <a:ext cx="5385514"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1756" y="1535113"/>
            <a:ext cx="538763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1756" y="2174875"/>
            <a:ext cx="538763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solidFill>
                  <a:prstClr val="black">
                    <a:tint val="75000"/>
                  </a:prstClr>
                </a:solidFill>
              </a:rPr>
              <a:pPr/>
              <a:t>5/13/2024</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2239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solidFill>
                  <a:prstClr val="black">
                    <a:tint val="75000"/>
                  </a:prstClr>
                </a:solidFill>
              </a:rPr>
              <a:pPr/>
              <a:t>5/13/2024</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448434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solidFill>
                  <a:prstClr val="black">
                    <a:tint val="75000"/>
                  </a:prstClr>
                </a:solidFill>
              </a:rPr>
              <a:pPr/>
              <a:t>5/13/2024</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290846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3" y="273050"/>
            <a:ext cx="4010039"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5492" y="273053"/>
            <a:ext cx="681389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443" y="1435103"/>
            <a:ext cx="4010039"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5/13/2024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276528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095" y="4800600"/>
            <a:ext cx="7313295"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095" y="612775"/>
            <a:ext cx="731329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095" y="5367338"/>
            <a:ext cx="731329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5/13/2024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45131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5/13/2024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70481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274641"/>
            <a:ext cx="2742486"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441" y="274641"/>
            <a:ext cx="802431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5/13/2024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79341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8"/>
            <a:ext cx="10969943"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441" y="1600203"/>
            <a:ext cx="10969943"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3"/>
            <a:ext cx="2844059"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solidFill>
                  <a:prstClr val="black">
                    <a:tint val="75000"/>
                  </a:prstClr>
                </a:solidFill>
              </a:rPr>
              <a:pPr/>
              <a:t>5/13/2024</a:t>
            </a:fld>
            <a:endParaRPr lang="en-US">
              <a:solidFill>
                <a:prstClr val="black">
                  <a:tint val="75000"/>
                </a:prstClr>
              </a:solidFill>
            </a:endParaRPr>
          </a:p>
        </p:txBody>
      </p:sp>
      <p:sp>
        <p:nvSpPr>
          <p:cNvPr id="5" name="Footer Placeholder 4"/>
          <p:cNvSpPr>
            <a:spLocks noGrp="1"/>
          </p:cNvSpPr>
          <p:nvPr>
            <p:ph type="ftr" sz="quarter" idx="3"/>
          </p:nvPr>
        </p:nvSpPr>
        <p:spPr>
          <a:xfrm>
            <a:off x="4164515" y="6356353"/>
            <a:ext cx="385979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735325" y="6356353"/>
            <a:ext cx="2844059"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240430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8012" y="1295400"/>
            <a:ext cx="5334000" cy="3293209"/>
          </a:xfrm>
          <a:prstGeom prst="rect">
            <a:avLst/>
          </a:prstGeom>
        </p:spPr>
        <p:txBody>
          <a:bodyPr wrap="square">
            <a:spAutoFit/>
          </a:bodyPr>
          <a:lstStyle/>
          <a:p>
            <a:pPr marL="285750" indent="-285750" algn="just">
              <a:buFont typeface="Wingdings" pitchFamily="2" charset="2"/>
              <a:buChar char="v"/>
            </a:pPr>
            <a:r>
              <a:rPr lang="vi-VN" sz="1600" b="1" dirty="0">
                <a:latin typeface="Helvetica" pitchFamily="34" charset="0"/>
                <a:cs typeface="Helvetica" pitchFamily="34" charset="0"/>
              </a:rPr>
              <a:t>În toate celulele există două tipuri de acizi</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nucleici: </a:t>
            </a:r>
            <a:endParaRPr lang="en-US" sz="1600" b="1" dirty="0">
              <a:latin typeface="Helvetica" pitchFamily="34" charset="0"/>
              <a:cs typeface="Helvetica" pitchFamily="34" charset="0"/>
            </a:endParaRPr>
          </a:p>
          <a:p>
            <a:pPr algn="just"/>
            <a:r>
              <a:rPr lang="en-US" sz="1600" b="1" dirty="0">
                <a:latin typeface="Helvetica" pitchFamily="34" charset="0"/>
                <a:cs typeface="Helvetica" pitchFamily="34" charset="0"/>
              </a:rPr>
              <a:t>	</a:t>
            </a:r>
            <a:r>
              <a:rPr lang="vi-VN" sz="1600" b="1" dirty="0">
                <a:latin typeface="Helvetica" pitchFamily="34" charset="0"/>
                <a:cs typeface="Helvetica" pitchFamily="34" charset="0"/>
              </a:rPr>
              <a:t>- acid dezoxiribonucleic (ADN)</a:t>
            </a:r>
            <a:r>
              <a:rPr lang="en-US" sz="1600" b="1" dirty="0">
                <a:latin typeface="Helvetica" pitchFamily="34" charset="0"/>
                <a:cs typeface="Helvetica" pitchFamily="34" charset="0"/>
              </a:rPr>
              <a:t> </a:t>
            </a:r>
          </a:p>
          <a:p>
            <a:pPr algn="just"/>
            <a:r>
              <a:rPr lang="en-US" sz="1600" b="1" dirty="0">
                <a:latin typeface="Helvetica" pitchFamily="34" charset="0"/>
                <a:cs typeface="Helvetica" pitchFamily="34" charset="0"/>
              </a:rPr>
              <a:t>	</a:t>
            </a:r>
            <a:r>
              <a:rPr lang="vi-VN" sz="1600" b="1" dirty="0">
                <a:latin typeface="Helvetica" pitchFamily="34" charset="0"/>
                <a:cs typeface="Helvetica" pitchFamily="34" charset="0"/>
              </a:rPr>
              <a:t>- acid ribonucleic (ARN) </a:t>
            </a:r>
            <a:endParaRPr lang="en-US" sz="1600" b="1" dirty="0">
              <a:latin typeface="Helvetica" pitchFamily="34" charset="0"/>
              <a:cs typeface="Helvetica" pitchFamily="34" charset="0"/>
            </a:endParaRPr>
          </a:p>
          <a:p>
            <a:pPr marL="285750" indent="-285750" algn="just">
              <a:buFont typeface="Wingdings" pitchFamily="2" charset="2"/>
              <a:buChar char="v"/>
            </a:pPr>
            <a:endParaRPr lang="en-US" sz="1600" b="1" dirty="0">
              <a:latin typeface="Helvetica" pitchFamily="34" charset="0"/>
              <a:cs typeface="Helvetica" pitchFamily="34" charset="0"/>
            </a:endParaRPr>
          </a:p>
          <a:p>
            <a:pPr marL="285750" indent="-285750" algn="just">
              <a:buFont typeface="Wingdings" pitchFamily="2" charset="2"/>
              <a:buChar char="v"/>
            </a:pPr>
            <a:r>
              <a:rPr lang="vi-VN" sz="1600" b="1" dirty="0">
                <a:latin typeface="Helvetica" pitchFamily="34" charset="0"/>
                <a:cs typeface="Helvetica" pitchFamily="34" charset="0"/>
              </a:rPr>
              <a:t>Acizii nucleici sunt substanțe chimice </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macromoleculare alcătuite din unități simple </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numite nucleotide (deci sunt polimeri de nucleotide). </a:t>
            </a:r>
            <a:endParaRPr lang="en-US" sz="1600" b="1" dirty="0">
              <a:latin typeface="Helvetica" pitchFamily="34" charset="0"/>
              <a:cs typeface="Helvetica" pitchFamily="34" charset="0"/>
            </a:endParaRPr>
          </a:p>
          <a:p>
            <a:pPr marL="285750" indent="-285750" algn="just">
              <a:buFont typeface="Wingdings" pitchFamily="2" charset="2"/>
              <a:buChar char="v"/>
            </a:pPr>
            <a:endParaRPr lang="en-US" sz="1600" b="1" dirty="0">
              <a:latin typeface="Helvetica" pitchFamily="34" charset="0"/>
              <a:cs typeface="Helvetica" pitchFamily="34" charset="0"/>
            </a:endParaRPr>
          </a:p>
          <a:p>
            <a:pPr marL="285750" indent="-285750" algn="just">
              <a:buFont typeface="Wingdings" pitchFamily="2" charset="2"/>
              <a:buChar char="v"/>
            </a:pPr>
            <a:r>
              <a:rPr lang="vi-VN" sz="1600" b="1" dirty="0">
                <a:latin typeface="Helvetica" pitchFamily="34" charset="0"/>
                <a:cs typeface="Helvetica" pitchFamily="34" charset="0"/>
              </a:rPr>
              <a:t>O nucleotidă este alcatuită din trei</a:t>
            </a:r>
            <a:r>
              <a:rPr lang="en-US" sz="1600" b="1" dirty="0">
                <a:latin typeface="Helvetica" pitchFamily="34" charset="0"/>
                <a:cs typeface="Helvetica" pitchFamily="34" charset="0"/>
              </a:rPr>
              <a:t> </a:t>
            </a:r>
            <a:r>
              <a:rPr lang="vi-VN" sz="1600" b="1" dirty="0">
                <a:latin typeface="Helvetica" pitchFamily="34" charset="0"/>
                <a:cs typeface="Helvetica" pitchFamily="34" charset="0"/>
              </a:rPr>
              <a:t>componente: </a:t>
            </a:r>
            <a:endParaRPr lang="en-US" sz="1600" b="1" dirty="0">
              <a:latin typeface="Helvetica" pitchFamily="34" charset="0"/>
              <a:cs typeface="Helvetica" pitchFamily="34" charset="0"/>
            </a:endParaRPr>
          </a:p>
          <a:p>
            <a:pPr algn="just"/>
            <a:r>
              <a:rPr lang="en-US" sz="1600" b="1" dirty="0">
                <a:latin typeface="Helvetica" pitchFamily="34" charset="0"/>
                <a:cs typeface="Helvetica" pitchFamily="34" charset="0"/>
              </a:rPr>
              <a:t>	</a:t>
            </a:r>
            <a:r>
              <a:rPr lang="vi-VN" sz="1600" b="1" dirty="0">
                <a:latin typeface="Helvetica" pitchFamily="34" charset="0"/>
                <a:cs typeface="Helvetica" pitchFamily="34" charset="0"/>
              </a:rPr>
              <a:t>- o bază azotată </a:t>
            </a:r>
            <a:endParaRPr lang="en-US" sz="1600" b="1" dirty="0">
              <a:latin typeface="Helvetica" pitchFamily="34" charset="0"/>
              <a:cs typeface="Helvetica" pitchFamily="34" charset="0"/>
            </a:endParaRPr>
          </a:p>
          <a:p>
            <a:pPr algn="just"/>
            <a:r>
              <a:rPr lang="en-US" sz="1600" b="1" dirty="0">
                <a:latin typeface="Helvetica" pitchFamily="34" charset="0"/>
                <a:cs typeface="Helvetica" pitchFamily="34" charset="0"/>
              </a:rPr>
              <a:t>	</a:t>
            </a:r>
            <a:r>
              <a:rPr lang="vi-VN" sz="1600" b="1" dirty="0">
                <a:latin typeface="Helvetica" pitchFamily="34" charset="0"/>
                <a:cs typeface="Helvetica" pitchFamily="34" charset="0"/>
              </a:rPr>
              <a:t>- un zahar </a:t>
            </a:r>
            <a:endParaRPr lang="en-US" sz="1600" b="1" dirty="0">
              <a:latin typeface="Helvetica" pitchFamily="34" charset="0"/>
              <a:cs typeface="Helvetica" pitchFamily="34" charset="0"/>
            </a:endParaRPr>
          </a:p>
          <a:p>
            <a:pPr algn="just"/>
            <a:r>
              <a:rPr lang="en-US" sz="1600" b="1" dirty="0">
                <a:latin typeface="Helvetica" pitchFamily="34" charset="0"/>
                <a:cs typeface="Helvetica" pitchFamily="34" charset="0"/>
              </a:rPr>
              <a:t>	</a:t>
            </a:r>
            <a:r>
              <a:rPr lang="vi-VN" sz="1600" b="1" dirty="0">
                <a:latin typeface="Helvetica" pitchFamily="34" charset="0"/>
                <a:cs typeface="Helvetica" pitchFamily="34" charset="0"/>
              </a:rPr>
              <a:t>- un radical fosforic </a:t>
            </a:r>
            <a:endParaRPr lang="en-US" sz="1600" b="1" dirty="0">
              <a:latin typeface="Helvetica" pitchFamily="34" charset="0"/>
              <a:cs typeface="Helvetica" pitchFamily="34" charset="0"/>
            </a:endParaRPr>
          </a:p>
        </p:txBody>
      </p:sp>
      <p:sp>
        <p:nvSpPr>
          <p:cNvPr id="5" name="Rectangle 4"/>
          <p:cNvSpPr/>
          <p:nvPr/>
        </p:nvSpPr>
        <p:spPr>
          <a:xfrm>
            <a:off x="2017983" y="381000"/>
            <a:ext cx="2209258" cy="707886"/>
          </a:xfrm>
          <a:prstGeom prst="rect">
            <a:avLst/>
          </a:prstGeom>
        </p:spPr>
        <p:txBody>
          <a:bodyPr wrap="none">
            <a:spAutoFit/>
          </a:bodyPr>
          <a:lstStyle/>
          <a:p>
            <a:pPr algn="ctr"/>
            <a:r>
              <a:rPr lang="en-US" sz="2000" b="1" u="sng" dirty="0">
                <a:latin typeface="Helvetica" pitchFamily="34" charset="0"/>
                <a:cs typeface="Helvetica" pitchFamily="34" charset="0"/>
              </a:rPr>
              <a:t>ACIZI NUCLEICI </a:t>
            </a:r>
          </a:p>
          <a:p>
            <a:pPr algn="ctr"/>
            <a:r>
              <a:rPr lang="en-US" sz="2000" b="1" u="sng" dirty="0">
                <a:latin typeface="Helvetica" pitchFamily="34" charset="0"/>
                <a:cs typeface="Helvetica" pitchFamily="34" charset="0"/>
              </a:rPr>
              <a:t>AD</a:t>
            </a:r>
            <a:r>
              <a:rPr lang="ro-RO" sz="2000" b="1" u="sng" dirty="0">
                <a:latin typeface="Helvetica" pitchFamily="34" charset="0"/>
                <a:cs typeface="Helvetica" pitchFamily="34" charset="0"/>
              </a:rPr>
              <a:t>N</a:t>
            </a:r>
            <a:r>
              <a:rPr lang="en-US" sz="2000" b="1" u="sng" dirty="0">
                <a:latin typeface="Helvetica" pitchFamily="34" charset="0"/>
                <a:cs typeface="Helvetica" pitchFamily="34" charset="0"/>
              </a:rPr>
              <a:t> - ARN</a:t>
            </a:r>
          </a:p>
        </p:txBody>
      </p:sp>
      <p:sp>
        <p:nvSpPr>
          <p:cNvPr id="6" name="Rectangle 5"/>
          <p:cNvSpPr/>
          <p:nvPr/>
        </p:nvSpPr>
        <p:spPr>
          <a:xfrm>
            <a:off x="6627812" y="990600"/>
            <a:ext cx="4876800" cy="1815882"/>
          </a:xfrm>
          <a:prstGeom prst="rect">
            <a:avLst/>
          </a:prstGeom>
        </p:spPr>
        <p:txBody>
          <a:bodyPr wrap="square">
            <a:spAutoFit/>
          </a:bodyPr>
          <a:lstStyle/>
          <a:p>
            <a:pPr marL="342900" indent="-342900" algn="just">
              <a:buAutoNum type="arabicPeriod"/>
            </a:pPr>
            <a:r>
              <a:rPr lang="vi-VN" sz="1600" b="1" dirty="0">
                <a:latin typeface="Helvetica" pitchFamily="34" charset="0"/>
                <a:cs typeface="Helvetica" pitchFamily="34" charset="0"/>
              </a:rPr>
              <a:t>Bazele azotate purinice au două cicluri</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condensate însumând 5 atomi de carbon și 4 atomi de azot, ele sunt urmatoarele:</a:t>
            </a:r>
            <a:endParaRPr lang="en-US" sz="1600" b="1" dirty="0">
              <a:latin typeface="Helvetica" pitchFamily="34" charset="0"/>
              <a:cs typeface="Helvetica" pitchFamily="34" charset="0"/>
            </a:endParaRPr>
          </a:p>
          <a:p>
            <a:pPr algn="just"/>
            <a:r>
              <a:rPr lang="en-US" sz="1600" b="1" dirty="0">
                <a:latin typeface="Helvetica" pitchFamily="34" charset="0"/>
                <a:cs typeface="Helvetica" pitchFamily="34" charset="0"/>
              </a:rPr>
              <a:t>	</a:t>
            </a:r>
            <a:r>
              <a:rPr lang="vi-VN" sz="1600" b="1" dirty="0">
                <a:latin typeface="Helvetica" pitchFamily="34" charset="0"/>
                <a:cs typeface="Helvetica" pitchFamily="34" charset="0"/>
              </a:rPr>
              <a:t>- adenina (A)</a:t>
            </a:r>
            <a:endParaRPr lang="en-US" sz="1600" b="1" dirty="0">
              <a:latin typeface="Helvetica" pitchFamily="34" charset="0"/>
              <a:cs typeface="Helvetica" pitchFamily="34" charset="0"/>
            </a:endParaRPr>
          </a:p>
          <a:p>
            <a:pPr algn="just"/>
            <a:r>
              <a:rPr lang="en-US" sz="1600" b="1" dirty="0">
                <a:latin typeface="Helvetica" pitchFamily="34" charset="0"/>
                <a:cs typeface="Helvetica" pitchFamily="34" charset="0"/>
              </a:rPr>
              <a:t>	</a:t>
            </a:r>
            <a:r>
              <a:rPr lang="vi-VN" sz="1600" b="1" dirty="0">
                <a:latin typeface="Helvetica" pitchFamily="34" charset="0"/>
                <a:cs typeface="Helvetica" pitchFamily="34" charset="0"/>
              </a:rPr>
              <a:t>- guanina (G) </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Ambele baze azotate purinice sunt prezente atat în ADN cât și în ARN.</a:t>
            </a:r>
            <a:endParaRPr lang="en-US" sz="1600" b="1" dirty="0">
              <a:latin typeface="Helvetica" pitchFamily="34" charset="0"/>
              <a:cs typeface="Helvetica" pitchFamily="34" charset="0"/>
            </a:endParaRPr>
          </a:p>
        </p:txBody>
      </p:sp>
      <p:sp>
        <p:nvSpPr>
          <p:cNvPr id="7" name="Rectangle 6"/>
          <p:cNvSpPr/>
          <p:nvPr/>
        </p:nvSpPr>
        <p:spPr>
          <a:xfrm>
            <a:off x="6627812" y="3400425"/>
            <a:ext cx="4876800" cy="1815882"/>
          </a:xfrm>
          <a:prstGeom prst="rect">
            <a:avLst/>
          </a:prstGeom>
        </p:spPr>
        <p:txBody>
          <a:bodyPr wrap="square">
            <a:spAutoFit/>
          </a:bodyPr>
          <a:lstStyle/>
          <a:p>
            <a:pPr algn="just"/>
            <a:r>
              <a:rPr lang="vi-VN" sz="1600" b="1" dirty="0">
                <a:latin typeface="Helvetica" pitchFamily="34" charset="0"/>
                <a:cs typeface="Helvetica" pitchFamily="34" charset="0"/>
              </a:rPr>
              <a:t>2. Bazele azotate pirimidinice au un singur ciclu cu 4 atomi de carbon si 2 atomi de azot, ele sunt urmatoarele: </a:t>
            </a:r>
            <a:endParaRPr lang="en-US" sz="1600" b="1" dirty="0">
              <a:latin typeface="Helvetica" pitchFamily="34" charset="0"/>
              <a:cs typeface="Helvetica" pitchFamily="34" charset="0"/>
            </a:endParaRPr>
          </a:p>
          <a:p>
            <a:pPr algn="just"/>
            <a:r>
              <a:rPr lang="en-US" sz="1600" b="1" dirty="0">
                <a:latin typeface="Helvetica" pitchFamily="34" charset="0"/>
                <a:cs typeface="Helvetica" pitchFamily="34" charset="0"/>
              </a:rPr>
              <a:t>	</a:t>
            </a:r>
            <a:r>
              <a:rPr lang="vi-VN" sz="1600" b="1" dirty="0">
                <a:latin typeface="Helvetica" pitchFamily="34" charset="0"/>
                <a:cs typeface="Helvetica" pitchFamily="34" charset="0"/>
              </a:rPr>
              <a:t>- citozina (C); prezentă atât în ADN cât și în ARN </a:t>
            </a:r>
            <a:endParaRPr lang="en-US" sz="1600" b="1" dirty="0">
              <a:latin typeface="Helvetica" pitchFamily="34" charset="0"/>
              <a:cs typeface="Helvetica" pitchFamily="34" charset="0"/>
            </a:endParaRPr>
          </a:p>
          <a:p>
            <a:pPr algn="just"/>
            <a:r>
              <a:rPr lang="en-US" sz="1600" b="1" dirty="0">
                <a:latin typeface="Helvetica" pitchFamily="34" charset="0"/>
                <a:cs typeface="Helvetica" pitchFamily="34" charset="0"/>
              </a:rPr>
              <a:t>	</a:t>
            </a:r>
            <a:r>
              <a:rPr lang="vi-VN" sz="1600" b="1" dirty="0">
                <a:latin typeface="Helvetica" pitchFamily="34" charset="0"/>
                <a:cs typeface="Helvetica" pitchFamily="34" charset="0"/>
              </a:rPr>
              <a:t>- timina (T); prezentă doar în ADN - uracilul (U); prezent doar în ARN</a:t>
            </a:r>
            <a:endParaRPr lang="en-US" sz="1600" b="1" dirty="0">
              <a:latin typeface="Helvetica" pitchFamily="34" charset="0"/>
              <a:cs typeface="Helvetica" pitchFamily="34" charset="0"/>
            </a:endParaRPr>
          </a:p>
        </p:txBody>
      </p:sp>
    </p:spTree>
    <p:extLst>
      <p:ext uri="{BB962C8B-B14F-4D97-AF65-F5344CB8AC3E}">
        <p14:creationId xmlns:p14="http://schemas.microsoft.com/office/powerpoint/2010/main" val="3348279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0413" y="609600"/>
            <a:ext cx="4724400" cy="1077218"/>
          </a:xfrm>
          <a:prstGeom prst="rect">
            <a:avLst/>
          </a:prstGeom>
        </p:spPr>
        <p:txBody>
          <a:bodyPr wrap="square">
            <a:spAutoFit/>
          </a:bodyPr>
          <a:lstStyle/>
          <a:p>
            <a:pPr marL="285750" indent="-285750" algn="just">
              <a:buFont typeface="Wingdings" pitchFamily="2" charset="2"/>
              <a:buChar char="v"/>
            </a:pPr>
            <a:r>
              <a:rPr lang="en-US" sz="1600" b="1" dirty="0" err="1">
                <a:latin typeface="Helvetica" pitchFamily="34" charset="0"/>
                <a:cs typeface="Helvetica" pitchFamily="34" charset="0"/>
              </a:rPr>
              <a:t>Zaharul</a:t>
            </a:r>
            <a:r>
              <a:rPr lang="en-US" sz="1600" b="1" dirty="0">
                <a:latin typeface="Helvetica" pitchFamily="34" charset="0"/>
                <a:cs typeface="Helvetica" pitchFamily="34" charset="0"/>
              </a:rPr>
              <a:t> </a:t>
            </a:r>
            <a:r>
              <a:rPr lang="en-US" sz="1600" b="1" dirty="0" err="1">
                <a:latin typeface="Helvetica" pitchFamily="34" charset="0"/>
                <a:cs typeface="Helvetica" pitchFamily="34" charset="0"/>
              </a:rPr>
              <a:t>este</a:t>
            </a:r>
            <a:r>
              <a:rPr lang="en-US" sz="1600" b="1" dirty="0">
                <a:latin typeface="Helvetica" pitchFamily="34" charset="0"/>
                <a:cs typeface="Helvetica" pitchFamily="34" charset="0"/>
              </a:rPr>
              <a:t> un </a:t>
            </a:r>
            <a:r>
              <a:rPr lang="en-US" sz="1600" b="1" dirty="0" err="1">
                <a:latin typeface="Helvetica" pitchFamily="34" charset="0"/>
                <a:cs typeface="Helvetica" pitchFamily="34" charset="0"/>
              </a:rPr>
              <a:t>monozaharid</a:t>
            </a:r>
            <a:r>
              <a:rPr lang="en-US" sz="1600" b="1" dirty="0">
                <a:latin typeface="Helvetica" pitchFamily="34" charset="0"/>
                <a:cs typeface="Helvetica" pitchFamily="34" charset="0"/>
              </a:rPr>
              <a:t> cu 5 </a:t>
            </a:r>
            <a:r>
              <a:rPr lang="en-US" sz="1600" b="1" dirty="0" err="1">
                <a:latin typeface="Helvetica" pitchFamily="34" charset="0"/>
                <a:cs typeface="Helvetica" pitchFamily="34" charset="0"/>
              </a:rPr>
              <a:t>atomi</a:t>
            </a:r>
            <a:r>
              <a:rPr lang="en-US" sz="1600" b="1" dirty="0">
                <a:latin typeface="Helvetica" pitchFamily="34" charset="0"/>
                <a:cs typeface="Helvetica" pitchFamily="34" charset="0"/>
              </a:rPr>
              <a:t> de</a:t>
            </a:r>
          </a:p>
          <a:p>
            <a:pPr algn="just"/>
            <a:r>
              <a:rPr lang="en-US" sz="1600" b="1" dirty="0">
                <a:latin typeface="Helvetica" pitchFamily="34" charset="0"/>
                <a:cs typeface="Helvetica" pitchFamily="34" charset="0"/>
              </a:rPr>
              <a:t>carbon (o </a:t>
            </a:r>
            <a:r>
              <a:rPr lang="en-US" sz="1600" b="1" dirty="0" err="1">
                <a:latin typeface="Helvetica" pitchFamily="34" charset="0"/>
                <a:cs typeface="Helvetica" pitchFamily="34" charset="0"/>
              </a:rPr>
              <a:t>pentoza</a:t>
            </a:r>
            <a:r>
              <a:rPr lang="en-US" sz="1600" b="1" dirty="0">
                <a:latin typeface="Helvetica" pitchFamily="34" charset="0"/>
                <a:cs typeface="Helvetica" pitchFamily="34" charset="0"/>
              </a:rPr>
              <a:t>). Este </a:t>
            </a:r>
            <a:r>
              <a:rPr lang="en-US" sz="1600" b="1" dirty="0" err="1">
                <a:latin typeface="Helvetica" pitchFamily="34" charset="0"/>
                <a:cs typeface="Helvetica" pitchFamily="34" charset="0"/>
              </a:rPr>
              <a:t>reprezentat</a:t>
            </a:r>
            <a:r>
              <a:rPr lang="en-US" sz="1600" b="1" dirty="0">
                <a:latin typeface="Helvetica" pitchFamily="34" charset="0"/>
                <a:cs typeface="Helvetica" pitchFamily="34" charset="0"/>
              </a:rPr>
              <a:t> de: </a:t>
            </a:r>
          </a:p>
          <a:p>
            <a:pPr algn="just"/>
            <a:r>
              <a:rPr lang="en-US" sz="1600" b="1" dirty="0">
                <a:latin typeface="Helvetica" pitchFamily="34" charset="0"/>
                <a:cs typeface="Helvetica" pitchFamily="34" charset="0"/>
              </a:rPr>
              <a:t>	- </a:t>
            </a:r>
            <a:r>
              <a:rPr lang="en-US" sz="1600" b="1" dirty="0" err="1">
                <a:latin typeface="Helvetica" pitchFamily="34" charset="0"/>
                <a:cs typeface="Helvetica" pitchFamily="34" charset="0"/>
              </a:rPr>
              <a:t>riboza</a:t>
            </a:r>
            <a:r>
              <a:rPr lang="en-US" sz="1600" b="1" dirty="0">
                <a:latin typeface="Helvetica" pitchFamily="34" charset="0"/>
                <a:cs typeface="Helvetica" pitchFamily="34" charset="0"/>
              </a:rPr>
              <a:t> (R) </a:t>
            </a:r>
            <a:r>
              <a:rPr lang="en-US" sz="1600" b="1" dirty="0" err="1">
                <a:latin typeface="Helvetica" pitchFamily="34" charset="0"/>
                <a:cs typeface="Helvetica" pitchFamily="34" charset="0"/>
              </a:rPr>
              <a:t>în</a:t>
            </a:r>
            <a:r>
              <a:rPr lang="en-US" sz="1600" b="1" dirty="0">
                <a:latin typeface="Helvetica" pitchFamily="34" charset="0"/>
                <a:cs typeface="Helvetica" pitchFamily="34" charset="0"/>
              </a:rPr>
              <a:t> ARN </a:t>
            </a:r>
          </a:p>
          <a:p>
            <a:pPr algn="just"/>
            <a:r>
              <a:rPr lang="en-US" sz="1600" b="1" dirty="0">
                <a:latin typeface="Helvetica" pitchFamily="34" charset="0"/>
                <a:cs typeface="Helvetica" pitchFamily="34" charset="0"/>
              </a:rPr>
              <a:t>	- </a:t>
            </a:r>
            <a:r>
              <a:rPr lang="en-US" sz="1600" b="1" dirty="0" err="1">
                <a:latin typeface="Helvetica" pitchFamily="34" charset="0"/>
                <a:cs typeface="Helvetica" pitchFamily="34" charset="0"/>
              </a:rPr>
              <a:t>dezoxiriboza</a:t>
            </a:r>
            <a:r>
              <a:rPr lang="en-US" sz="1600" b="1" dirty="0">
                <a:latin typeface="Helvetica" pitchFamily="34" charset="0"/>
                <a:cs typeface="Helvetica" pitchFamily="34" charset="0"/>
              </a:rPr>
              <a:t> (D) </a:t>
            </a:r>
            <a:r>
              <a:rPr lang="en-US" sz="1600" b="1" dirty="0" err="1">
                <a:latin typeface="Helvetica" pitchFamily="34" charset="0"/>
                <a:cs typeface="Helvetica" pitchFamily="34" charset="0"/>
              </a:rPr>
              <a:t>în</a:t>
            </a:r>
            <a:r>
              <a:rPr lang="en-US" sz="1600" b="1" dirty="0">
                <a:latin typeface="Helvetica" pitchFamily="34" charset="0"/>
                <a:cs typeface="Helvetica" pitchFamily="34" charset="0"/>
              </a:rPr>
              <a:t> ADN</a:t>
            </a:r>
          </a:p>
        </p:txBody>
      </p:sp>
      <p:sp>
        <p:nvSpPr>
          <p:cNvPr id="5" name="Rectangle 4"/>
          <p:cNvSpPr/>
          <p:nvPr/>
        </p:nvSpPr>
        <p:spPr>
          <a:xfrm>
            <a:off x="760413" y="1666977"/>
            <a:ext cx="4724400" cy="4031873"/>
          </a:xfrm>
          <a:prstGeom prst="rect">
            <a:avLst/>
          </a:prstGeom>
        </p:spPr>
        <p:txBody>
          <a:bodyPr wrap="square">
            <a:spAutoFit/>
          </a:bodyPr>
          <a:lstStyle/>
          <a:p>
            <a:pPr marL="285750" indent="-285750" algn="just">
              <a:buFont typeface="Wingdings" pitchFamily="2" charset="2"/>
              <a:buChar char="v"/>
            </a:pPr>
            <a:r>
              <a:rPr lang="vi-VN" sz="1600" b="1" dirty="0">
                <a:latin typeface="Helvetica" pitchFamily="34" charset="0"/>
                <a:cs typeface="Helvetica" pitchFamily="34" charset="0"/>
              </a:rPr>
              <a:t>Combinarea unei baze azotate purinice sau </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pirimidinice cu o pentoză (zahar) formează o nucleosidă. </a:t>
            </a:r>
            <a:endParaRPr lang="en-US" sz="1600" b="1" dirty="0">
              <a:latin typeface="Helvetica" pitchFamily="34" charset="0"/>
              <a:cs typeface="Helvetica" pitchFamily="34" charset="0"/>
            </a:endParaRPr>
          </a:p>
          <a:p>
            <a:pPr marL="285750" indent="-285750" algn="just">
              <a:buFont typeface="Wingdings" pitchFamily="2" charset="2"/>
              <a:buChar char="v"/>
            </a:pPr>
            <a:endParaRPr lang="en-US" sz="1600" b="1" dirty="0">
              <a:latin typeface="Helvetica" pitchFamily="34" charset="0"/>
              <a:cs typeface="Helvetica" pitchFamily="34" charset="0"/>
            </a:endParaRPr>
          </a:p>
          <a:p>
            <a:pPr marL="285750" indent="-285750" algn="just">
              <a:buFont typeface="Wingdings" pitchFamily="2" charset="2"/>
              <a:buChar char="v"/>
            </a:pPr>
            <a:r>
              <a:rPr lang="vi-VN" sz="1600" b="1" dirty="0">
                <a:latin typeface="Helvetica" pitchFamily="34" charset="0"/>
                <a:cs typeface="Helvetica" pitchFamily="34" charset="0"/>
              </a:rPr>
              <a:t>Dacă se atașează o grupare fosfat la</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zaharul unei nucleoside rezultă o nucleotidă. </a:t>
            </a:r>
            <a:endParaRPr lang="en-US" sz="1600" b="1" dirty="0">
              <a:latin typeface="Helvetica" pitchFamily="34" charset="0"/>
              <a:cs typeface="Helvetica" pitchFamily="34" charset="0"/>
            </a:endParaRPr>
          </a:p>
          <a:p>
            <a:pPr marL="285750" indent="-285750" algn="just">
              <a:buFont typeface="Wingdings" pitchFamily="2" charset="2"/>
              <a:buChar char="v"/>
            </a:pPr>
            <a:endParaRPr lang="en-US" sz="1600" b="1" dirty="0">
              <a:latin typeface="Helvetica" pitchFamily="34" charset="0"/>
              <a:cs typeface="Helvetica" pitchFamily="34" charset="0"/>
            </a:endParaRPr>
          </a:p>
          <a:p>
            <a:pPr algn="just"/>
            <a:endParaRPr lang="en-US" sz="1600" b="1" dirty="0">
              <a:latin typeface="Helvetica" pitchFamily="34" charset="0"/>
              <a:cs typeface="Helvetica" pitchFamily="34" charset="0"/>
            </a:endParaRPr>
          </a:p>
          <a:p>
            <a:pPr marL="285750" indent="-285750" algn="just">
              <a:buFont typeface="Wingdings" pitchFamily="2" charset="2"/>
              <a:buChar char="v"/>
            </a:pPr>
            <a:endParaRPr lang="en-US" sz="1600" b="1" dirty="0">
              <a:latin typeface="Helvetica" pitchFamily="34" charset="0"/>
              <a:cs typeface="Helvetica" pitchFamily="34" charset="0"/>
            </a:endParaRPr>
          </a:p>
          <a:p>
            <a:pPr marL="285750" indent="-285750" algn="just">
              <a:buFont typeface="Wingdings" pitchFamily="2" charset="2"/>
              <a:buChar char="v"/>
            </a:pPr>
            <a:r>
              <a:rPr lang="vi-VN" sz="1600" b="1" dirty="0">
                <a:latin typeface="Helvetica" pitchFamily="34" charset="0"/>
                <a:cs typeface="Helvetica" pitchFamily="34" charset="0"/>
              </a:rPr>
              <a:t>Radicalul fosforic (P) formează legături</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esterice cu pentozele. </a:t>
            </a:r>
            <a:endParaRPr lang="en-US" sz="1600" b="1" dirty="0">
              <a:latin typeface="Helvetica" pitchFamily="34" charset="0"/>
              <a:cs typeface="Helvetica" pitchFamily="34" charset="0"/>
            </a:endParaRPr>
          </a:p>
          <a:p>
            <a:pPr algn="just"/>
            <a:endParaRPr lang="en-US" sz="1600" b="1" dirty="0">
              <a:latin typeface="Helvetica" pitchFamily="34" charset="0"/>
              <a:cs typeface="Helvetica" pitchFamily="34" charset="0"/>
            </a:endParaRPr>
          </a:p>
          <a:p>
            <a:pPr marL="285750" indent="-285750" algn="just">
              <a:buFont typeface="Wingdings" pitchFamily="2" charset="2"/>
              <a:buChar char="v"/>
            </a:pPr>
            <a:r>
              <a:rPr lang="vi-VN" sz="1600" b="1" dirty="0">
                <a:latin typeface="Helvetica" pitchFamily="34" charset="0"/>
                <a:cs typeface="Helvetica" pitchFamily="34" charset="0"/>
              </a:rPr>
              <a:t>Legatura se stabileste între al 5-lea atom de</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carbon al unei pentoze și al 3-lea atom de carbon al pentozei următoare, formând astfel lanturi (catene) polinucleotidice. </a:t>
            </a:r>
            <a:endParaRPr lang="en-US" sz="1600" b="1" dirty="0">
              <a:latin typeface="Helvetica" pitchFamily="34" charset="0"/>
              <a:cs typeface="Helvetica" pitchFamily="34" charset="0"/>
            </a:endParaRPr>
          </a:p>
        </p:txBody>
      </p:sp>
      <p:sp>
        <p:nvSpPr>
          <p:cNvPr id="6" name="Rectangle 5"/>
          <p:cNvSpPr/>
          <p:nvPr/>
        </p:nvSpPr>
        <p:spPr>
          <a:xfrm>
            <a:off x="577849" y="3276600"/>
            <a:ext cx="5486399" cy="507831"/>
          </a:xfrm>
          <a:prstGeom prst="rect">
            <a:avLst/>
          </a:prstGeom>
        </p:spPr>
        <p:txBody>
          <a:bodyPr wrap="square">
            <a:spAutoFit/>
          </a:bodyPr>
          <a:lstStyle/>
          <a:p>
            <a:r>
              <a:rPr lang="vi-VN" sz="1350" b="1" dirty="0">
                <a:latin typeface="Helvetica" pitchFamily="34" charset="0"/>
                <a:cs typeface="Helvetica" pitchFamily="34" charset="0"/>
              </a:rPr>
              <a:t>o baza azotată + un zahar = o nucleosidă </a:t>
            </a:r>
            <a:endParaRPr lang="en-US" sz="1350" b="1" dirty="0">
              <a:latin typeface="Helvetica" pitchFamily="34" charset="0"/>
              <a:cs typeface="Helvetica" pitchFamily="34" charset="0"/>
            </a:endParaRPr>
          </a:p>
          <a:p>
            <a:r>
              <a:rPr lang="vi-VN" sz="1350" b="1" dirty="0">
                <a:latin typeface="Helvetica" pitchFamily="34" charset="0"/>
                <a:cs typeface="Helvetica" pitchFamily="34" charset="0"/>
              </a:rPr>
              <a:t>o baza azotata + un zahar + un radical fosforic = o nucleotidă</a:t>
            </a:r>
            <a:endParaRPr lang="en-US" sz="1350" dirty="0"/>
          </a:p>
        </p:txBody>
      </p:sp>
      <p:sp>
        <p:nvSpPr>
          <p:cNvPr id="7" name="Rectangle 6"/>
          <p:cNvSpPr/>
          <p:nvPr/>
        </p:nvSpPr>
        <p:spPr>
          <a:xfrm>
            <a:off x="6588124" y="609600"/>
            <a:ext cx="5145088" cy="830997"/>
          </a:xfrm>
          <a:prstGeom prst="rect">
            <a:avLst/>
          </a:prstGeom>
        </p:spPr>
        <p:txBody>
          <a:bodyPr wrap="square">
            <a:spAutoFit/>
          </a:bodyPr>
          <a:lstStyle/>
          <a:p>
            <a:pPr marL="285750" indent="-285750" algn="just">
              <a:buFont typeface="Wingdings" pitchFamily="2" charset="2"/>
              <a:buChar char="v"/>
            </a:pPr>
            <a:r>
              <a:rPr lang="vi-VN" sz="1600" b="1" dirty="0">
                <a:latin typeface="Helvetica" pitchFamily="34" charset="0"/>
                <a:cs typeface="Helvetica" pitchFamily="34" charset="0"/>
              </a:rPr>
              <a:t>Legarea nucleotidelor între ele cu formarea</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lanțurilor polinucleotidice reprezintă structura primară a acizilor nucleici.</a:t>
            </a:r>
            <a:endParaRPr lang="en-US" sz="1600" b="1" dirty="0">
              <a:latin typeface="Helvetica" pitchFamily="34" charset="0"/>
              <a:cs typeface="Helvetica" pitchFamily="34" charset="0"/>
            </a:endParaRPr>
          </a:p>
        </p:txBody>
      </p:sp>
      <p:sp>
        <p:nvSpPr>
          <p:cNvPr id="9" name="Rectangle 8"/>
          <p:cNvSpPr/>
          <p:nvPr/>
        </p:nvSpPr>
        <p:spPr>
          <a:xfrm>
            <a:off x="7699549" y="1778942"/>
            <a:ext cx="2885726" cy="461665"/>
          </a:xfrm>
          <a:prstGeom prst="rect">
            <a:avLst/>
          </a:prstGeom>
        </p:spPr>
        <p:txBody>
          <a:bodyPr wrap="none">
            <a:spAutoFit/>
          </a:bodyPr>
          <a:lstStyle/>
          <a:p>
            <a:pPr algn="ctr"/>
            <a:r>
              <a:rPr lang="en-US" sz="2400" b="1" u="sng" dirty="0">
                <a:latin typeface="Helvetica" pitchFamily="34" charset="0"/>
                <a:cs typeface="Helvetica" pitchFamily="34" charset="0"/>
              </a:rPr>
              <a:t>ADN, </a:t>
            </a:r>
            <a:r>
              <a:rPr lang="en-US" sz="2400" b="1" u="sng" dirty="0" err="1">
                <a:latin typeface="Helvetica" pitchFamily="34" charset="0"/>
                <a:cs typeface="Helvetica" pitchFamily="34" charset="0"/>
              </a:rPr>
              <a:t>spirala</a:t>
            </a:r>
            <a:r>
              <a:rPr lang="en-US" sz="2400" b="1" u="sng" dirty="0">
                <a:latin typeface="Helvetica" pitchFamily="34" charset="0"/>
                <a:cs typeface="Helvetica" pitchFamily="34" charset="0"/>
              </a:rPr>
              <a:t> </a:t>
            </a:r>
            <a:r>
              <a:rPr lang="en-US" sz="2400" b="1" u="sng" dirty="0" err="1">
                <a:latin typeface="Helvetica" pitchFamily="34" charset="0"/>
                <a:cs typeface="Helvetica" pitchFamily="34" charset="0"/>
              </a:rPr>
              <a:t>vieții</a:t>
            </a:r>
            <a:r>
              <a:rPr lang="en-US" sz="2400" b="1" u="sng" dirty="0">
                <a:latin typeface="Helvetica" pitchFamily="34" charset="0"/>
                <a:cs typeface="Helvetica" pitchFamily="34" charset="0"/>
              </a:rPr>
              <a:t> </a:t>
            </a:r>
          </a:p>
        </p:txBody>
      </p:sp>
      <p:sp>
        <p:nvSpPr>
          <p:cNvPr id="10" name="Rectangle 9"/>
          <p:cNvSpPr/>
          <p:nvPr/>
        </p:nvSpPr>
        <p:spPr>
          <a:xfrm>
            <a:off x="6588124" y="2462822"/>
            <a:ext cx="5145088" cy="1077218"/>
          </a:xfrm>
          <a:prstGeom prst="rect">
            <a:avLst/>
          </a:prstGeom>
        </p:spPr>
        <p:txBody>
          <a:bodyPr wrap="square">
            <a:spAutoFit/>
          </a:bodyPr>
          <a:lstStyle/>
          <a:p>
            <a:pPr marL="285750" indent="-285750">
              <a:buFont typeface="Wingdings" pitchFamily="2" charset="2"/>
              <a:buChar char="v"/>
            </a:pPr>
            <a:r>
              <a:rPr lang="vi-VN" sz="1600" b="1" dirty="0">
                <a:latin typeface="Helvetica" pitchFamily="34" charset="0"/>
                <a:cs typeface="Helvetica" pitchFamily="34" charset="0"/>
              </a:rPr>
              <a:t>ADN-ul este o substanță macromoleculară</a:t>
            </a:r>
            <a:endParaRPr lang="en-US" sz="1600" b="1" dirty="0">
              <a:latin typeface="Helvetica" pitchFamily="34" charset="0"/>
              <a:cs typeface="Helvetica" pitchFamily="34" charset="0"/>
            </a:endParaRPr>
          </a:p>
          <a:p>
            <a:r>
              <a:rPr lang="vi-VN" sz="1600" b="1" dirty="0">
                <a:latin typeface="Helvetica" pitchFamily="34" charset="0"/>
                <a:cs typeface="Helvetica" pitchFamily="34" charset="0"/>
              </a:rPr>
              <a:t>bicatenară formată din 2 catene polinucleotidice care se înfășoarăă una în jurul celeilalte, în</a:t>
            </a:r>
            <a:r>
              <a:rPr lang="en-US" sz="1600" b="1" dirty="0">
                <a:latin typeface="Helvetica" pitchFamily="34" charset="0"/>
                <a:cs typeface="Helvetica" pitchFamily="34" charset="0"/>
              </a:rPr>
              <a:t> </a:t>
            </a:r>
            <a:r>
              <a:rPr lang="vi-VN" sz="1600" b="1" dirty="0">
                <a:latin typeface="Helvetica" pitchFamily="34" charset="0"/>
                <a:cs typeface="Helvetica" pitchFamily="34" charset="0"/>
              </a:rPr>
              <a:t>spirală, astfel încât se formează un dublu helix. </a:t>
            </a:r>
            <a:endParaRPr lang="en-US" sz="1600" b="1" dirty="0">
              <a:latin typeface="Helvetica" pitchFamily="34" charset="0"/>
              <a:cs typeface="Helvetica" pitchFamily="34" charset="0"/>
            </a:endParaRPr>
          </a:p>
        </p:txBody>
      </p:sp>
      <p:sp>
        <p:nvSpPr>
          <p:cNvPr id="11" name="Rectangle 10"/>
          <p:cNvSpPr/>
          <p:nvPr/>
        </p:nvSpPr>
        <p:spPr>
          <a:xfrm>
            <a:off x="6588124" y="3668018"/>
            <a:ext cx="5145088" cy="1815882"/>
          </a:xfrm>
          <a:prstGeom prst="rect">
            <a:avLst/>
          </a:prstGeom>
        </p:spPr>
        <p:txBody>
          <a:bodyPr wrap="square">
            <a:spAutoFit/>
          </a:bodyPr>
          <a:lstStyle/>
          <a:p>
            <a:pPr marL="285750" indent="-285750" algn="just">
              <a:buFont typeface="Wingdings" pitchFamily="2" charset="2"/>
              <a:buChar char="v"/>
            </a:pPr>
            <a:r>
              <a:rPr lang="vi-VN" sz="1600" b="1" dirty="0">
                <a:latin typeface="Helvetica" pitchFamily="34" charset="0"/>
                <a:cs typeface="Helvetica" pitchFamily="34" charset="0"/>
              </a:rPr>
              <a:t>În macromolecula de ADN se deosebesc</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două tipuri de structuri: </a:t>
            </a:r>
            <a:endParaRPr lang="en-US" sz="1600" b="1" dirty="0">
              <a:latin typeface="Helvetica" pitchFamily="34" charset="0"/>
              <a:cs typeface="Helvetica" pitchFamily="34" charset="0"/>
            </a:endParaRPr>
          </a:p>
          <a:p>
            <a:pPr algn="just"/>
            <a:r>
              <a:rPr lang="en-US" sz="1600" b="1" dirty="0">
                <a:latin typeface="Helvetica" pitchFamily="34" charset="0"/>
                <a:cs typeface="Helvetica" pitchFamily="34" charset="0"/>
              </a:rPr>
              <a:t>	</a:t>
            </a:r>
            <a:r>
              <a:rPr lang="vi-VN" sz="1600" b="1" dirty="0">
                <a:latin typeface="Helvetica" pitchFamily="34" charset="0"/>
                <a:cs typeface="Helvetica" pitchFamily="34" charset="0"/>
              </a:rPr>
              <a:t>a) structura primară monocatenară: reprezentata de succesiunea de nucleotide dintr-o catenă. </a:t>
            </a:r>
            <a:endParaRPr lang="en-US" sz="1600" b="1" dirty="0">
              <a:latin typeface="Helvetica" pitchFamily="34" charset="0"/>
              <a:cs typeface="Helvetica" pitchFamily="34" charset="0"/>
            </a:endParaRPr>
          </a:p>
          <a:p>
            <a:pPr algn="just"/>
            <a:r>
              <a:rPr lang="en-US" sz="1600" b="1" dirty="0">
                <a:latin typeface="Helvetica" pitchFamily="34" charset="0"/>
                <a:cs typeface="Helvetica" pitchFamily="34" charset="0"/>
              </a:rPr>
              <a:t>	</a:t>
            </a:r>
            <a:r>
              <a:rPr lang="vi-VN" sz="1600" b="1" dirty="0">
                <a:latin typeface="Helvetica" pitchFamily="34" charset="0"/>
                <a:cs typeface="Helvetica" pitchFamily="34" charset="0"/>
              </a:rPr>
              <a:t>b)structura secundară bicatenară: reprezentată de structura bicatenara a ADN-ului.</a:t>
            </a:r>
            <a:endParaRPr lang="en-US" sz="1600" b="1" dirty="0">
              <a:latin typeface="Helvetica" pitchFamily="34" charset="0"/>
              <a:cs typeface="Helvetica" pitchFamily="34" charset="0"/>
            </a:endParaRPr>
          </a:p>
        </p:txBody>
      </p:sp>
    </p:spTree>
    <p:extLst>
      <p:ext uri="{BB962C8B-B14F-4D97-AF65-F5344CB8AC3E}">
        <p14:creationId xmlns:p14="http://schemas.microsoft.com/office/powerpoint/2010/main" val="2789889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1812" y="1103055"/>
            <a:ext cx="5029200" cy="2554545"/>
          </a:xfrm>
          <a:prstGeom prst="rect">
            <a:avLst/>
          </a:prstGeom>
        </p:spPr>
        <p:txBody>
          <a:bodyPr wrap="square">
            <a:spAutoFit/>
          </a:bodyPr>
          <a:lstStyle/>
          <a:p>
            <a:pPr marL="342900" indent="-342900" algn="just">
              <a:buAutoNum type="arabicPeriod"/>
            </a:pPr>
            <a:r>
              <a:rPr lang="vi-VN" sz="1600" b="1" dirty="0">
                <a:latin typeface="Helvetica" pitchFamily="34" charset="0"/>
                <a:cs typeface="Helvetica" pitchFamily="34" charset="0"/>
              </a:rPr>
              <a:t>Cele doua catene ale ADN-ului sunt</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antiparalele</a:t>
            </a:r>
            <a:r>
              <a:rPr lang="en-US" sz="1600" b="1" dirty="0">
                <a:latin typeface="Helvetica" pitchFamily="34" charset="0"/>
                <a:cs typeface="Helvetica" pitchFamily="34" charset="0"/>
              </a:rPr>
              <a:t>: </a:t>
            </a:r>
            <a:r>
              <a:rPr lang="vi-VN" sz="1600" b="1" dirty="0">
                <a:latin typeface="Helvetica" pitchFamily="34" charset="0"/>
                <a:cs typeface="Helvetica" pitchFamily="34" charset="0"/>
              </a:rPr>
              <a:t>pe o catenă legăturile dintre nucleotide sunt de tip 5'-3' iar pe cealaltă catena sunt invers, adica 3'-5'.</a:t>
            </a:r>
            <a:r>
              <a:rPr lang="en-US" sz="1600" b="1" dirty="0">
                <a:latin typeface="Helvetica" pitchFamily="34" charset="0"/>
                <a:cs typeface="Helvetica" pitchFamily="34" charset="0"/>
              </a:rPr>
              <a:t> </a:t>
            </a:r>
          </a:p>
          <a:p>
            <a:pPr algn="just"/>
            <a:endParaRPr lang="en-US" sz="1600" b="1" dirty="0">
              <a:latin typeface="Helvetica" pitchFamily="34" charset="0"/>
              <a:cs typeface="Helvetica" pitchFamily="34" charset="0"/>
            </a:endParaRPr>
          </a:p>
          <a:p>
            <a:pPr marL="342900" indent="-342900" algn="just">
              <a:buFont typeface="+mj-lt"/>
              <a:buAutoNum type="arabicPeriod" startAt="2"/>
            </a:pPr>
            <a:r>
              <a:rPr lang="vi-VN" sz="1600" b="1" dirty="0">
                <a:latin typeface="Helvetica" pitchFamily="34" charset="0"/>
                <a:cs typeface="Helvetica" pitchFamily="34" charset="0"/>
              </a:rPr>
              <a:t>Cele doua catene ale ADN-ului sunt</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complementare</a:t>
            </a:r>
            <a:r>
              <a:rPr lang="en-US" sz="1600" b="1" dirty="0">
                <a:latin typeface="Helvetica" pitchFamily="34" charset="0"/>
                <a:cs typeface="Helvetica" pitchFamily="34" charset="0"/>
              </a:rPr>
              <a:t>: </a:t>
            </a:r>
            <a:r>
              <a:rPr lang="vi-VN" sz="1600" b="1" dirty="0">
                <a:latin typeface="Helvetica" pitchFamily="34" charset="0"/>
                <a:cs typeface="Helvetica" pitchFamily="34" charset="0"/>
              </a:rPr>
              <a:t>o nucleotidă, de pe o catenă, ce conține o baza azotată purinică se va lega întotdeauna de o nucleotidă de pe cealaltă catenă care conține o bază azotată pirimidinica, și invers. </a:t>
            </a:r>
            <a:endParaRPr lang="en-US" sz="1600" b="1" dirty="0">
              <a:latin typeface="Helvetica" pitchFamily="34" charset="0"/>
              <a:cs typeface="Helvetica" pitchFamily="34" charset="0"/>
            </a:endParaRPr>
          </a:p>
        </p:txBody>
      </p:sp>
      <p:sp>
        <p:nvSpPr>
          <p:cNvPr id="5" name="Rectangle 4"/>
          <p:cNvSpPr/>
          <p:nvPr/>
        </p:nvSpPr>
        <p:spPr>
          <a:xfrm>
            <a:off x="531813" y="3951982"/>
            <a:ext cx="5029200" cy="1077218"/>
          </a:xfrm>
          <a:prstGeom prst="rect">
            <a:avLst/>
          </a:prstGeom>
        </p:spPr>
        <p:txBody>
          <a:bodyPr wrap="square">
            <a:spAutoFit/>
          </a:bodyPr>
          <a:lstStyle/>
          <a:p>
            <a:pPr marL="285750" indent="-285750" algn="just">
              <a:buFont typeface="Wingdings" pitchFamily="2" charset="2"/>
              <a:buChar char="v"/>
            </a:pPr>
            <a:r>
              <a:rPr lang="vi-VN" sz="1600" b="1" dirty="0">
                <a:latin typeface="Helvetica" pitchFamily="34" charset="0"/>
                <a:cs typeface="Helvetica" pitchFamily="34" charset="0"/>
              </a:rPr>
              <a:t>Prin urmare, în macromolecula de ADN există</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4 tipuri de legaturi: A-T, T-A, G-C si C-G.</a:t>
            </a:r>
            <a:endParaRPr lang="en-US" sz="1600" b="1" dirty="0">
              <a:latin typeface="Helvetica" pitchFamily="34" charset="0"/>
              <a:cs typeface="Helvetica" pitchFamily="34" charset="0"/>
            </a:endParaRPr>
          </a:p>
          <a:p>
            <a:pPr marL="285750" indent="-285750" algn="just">
              <a:buFontTx/>
              <a:buChar char="-"/>
            </a:pPr>
            <a:r>
              <a:rPr lang="vi-VN" sz="1600" b="1" dirty="0">
                <a:latin typeface="Helvetica" pitchFamily="34" charset="0"/>
                <a:cs typeface="Helvetica" pitchFamily="34" charset="0"/>
              </a:rPr>
              <a:t>Adenina și timina sunt baze complementare.</a:t>
            </a:r>
            <a:endParaRPr lang="en-US" sz="1600" b="1" dirty="0">
              <a:latin typeface="Helvetica" pitchFamily="34" charset="0"/>
              <a:cs typeface="Helvetica" pitchFamily="34" charset="0"/>
            </a:endParaRPr>
          </a:p>
          <a:p>
            <a:pPr marL="285750" indent="-285750" algn="just">
              <a:buFontTx/>
              <a:buChar char="-"/>
            </a:pPr>
            <a:r>
              <a:rPr lang="vi-VN" sz="1600" b="1" dirty="0">
                <a:latin typeface="Helvetica" pitchFamily="34" charset="0"/>
                <a:cs typeface="Helvetica" pitchFamily="34" charset="0"/>
              </a:rPr>
              <a:t>Guanina și citozina sunt baze complementare.</a:t>
            </a:r>
            <a:endParaRPr lang="en-US" sz="1600" b="1" dirty="0">
              <a:latin typeface="Helvetica" pitchFamily="34" charset="0"/>
              <a:cs typeface="Helvetica" pitchFamily="34" charset="0"/>
            </a:endParaRPr>
          </a:p>
        </p:txBody>
      </p:sp>
      <p:sp>
        <p:nvSpPr>
          <p:cNvPr id="6" name="Rectangle 5"/>
          <p:cNvSpPr/>
          <p:nvPr/>
        </p:nvSpPr>
        <p:spPr>
          <a:xfrm>
            <a:off x="6551612" y="494168"/>
            <a:ext cx="5029200" cy="2800767"/>
          </a:xfrm>
          <a:prstGeom prst="rect">
            <a:avLst/>
          </a:prstGeom>
        </p:spPr>
        <p:txBody>
          <a:bodyPr wrap="square">
            <a:spAutoFit/>
          </a:bodyPr>
          <a:lstStyle/>
          <a:p>
            <a:pPr marL="285750" indent="-285750" algn="just">
              <a:buFont typeface="Wingdings" pitchFamily="2" charset="2"/>
              <a:buChar char="v"/>
            </a:pPr>
            <a:r>
              <a:rPr lang="vi-VN" sz="1600" b="1" dirty="0">
                <a:latin typeface="Helvetica" pitchFamily="34" charset="0"/>
                <a:cs typeface="Helvetica" pitchFamily="34" charset="0"/>
              </a:rPr>
              <a:t>Structura bicatenară a ADN-ului se realizează</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cu ajutorul unor punți de hidrogen care se stabilesc între bazele complementare și care sunt duble între timina și adenina, și triple între guanina și citozina. </a:t>
            </a:r>
            <a:endParaRPr lang="en-US" sz="1600" b="1" dirty="0">
              <a:latin typeface="Helvetica" pitchFamily="34" charset="0"/>
              <a:cs typeface="Helvetica" pitchFamily="34" charset="0"/>
            </a:endParaRPr>
          </a:p>
          <a:p>
            <a:pPr marL="285750" indent="-285750" algn="just">
              <a:buFont typeface="Wingdings" pitchFamily="2" charset="2"/>
              <a:buChar char="v"/>
            </a:pPr>
            <a:r>
              <a:rPr lang="vi-VN" sz="1600" b="1" dirty="0">
                <a:latin typeface="Helvetica" pitchFamily="34" charset="0"/>
                <a:cs typeface="Helvetica" pitchFamily="34" charset="0"/>
              </a:rPr>
              <a:t>Structura bicatenara a ADN-ului prezintă de</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regulă o mare stabilitate fizică asigurată astfel:</a:t>
            </a:r>
            <a:endParaRPr lang="en-US" sz="1600" b="1" dirty="0">
              <a:latin typeface="Helvetica" pitchFamily="34" charset="0"/>
              <a:cs typeface="Helvetica" pitchFamily="34" charset="0"/>
            </a:endParaRPr>
          </a:p>
          <a:p>
            <a:pPr algn="just"/>
            <a:r>
              <a:rPr lang="en-US" sz="1600" b="1" dirty="0">
                <a:latin typeface="Helvetica" pitchFamily="34" charset="0"/>
                <a:cs typeface="Helvetica" pitchFamily="34" charset="0"/>
              </a:rPr>
              <a:t>	</a:t>
            </a:r>
            <a:r>
              <a:rPr lang="vi-VN" sz="1600" b="1" dirty="0">
                <a:latin typeface="Helvetica" pitchFamily="34" charset="0"/>
                <a:cs typeface="Helvetica" pitchFamily="34" charset="0"/>
              </a:rPr>
              <a:t>- pe verticală - de legaturile fosfodiesterice intracatenare </a:t>
            </a:r>
            <a:endParaRPr lang="en-US" sz="1600" b="1" dirty="0">
              <a:latin typeface="Helvetica" pitchFamily="34" charset="0"/>
              <a:cs typeface="Helvetica" pitchFamily="34" charset="0"/>
            </a:endParaRPr>
          </a:p>
          <a:p>
            <a:pPr algn="just"/>
            <a:r>
              <a:rPr lang="en-US" sz="1600" b="1" dirty="0">
                <a:latin typeface="Helvetica" pitchFamily="34" charset="0"/>
                <a:cs typeface="Helvetica" pitchFamily="34" charset="0"/>
              </a:rPr>
              <a:t>	</a:t>
            </a:r>
            <a:r>
              <a:rPr lang="vi-VN" sz="1600" b="1" dirty="0">
                <a:latin typeface="Helvetica" pitchFamily="34" charset="0"/>
                <a:cs typeface="Helvetica" pitchFamily="34" charset="0"/>
              </a:rPr>
              <a:t>- pe orizontală - de legaturile de hidrogen intercatenare</a:t>
            </a:r>
            <a:endParaRPr lang="en-US" sz="1600" b="1" dirty="0">
              <a:latin typeface="Helvetica" pitchFamily="34" charset="0"/>
              <a:cs typeface="Helvetica" pitchFamily="34"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48262" y="3294935"/>
            <a:ext cx="2635900" cy="2648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98511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8012" y="762000"/>
            <a:ext cx="5105399" cy="4524315"/>
          </a:xfrm>
          <a:prstGeom prst="rect">
            <a:avLst/>
          </a:prstGeom>
        </p:spPr>
        <p:txBody>
          <a:bodyPr wrap="square">
            <a:spAutoFit/>
          </a:bodyPr>
          <a:lstStyle/>
          <a:p>
            <a:pPr marL="285750" indent="-285750" algn="just">
              <a:buFont typeface="Wingdings" pitchFamily="2" charset="2"/>
              <a:buChar char="v"/>
            </a:pPr>
            <a:r>
              <a:rPr lang="vi-VN" sz="1600" b="1" dirty="0">
                <a:latin typeface="Helvetica" pitchFamily="34" charset="0"/>
                <a:cs typeface="Helvetica" pitchFamily="34" charset="0"/>
              </a:rPr>
              <a:t>Datorită structurii bicatenare macromoleculare</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de ADN poate suferi fenomene de denaturare-renaturare și replicare. </a:t>
            </a:r>
            <a:endParaRPr lang="en-US" sz="1600" b="1" dirty="0">
              <a:latin typeface="Helvetica" pitchFamily="34" charset="0"/>
              <a:cs typeface="Helvetica" pitchFamily="34" charset="0"/>
            </a:endParaRPr>
          </a:p>
          <a:p>
            <a:pPr marL="285750" indent="-285750" algn="just">
              <a:buFont typeface="Wingdings" pitchFamily="2" charset="2"/>
              <a:buChar char="v"/>
            </a:pPr>
            <a:endParaRPr lang="en-US" sz="1600" b="1" dirty="0">
              <a:latin typeface="Helvetica" pitchFamily="34" charset="0"/>
              <a:cs typeface="Helvetica" pitchFamily="34" charset="0"/>
            </a:endParaRPr>
          </a:p>
          <a:p>
            <a:pPr marL="285750" indent="-285750" algn="just">
              <a:buFont typeface="Wingdings" pitchFamily="2" charset="2"/>
              <a:buChar char="v"/>
            </a:pPr>
            <a:r>
              <a:rPr lang="vi-VN" sz="1600" b="1" dirty="0">
                <a:latin typeface="Helvetica" pitchFamily="34" charset="0"/>
                <a:cs typeface="Helvetica" pitchFamily="34" charset="0"/>
              </a:rPr>
              <a:t>Prin încălzirea unei soluții în care se afla ADN</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cele două catene se desfac și ADN-ul devine monocatenar. </a:t>
            </a:r>
            <a:endParaRPr lang="en-US" sz="1600" b="1" dirty="0">
              <a:latin typeface="Helvetica" pitchFamily="34" charset="0"/>
              <a:cs typeface="Helvetica" pitchFamily="34" charset="0"/>
            </a:endParaRPr>
          </a:p>
          <a:p>
            <a:pPr marL="285750" indent="-285750" algn="just">
              <a:buFont typeface="Wingdings" pitchFamily="2" charset="2"/>
              <a:buChar char="v"/>
            </a:pPr>
            <a:endParaRPr lang="en-US" sz="1600" b="1" dirty="0">
              <a:latin typeface="Helvetica" pitchFamily="34" charset="0"/>
              <a:cs typeface="Helvetica" pitchFamily="34" charset="0"/>
            </a:endParaRPr>
          </a:p>
          <a:p>
            <a:pPr marL="285750" indent="-285750" algn="just">
              <a:buFont typeface="Wingdings" pitchFamily="2" charset="2"/>
              <a:buChar char="v"/>
            </a:pPr>
            <a:r>
              <a:rPr lang="vi-VN" sz="1600" b="1" dirty="0">
                <a:latin typeface="Helvetica" pitchFamily="34" charset="0"/>
                <a:cs typeface="Helvetica" pitchFamily="34" charset="0"/>
              </a:rPr>
              <a:t>Dacă are loc o răcire bruscă a soluției</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respective, punțile de hidrogen dintre cele două catene nu se mai refac și ADN-ul rămâne monocatenar. Acest ADN monocatenar se numește ADN denaturat. </a:t>
            </a:r>
            <a:endParaRPr lang="en-US" sz="1600" b="1" dirty="0">
              <a:latin typeface="Helvetica" pitchFamily="34" charset="0"/>
              <a:cs typeface="Helvetica" pitchFamily="34" charset="0"/>
            </a:endParaRPr>
          </a:p>
          <a:p>
            <a:pPr marL="285750" indent="-285750" algn="just">
              <a:buFont typeface="Wingdings" pitchFamily="2" charset="2"/>
              <a:buChar char="v"/>
            </a:pPr>
            <a:endParaRPr lang="en-US" sz="1600" b="1" dirty="0">
              <a:latin typeface="Helvetica" pitchFamily="34" charset="0"/>
              <a:cs typeface="Helvetica" pitchFamily="34" charset="0"/>
            </a:endParaRPr>
          </a:p>
          <a:p>
            <a:pPr marL="285750" indent="-285750" algn="just">
              <a:buFont typeface="Wingdings" pitchFamily="2" charset="2"/>
              <a:buChar char="v"/>
            </a:pPr>
            <a:r>
              <a:rPr lang="vi-VN" sz="1600" b="1" dirty="0">
                <a:latin typeface="Helvetica" pitchFamily="34" charset="0"/>
                <a:cs typeface="Helvetica" pitchFamily="34" charset="0"/>
              </a:rPr>
              <a:t>Daca are loc o răcire treptată a soluției</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respective punțile de hidrogen dintre cele două catene se refac și ADN-ul redevine bicatenar. Acest ADN bicatenar se numeste ADN renaturat. </a:t>
            </a:r>
            <a:endParaRPr lang="en-US" sz="1600" b="1" dirty="0">
              <a:latin typeface="Helvetica" pitchFamily="34" charset="0"/>
              <a:cs typeface="Helvetica" pitchFamily="34" charset="0"/>
            </a:endParaRPr>
          </a:p>
        </p:txBody>
      </p:sp>
      <p:sp>
        <p:nvSpPr>
          <p:cNvPr id="5" name="Rectangle 4"/>
          <p:cNvSpPr/>
          <p:nvPr/>
        </p:nvSpPr>
        <p:spPr>
          <a:xfrm>
            <a:off x="6540499" y="2057400"/>
            <a:ext cx="5029200" cy="2308324"/>
          </a:xfrm>
          <a:prstGeom prst="rect">
            <a:avLst/>
          </a:prstGeom>
        </p:spPr>
        <p:txBody>
          <a:bodyPr wrap="square">
            <a:spAutoFit/>
          </a:bodyPr>
          <a:lstStyle/>
          <a:p>
            <a:pPr marL="342900" indent="-342900" algn="just">
              <a:buAutoNum type="arabicPeriod"/>
            </a:pPr>
            <a:r>
              <a:rPr lang="vi-VN" sz="1600" b="1" dirty="0">
                <a:latin typeface="Helvetica" pitchFamily="34" charset="0"/>
                <a:cs typeface="Helvetica" pitchFamily="34" charset="0"/>
              </a:rPr>
              <a:t>Denaturarea reprezintă capacitatea catenelor</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de ADN de a se separa atunci când soluția de ADN este încălzită până la 100 grade Celsius. </a:t>
            </a:r>
            <a:endParaRPr lang="en-US" sz="1600" b="1" dirty="0">
              <a:latin typeface="Helvetica" pitchFamily="34" charset="0"/>
              <a:cs typeface="Helvetica" pitchFamily="34" charset="0"/>
            </a:endParaRPr>
          </a:p>
          <a:p>
            <a:pPr marL="342900" indent="-342900" algn="just">
              <a:buAutoNum type="arabicPeriod"/>
            </a:pPr>
            <a:endParaRPr lang="en-US" sz="1600" b="1" dirty="0">
              <a:latin typeface="Helvetica" pitchFamily="34" charset="0"/>
              <a:cs typeface="Helvetica" pitchFamily="34" charset="0"/>
            </a:endParaRPr>
          </a:p>
          <a:p>
            <a:pPr marL="342900" indent="-342900" algn="just">
              <a:buAutoNum type="arabicPeriod"/>
            </a:pPr>
            <a:endParaRPr lang="en-US" sz="1600" b="1" dirty="0">
              <a:latin typeface="Helvetica" pitchFamily="34" charset="0"/>
              <a:cs typeface="Helvetica" pitchFamily="34" charset="0"/>
            </a:endParaRPr>
          </a:p>
          <a:p>
            <a:pPr marL="342900" indent="-342900" algn="just">
              <a:buFont typeface="+mj-lt"/>
              <a:buAutoNum type="arabicPeriod" startAt="2"/>
            </a:pPr>
            <a:r>
              <a:rPr lang="vi-VN" sz="1600" b="1" dirty="0">
                <a:latin typeface="Helvetica" pitchFamily="34" charset="0"/>
                <a:cs typeface="Helvetica" pitchFamily="34" charset="0"/>
              </a:rPr>
              <a:t>Renaturarea reprezintă capacitatea catenelor</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de ADN de a reface structura bicatenara atunci cand soluția de ADN monocatenar este răcită treptat.</a:t>
            </a:r>
            <a:endParaRPr lang="en-US" sz="1600" b="1" dirty="0">
              <a:latin typeface="Helvetica" pitchFamily="34" charset="0"/>
              <a:cs typeface="Helvetica" pitchFamily="34" charset="0"/>
            </a:endParaRPr>
          </a:p>
        </p:txBody>
      </p:sp>
    </p:spTree>
    <p:extLst>
      <p:ext uri="{BB962C8B-B14F-4D97-AF65-F5344CB8AC3E}">
        <p14:creationId xmlns:p14="http://schemas.microsoft.com/office/powerpoint/2010/main" val="15576793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84212" y="1066800"/>
            <a:ext cx="4876800" cy="4031873"/>
          </a:xfrm>
          <a:prstGeom prst="rect">
            <a:avLst/>
          </a:prstGeom>
        </p:spPr>
        <p:txBody>
          <a:bodyPr wrap="square">
            <a:spAutoFit/>
          </a:bodyPr>
          <a:lstStyle/>
          <a:p>
            <a:pPr marL="285750" indent="-285750" algn="just">
              <a:buFont typeface="Wingdings" pitchFamily="2" charset="2"/>
              <a:buChar char="v"/>
            </a:pPr>
            <a:r>
              <a:rPr lang="vi-VN" sz="1600" b="1" dirty="0">
                <a:latin typeface="Helvetica" pitchFamily="34" charset="0"/>
                <a:cs typeface="Helvetica" pitchFamily="34" charset="0"/>
              </a:rPr>
              <a:t>Amestecand monocatene de ADN de la specii</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diferite se formează prin renaturare partială hibrizi moleculari. </a:t>
            </a:r>
            <a:endParaRPr lang="en-US" sz="1600" b="1" dirty="0">
              <a:latin typeface="Helvetica" pitchFamily="34" charset="0"/>
              <a:cs typeface="Helvetica" pitchFamily="34" charset="0"/>
            </a:endParaRPr>
          </a:p>
          <a:p>
            <a:pPr marL="285750" indent="-285750" algn="just">
              <a:buFont typeface="Wingdings" pitchFamily="2" charset="2"/>
              <a:buChar char="v"/>
            </a:pPr>
            <a:endParaRPr lang="en-US" sz="1600" b="1" dirty="0">
              <a:latin typeface="Helvetica" pitchFamily="34" charset="0"/>
              <a:cs typeface="Helvetica" pitchFamily="34" charset="0"/>
            </a:endParaRPr>
          </a:p>
          <a:p>
            <a:pPr marL="285750" indent="-285750" algn="just">
              <a:buFont typeface="Wingdings" pitchFamily="2" charset="2"/>
              <a:buChar char="v"/>
            </a:pPr>
            <a:r>
              <a:rPr lang="vi-VN" sz="1600" b="1" dirty="0">
                <a:latin typeface="Helvetica" pitchFamily="34" charset="0"/>
                <a:cs typeface="Helvetica" pitchFamily="34" charset="0"/>
              </a:rPr>
              <a:t>Procedeul este folosit de oamenii de știință</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în studiul relațiilor de înrudire dintre specii. </a:t>
            </a:r>
            <a:endParaRPr lang="en-US" sz="1600" b="1" dirty="0">
              <a:latin typeface="Helvetica" pitchFamily="34" charset="0"/>
              <a:cs typeface="Helvetica" pitchFamily="34" charset="0"/>
            </a:endParaRPr>
          </a:p>
          <a:p>
            <a:pPr marL="285750" indent="-285750" algn="just">
              <a:buFont typeface="Wingdings" pitchFamily="2" charset="2"/>
              <a:buChar char="v"/>
            </a:pPr>
            <a:endParaRPr lang="en-US" sz="1600" b="1" dirty="0">
              <a:latin typeface="Helvetica" pitchFamily="34" charset="0"/>
              <a:cs typeface="Helvetica" pitchFamily="34" charset="0"/>
            </a:endParaRPr>
          </a:p>
          <a:p>
            <a:pPr marL="285750" indent="-285750" algn="just">
              <a:buFont typeface="Wingdings" pitchFamily="2" charset="2"/>
              <a:buChar char="v"/>
            </a:pPr>
            <a:r>
              <a:rPr lang="vi-VN" sz="1600" b="1" dirty="0">
                <a:latin typeface="Helvetica" pitchFamily="34" charset="0"/>
                <a:cs typeface="Helvetica" pitchFamily="34" charset="0"/>
              </a:rPr>
              <a:t>Cu cât speciile sunt mai înrudite cu atâ</a:t>
            </a:r>
            <a:r>
              <a:rPr lang="en-US" sz="1600" b="1" dirty="0">
                <a:latin typeface="Helvetica" pitchFamily="34" charset="0"/>
                <a:cs typeface="Helvetica" pitchFamily="34" charset="0"/>
              </a:rPr>
              <a:t>t</a:t>
            </a:r>
          </a:p>
          <a:p>
            <a:pPr algn="just"/>
            <a:r>
              <a:rPr lang="vi-VN" sz="1600" b="1" dirty="0">
                <a:latin typeface="Helvetica" pitchFamily="34" charset="0"/>
                <a:cs typeface="Helvetica" pitchFamily="34" charset="0"/>
              </a:rPr>
              <a:t>renaturarea se face mai repede și într-o proporție mai mare. </a:t>
            </a:r>
            <a:endParaRPr lang="en-US" sz="1600" b="1" dirty="0">
              <a:latin typeface="Helvetica" pitchFamily="34" charset="0"/>
              <a:cs typeface="Helvetica" pitchFamily="34" charset="0"/>
            </a:endParaRPr>
          </a:p>
          <a:p>
            <a:pPr marL="285750" indent="-285750" algn="just">
              <a:buFont typeface="Wingdings" pitchFamily="2" charset="2"/>
              <a:buChar char="v"/>
            </a:pPr>
            <a:endParaRPr lang="en-US" sz="1600" b="1" dirty="0">
              <a:latin typeface="Helvetica" pitchFamily="34" charset="0"/>
              <a:cs typeface="Helvetica" pitchFamily="34" charset="0"/>
            </a:endParaRPr>
          </a:p>
          <a:p>
            <a:pPr marL="285750" indent="-285750" algn="just">
              <a:buFont typeface="Wingdings" pitchFamily="2" charset="2"/>
              <a:buChar char="v"/>
            </a:pPr>
            <a:r>
              <a:rPr lang="vi-VN" sz="1600" b="1" dirty="0">
                <a:latin typeface="Helvetica" pitchFamily="34" charset="0"/>
                <a:cs typeface="Helvetica" pitchFamily="34" charset="0"/>
              </a:rPr>
              <a:t>De exemplu: procentul de renaturare între</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monocatenele ADN de la om și de la maimuța este de 75%, pe când procentul de renaturare între monocatenele de ADN de la om și de la soarece este de 25%.</a:t>
            </a:r>
            <a:endParaRPr lang="en-US" sz="1600" b="1" dirty="0">
              <a:latin typeface="Helvetica" pitchFamily="34" charset="0"/>
              <a:cs typeface="Helvetica" pitchFamily="34"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0212" y="1378327"/>
            <a:ext cx="4692231" cy="3803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58205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827212" y="457200"/>
            <a:ext cx="2640595" cy="400110"/>
          </a:xfrm>
          <a:prstGeom prst="rect">
            <a:avLst/>
          </a:prstGeom>
        </p:spPr>
        <p:txBody>
          <a:bodyPr wrap="none">
            <a:spAutoFit/>
          </a:bodyPr>
          <a:lstStyle/>
          <a:p>
            <a:pPr algn="just"/>
            <a:r>
              <a:rPr lang="en-US" sz="2000" b="1" u="sng" dirty="0" err="1">
                <a:latin typeface="Helvetica" pitchFamily="34" charset="0"/>
                <a:cs typeface="Helvetica" pitchFamily="34" charset="0"/>
              </a:rPr>
              <a:t>Replicarea</a:t>
            </a:r>
            <a:r>
              <a:rPr lang="en-US" sz="2000" b="1" u="sng" dirty="0">
                <a:latin typeface="Helvetica" pitchFamily="34" charset="0"/>
                <a:cs typeface="Helvetica" pitchFamily="34" charset="0"/>
              </a:rPr>
              <a:t> ADN-</a:t>
            </a:r>
            <a:r>
              <a:rPr lang="en-US" sz="2000" b="1" u="sng" dirty="0" err="1">
                <a:latin typeface="Helvetica" pitchFamily="34" charset="0"/>
                <a:cs typeface="Helvetica" pitchFamily="34" charset="0"/>
              </a:rPr>
              <a:t>ului</a:t>
            </a:r>
            <a:endParaRPr lang="en-US" sz="2000" b="1" u="sng" dirty="0">
              <a:latin typeface="Helvetica" pitchFamily="34" charset="0"/>
              <a:cs typeface="Helvetica" pitchFamily="34" charset="0"/>
            </a:endParaRPr>
          </a:p>
        </p:txBody>
      </p:sp>
      <p:sp>
        <p:nvSpPr>
          <p:cNvPr id="5" name="Rectangle 4"/>
          <p:cNvSpPr/>
          <p:nvPr/>
        </p:nvSpPr>
        <p:spPr>
          <a:xfrm>
            <a:off x="671009" y="1295400"/>
            <a:ext cx="4953000" cy="4031873"/>
          </a:xfrm>
          <a:prstGeom prst="rect">
            <a:avLst/>
          </a:prstGeom>
        </p:spPr>
        <p:txBody>
          <a:bodyPr wrap="square">
            <a:spAutoFit/>
          </a:bodyPr>
          <a:lstStyle/>
          <a:p>
            <a:pPr marL="285750" indent="-285750" algn="just">
              <a:buFont typeface="Wingdings" pitchFamily="2" charset="2"/>
              <a:buChar char="v"/>
            </a:pPr>
            <a:r>
              <a:rPr lang="vi-VN" sz="1600" b="1" dirty="0">
                <a:latin typeface="Helvetica" pitchFamily="34" charset="0"/>
                <a:cs typeface="Helvetica" pitchFamily="34" charset="0"/>
              </a:rPr>
              <a:t>În celulele fiecărei specii există o anumită</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cantitate de ADN în care se află codificată informația genetica. Pentru realizarea diviziunii celulare este necesară dublarea cantității de ADN astfel încât celulele fiice să aibe aceeași cantitate de ADN ca și celula mamă. </a:t>
            </a:r>
            <a:endParaRPr lang="en-US" sz="1600" b="1" dirty="0">
              <a:latin typeface="Helvetica" pitchFamily="34" charset="0"/>
              <a:cs typeface="Helvetica" pitchFamily="34" charset="0"/>
            </a:endParaRPr>
          </a:p>
          <a:p>
            <a:pPr marL="285750" indent="-285750" algn="just">
              <a:buFont typeface="Wingdings" pitchFamily="2" charset="2"/>
              <a:buChar char="v"/>
            </a:pPr>
            <a:endParaRPr lang="en-US" sz="1600" b="1" dirty="0">
              <a:latin typeface="Helvetica" pitchFamily="34" charset="0"/>
              <a:cs typeface="Helvetica" pitchFamily="34" charset="0"/>
            </a:endParaRPr>
          </a:p>
          <a:p>
            <a:pPr marL="285750" indent="-285750" algn="just">
              <a:buFont typeface="Wingdings" pitchFamily="2" charset="2"/>
              <a:buChar char="v"/>
            </a:pPr>
            <a:r>
              <a:rPr lang="vi-VN" sz="1600" b="1" dirty="0">
                <a:latin typeface="Helvetica" pitchFamily="34" charset="0"/>
                <a:cs typeface="Helvetica" pitchFamily="34" charset="0"/>
              </a:rPr>
              <a:t>Dublarea cantității de ADN se realizează prin</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replicare și are loc in interfaza ciclului celular. </a:t>
            </a:r>
            <a:endParaRPr lang="en-US" sz="1600" b="1" dirty="0">
              <a:latin typeface="Helvetica" pitchFamily="34" charset="0"/>
              <a:cs typeface="Helvetica" pitchFamily="34" charset="0"/>
            </a:endParaRPr>
          </a:p>
          <a:p>
            <a:pPr marL="285750" indent="-285750" algn="just">
              <a:buFont typeface="Wingdings" pitchFamily="2" charset="2"/>
              <a:buChar char="v"/>
            </a:pPr>
            <a:endParaRPr lang="en-US" sz="1600" b="1" dirty="0">
              <a:latin typeface="Helvetica" pitchFamily="34" charset="0"/>
              <a:cs typeface="Helvetica" pitchFamily="34" charset="0"/>
            </a:endParaRPr>
          </a:p>
          <a:p>
            <a:pPr marL="285750" indent="-285750" algn="just">
              <a:buFont typeface="Wingdings" pitchFamily="2" charset="2"/>
              <a:buChar char="v"/>
            </a:pPr>
            <a:r>
              <a:rPr lang="vi-VN" sz="1600" b="1" dirty="0">
                <a:latin typeface="Helvetica" pitchFamily="34" charset="0"/>
                <a:cs typeface="Helvetica" pitchFamily="34" charset="0"/>
              </a:rPr>
              <a:t>Cele două catene ale macromoleculei de ADN</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se separă treptat începând dintr-un punct numit punct de inițiere al replicării și continuând progresiv către un punct terminus. Astfel, în prim proces de replicare molecula de ADN capătă forma literei Y.</a:t>
            </a:r>
            <a:endParaRPr lang="en-US" sz="1600" b="1" dirty="0">
              <a:latin typeface="Helvetica" pitchFamily="34" charset="0"/>
              <a:cs typeface="Helvetica" pitchFamily="34" charset="0"/>
            </a:endParaRPr>
          </a:p>
        </p:txBody>
      </p:sp>
      <p:sp>
        <p:nvSpPr>
          <p:cNvPr id="6" name="Rectangle 5"/>
          <p:cNvSpPr/>
          <p:nvPr/>
        </p:nvSpPr>
        <p:spPr>
          <a:xfrm>
            <a:off x="6704012" y="1172289"/>
            <a:ext cx="4876800" cy="4278094"/>
          </a:xfrm>
          <a:prstGeom prst="rect">
            <a:avLst/>
          </a:prstGeom>
        </p:spPr>
        <p:txBody>
          <a:bodyPr wrap="square">
            <a:spAutoFit/>
          </a:bodyPr>
          <a:lstStyle/>
          <a:p>
            <a:pPr marL="285750" indent="-285750" algn="just">
              <a:buFont typeface="Wingdings" pitchFamily="2" charset="2"/>
              <a:buChar char="v"/>
            </a:pPr>
            <a:r>
              <a:rPr lang="vi-VN" sz="1600" b="1" dirty="0">
                <a:latin typeface="Helvetica" pitchFamily="34" charset="0"/>
                <a:cs typeface="Helvetica" pitchFamily="34" charset="0"/>
              </a:rPr>
              <a:t>Legăturile de hidrogen dintre cele două</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catene se desfac treptat, sub acțiunea enzimei ADN polimerază. </a:t>
            </a:r>
            <a:endParaRPr lang="en-US" sz="1600" b="1" dirty="0">
              <a:latin typeface="Helvetica" pitchFamily="34" charset="0"/>
              <a:cs typeface="Helvetica" pitchFamily="34" charset="0"/>
            </a:endParaRPr>
          </a:p>
          <a:p>
            <a:pPr marL="285750" indent="-285750" algn="just">
              <a:buFont typeface="Wingdings" pitchFamily="2" charset="2"/>
              <a:buChar char="v"/>
            </a:pPr>
            <a:endParaRPr lang="en-US" sz="1600" b="1" dirty="0">
              <a:latin typeface="Helvetica" pitchFamily="34" charset="0"/>
              <a:cs typeface="Helvetica" pitchFamily="34" charset="0"/>
            </a:endParaRPr>
          </a:p>
          <a:p>
            <a:pPr marL="285750" indent="-285750" algn="just">
              <a:buFont typeface="Wingdings" pitchFamily="2" charset="2"/>
              <a:buChar char="v"/>
            </a:pPr>
            <a:r>
              <a:rPr lang="vi-VN" sz="1600" b="1" dirty="0">
                <a:latin typeface="Helvetica" pitchFamily="34" charset="0"/>
                <a:cs typeface="Helvetica" pitchFamily="34" charset="0"/>
              </a:rPr>
              <a:t>Pe măsură ce catenele se despart,</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nucleotidele libere din citoplasma se atașează acesteia, pe bază de complementaritate. </a:t>
            </a:r>
            <a:endParaRPr lang="en-US" sz="1600" b="1" dirty="0">
              <a:latin typeface="Helvetica" pitchFamily="34" charset="0"/>
              <a:cs typeface="Helvetica" pitchFamily="34" charset="0"/>
            </a:endParaRPr>
          </a:p>
          <a:p>
            <a:pPr marL="285750" indent="-285750" algn="just">
              <a:buFont typeface="Wingdings" pitchFamily="2" charset="2"/>
              <a:buChar char="v"/>
            </a:pPr>
            <a:endParaRPr lang="en-US" sz="1600" b="1" dirty="0">
              <a:latin typeface="Helvetica" pitchFamily="34" charset="0"/>
              <a:cs typeface="Helvetica" pitchFamily="34" charset="0"/>
            </a:endParaRPr>
          </a:p>
          <a:p>
            <a:pPr marL="285750" indent="-285750" algn="just">
              <a:buFont typeface="Wingdings" pitchFamily="2" charset="2"/>
              <a:buChar char="v"/>
            </a:pPr>
            <a:r>
              <a:rPr lang="vi-VN" sz="1600" b="1" dirty="0">
                <a:latin typeface="Helvetica" pitchFamily="34" charset="0"/>
                <a:cs typeface="Helvetica" pitchFamily="34" charset="0"/>
              </a:rPr>
              <a:t>În acest fel vor rezulta doua molecule fiice de</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ADN, fiecare având o catenă veche care a servit ca matriță (model) și o catenă nou sintetizată. </a:t>
            </a:r>
            <a:endParaRPr lang="en-US" sz="1600" b="1" dirty="0">
              <a:latin typeface="Helvetica" pitchFamily="34" charset="0"/>
              <a:cs typeface="Helvetica" pitchFamily="34" charset="0"/>
            </a:endParaRPr>
          </a:p>
          <a:p>
            <a:pPr marL="285750" indent="-285750" algn="just">
              <a:buFont typeface="Wingdings" pitchFamily="2" charset="2"/>
              <a:buChar char="v"/>
            </a:pPr>
            <a:endParaRPr lang="en-US" sz="1600" b="1" dirty="0">
              <a:latin typeface="Helvetica" pitchFamily="34" charset="0"/>
              <a:cs typeface="Helvetica" pitchFamily="34" charset="0"/>
            </a:endParaRPr>
          </a:p>
          <a:p>
            <a:pPr marL="285750" indent="-285750" algn="just">
              <a:buFont typeface="Wingdings" pitchFamily="2" charset="2"/>
              <a:buChar char="v"/>
            </a:pPr>
            <a:r>
              <a:rPr lang="vi-VN" sz="1600" b="1" dirty="0">
                <a:latin typeface="Helvetica" pitchFamily="34" charset="0"/>
                <a:cs typeface="Helvetica" pitchFamily="34" charset="0"/>
              </a:rPr>
              <a:t>Sinteza de ADN se numeste replicare</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(replicatie) și se realizează după modelul semiconservativ, deoarece fiecare molecula de ADN fiică moșteneste doar una din cele doua catene ale moleculei de ADN mama.</a:t>
            </a:r>
            <a:endParaRPr lang="en-US" sz="1600" b="1" dirty="0">
              <a:latin typeface="Helvetica" pitchFamily="34" charset="0"/>
              <a:cs typeface="Helvetica" pitchFamily="34" charset="0"/>
            </a:endParaRPr>
          </a:p>
        </p:txBody>
      </p:sp>
    </p:spTree>
    <p:extLst>
      <p:ext uri="{BB962C8B-B14F-4D97-AF65-F5344CB8AC3E}">
        <p14:creationId xmlns:p14="http://schemas.microsoft.com/office/powerpoint/2010/main" val="17098992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446212" y="474133"/>
            <a:ext cx="3284874" cy="400110"/>
          </a:xfrm>
          <a:prstGeom prst="rect">
            <a:avLst/>
          </a:prstGeom>
          <a:noFill/>
        </p:spPr>
        <p:txBody>
          <a:bodyPr wrap="none" rtlCol="0">
            <a:spAutoFit/>
          </a:bodyPr>
          <a:lstStyle/>
          <a:p>
            <a:pPr algn="ctr"/>
            <a:r>
              <a:rPr lang="en-US" sz="2000" b="1" u="sng" dirty="0" err="1">
                <a:latin typeface="Helvetica" pitchFamily="34" charset="0"/>
                <a:cs typeface="Helvetica" pitchFamily="34" charset="0"/>
              </a:rPr>
              <a:t>Funcțiile</a:t>
            </a:r>
            <a:r>
              <a:rPr lang="en-US" sz="2000" b="1" u="sng" dirty="0">
                <a:latin typeface="Helvetica" pitchFamily="34" charset="0"/>
                <a:cs typeface="Helvetica" pitchFamily="34" charset="0"/>
              </a:rPr>
              <a:t> </a:t>
            </a:r>
            <a:r>
              <a:rPr lang="en-US" sz="2000" b="1" u="sng" dirty="0" err="1">
                <a:latin typeface="Helvetica" pitchFamily="34" charset="0"/>
                <a:cs typeface="Helvetica" pitchFamily="34" charset="0"/>
              </a:rPr>
              <a:t>acizilor</a:t>
            </a:r>
            <a:r>
              <a:rPr lang="en-US" sz="2000" b="1" u="sng" dirty="0">
                <a:latin typeface="Helvetica" pitchFamily="34" charset="0"/>
                <a:cs typeface="Helvetica" pitchFamily="34" charset="0"/>
              </a:rPr>
              <a:t> </a:t>
            </a:r>
            <a:r>
              <a:rPr lang="en-US" sz="2000" b="1" u="sng" dirty="0" err="1">
                <a:latin typeface="Helvetica" pitchFamily="34" charset="0"/>
                <a:cs typeface="Helvetica" pitchFamily="34" charset="0"/>
              </a:rPr>
              <a:t>nucleici</a:t>
            </a:r>
            <a:r>
              <a:rPr lang="en-US" sz="2000" b="1" u="sng" dirty="0">
                <a:latin typeface="Helvetica" pitchFamily="34" charset="0"/>
                <a:cs typeface="Helvetica" pitchFamily="34" charset="0"/>
              </a:rPr>
              <a:t>.</a:t>
            </a:r>
          </a:p>
        </p:txBody>
      </p:sp>
      <p:sp>
        <p:nvSpPr>
          <p:cNvPr id="5" name="Rectangle 4"/>
          <p:cNvSpPr/>
          <p:nvPr/>
        </p:nvSpPr>
        <p:spPr>
          <a:xfrm>
            <a:off x="558298" y="1295400"/>
            <a:ext cx="5002714" cy="2308324"/>
          </a:xfrm>
          <a:prstGeom prst="rect">
            <a:avLst/>
          </a:prstGeom>
        </p:spPr>
        <p:txBody>
          <a:bodyPr wrap="square">
            <a:spAutoFit/>
          </a:bodyPr>
          <a:lstStyle/>
          <a:p>
            <a:pPr marL="285750" indent="-285750" algn="just">
              <a:buFont typeface="Wingdings" pitchFamily="2" charset="2"/>
              <a:buChar char="v"/>
            </a:pPr>
            <a:r>
              <a:rPr lang="vi-VN" sz="1600" b="1" dirty="0">
                <a:latin typeface="Helvetica" pitchFamily="34" charset="0"/>
                <a:cs typeface="Helvetica" pitchFamily="34" charset="0"/>
              </a:rPr>
              <a:t>Acizii nucleici, acidul dezoxiribonucleic (ADN)</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și acidul ribonucleic (ARN), conțin informații genetice care sunt citite în celule pentru a produce ARN-ul și proteinele prin care funcționează corpurile vii.</a:t>
            </a:r>
            <a:endParaRPr lang="en-US" sz="1600" b="1" dirty="0">
              <a:latin typeface="Helvetica" pitchFamily="34" charset="0"/>
              <a:cs typeface="Helvetica" pitchFamily="34" charset="0"/>
            </a:endParaRPr>
          </a:p>
          <a:p>
            <a:pPr algn="just"/>
            <a:endParaRPr lang="en-US" sz="1600" b="1" dirty="0">
              <a:latin typeface="Helvetica" pitchFamily="34" charset="0"/>
              <a:cs typeface="Helvetica" pitchFamily="34" charset="0"/>
            </a:endParaRPr>
          </a:p>
          <a:p>
            <a:pPr marL="285750" indent="-285750" algn="just">
              <a:buFont typeface="Wingdings" pitchFamily="2" charset="2"/>
              <a:buChar char="v"/>
            </a:pPr>
            <a:r>
              <a:rPr lang="vi-VN" sz="1600" b="1" dirty="0">
                <a:latin typeface="Helvetica" pitchFamily="34" charset="0"/>
                <a:cs typeface="Helvetica" pitchFamily="34" charset="0"/>
              </a:rPr>
              <a:t>Structura binecunoscuta a celebrului “dublu</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helix” ADN permite ca aceste informații să fie copiate și transmise generației următoare.</a:t>
            </a:r>
            <a:endParaRPr lang="en-US" sz="1600" b="1" dirty="0">
              <a:latin typeface="Helvetica" pitchFamily="34" charset="0"/>
              <a:cs typeface="Helvetica" pitchFamily="34" charset="0"/>
            </a:endParaRPr>
          </a:p>
        </p:txBody>
      </p:sp>
      <p:sp>
        <p:nvSpPr>
          <p:cNvPr id="11" name="Rectangle 10"/>
          <p:cNvSpPr/>
          <p:nvPr/>
        </p:nvSpPr>
        <p:spPr>
          <a:xfrm>
            <a:off x="531812" y="3987225"/>
            <a:ext cx="5029200" cy="584775"/>
          </a:xfrm>
          <a:prstGeom prst="rect">
            <a:avLst/>
          </a:prstGeom>
        </p:spPr>
        <p:txBody>
          <a:bodyPr wrap="square">
            <a:spAutoFit/>
          </a:bodyPr>
          <a:lstStyle/>
          <a:p>
            <a:pPr marL="285750" indent="-285750" algn="just">
              <a:buFont typeface="Wingdings" pitchFamily="2" charset="2"/>
              <a:buChar char="v"/>
            </a:pPr>
            <a:r>
              <a:rPr lang="vi-VN" sz="1600" b="1" dirty="0">
                <a:latin typeface="Helvetica" pitchFamily="34" charset="0"/>
                <a:cs typeface="Helvetica" pitchFamily="34" charset="0"/>
              </a:rPr>
              <a:t>Fiecare tip de acid nucleic îndeplinește o</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funcție diferită în celulele tuturor corpurilor vii.</a:t>
            </a:r>
            <a:endParaRPr lang="en-US" sz="1600" b="1" dirty="0">
              <a:latin typeface="Helvetica" pitchFamily="34" charset="0"/>
              <a:cs typeface="Helvetica" pitchFamily="34" charset="0"/>
            </a:endParaRPr>
          </a:p>
        </p:txBody>
      </p:sp>
      <p:sp>
        <p:nvSpPr>
          <p:cNvPr id="13" name="Rectangle 12"/>
          <p:cNvSpPr/>
          <p:nvPr/>
        </p:nvSpPr>
        <p:spPr>
          <a:xfrm>
            <a:off x="558298" y="4724400"/>
            <a:ext cx="4812214" cy="584775"/>
          </a:xfrm>
          <a:prstGeom prst="rect">
            <a:avLst/>
          </a:prstGeom>
        </p:spPr>
        <p:txBody>
          <a:bodyPr wrap="square">
            <a:spAutoFit/>
          </a:bodyPr>
          <a:lstStyle/>
          <a:p>
            <a:pPr marL="285750" indent="-285750" algn="just">
              <a:buFont typeface="Wingdings" pitchFamily="2" charset="2"/>
              <a:buChar char="v"/>
            </a:pPr>
            <a:r>
              <a:rPr lang="en-US" sz="1600" b="1" dirty="0">
                <a:latin typeface="Helvetica" pitchFamily="34" charset="0"/>
                <a:cs typeface="Helvetica" pitchFamily="34" charset="0"/>
              </a:rPr>
              <a:t>ADN-</a:t>
            </a:r>
            <a:r>
              <a:rPr lang="en-US" sz="1600" b="1" dirty="0" err="1">
                <a:latin typeface="Helvetica" pitchFamily="34" charset="0"/>
                <a:cs typeface="Helvetica" pitchFamily="34" charset="0"/>
              </a:rPr>
              <a:t>ul</a:t>
            </a:r>
            <a:r>
              <a:rPr lang="en-US" sz="1600" b="1" dirty="0">
                <a:latin typeface="Helvetica" pitchFamily="34" charset="0"/>
                <a:cs typeface="Helvetica" pitchFamily="34" charset="0"/>
              </a:rPr>
              <a:t> </a:t>
            </a:r>
            <a:r>
              <a:rPr lang="en-US" sz="1600" b="1" dirty="0" err="1">
                <a:latin typeface="Helvetica" pitchFamily="34" charset="0"/>
                <a:cs typeface="Helvetica" pitchFamily="34" charset="0"/>
              </a:rPr>
              <a:t>este</a:t>
            </a:r>
            <a:r>
              <a:rPr lang="en-US" sz="1600" b="1" dirty="0">
                <a:latin typeface="Helvetica" pitchFamily="34" charset="0"/>
                <a:cs typeface="Helvetica" pitchFamily="34" charset="0"/>
              </a:rPr>
              <a:t> </a:t>
            </a:r>
            <a:r>
              <a:rPr lang="en-US" sz="1600" b="1" dirty="0" err="1">
                <a:latin typeface="Helvetica" pitchFamily="34" charset="0"/>
                <a:cs typeface="Helvetica" pitchFamily="34" charset="0"/>
              </a:rPr>
              <a:t>responsabil</a:t>
            </a:r>
            <a:r>
              <a:rPr lang="en-US" sz="1600" b="1" dirty="0">
                <a:latin typeface="Helvetica" pitchFamily="34" charset="0"/>
                <a:cs typeface="Helvetica" pitchFamily="34" charset="0"/>
              </a:rPr>
              <a:t> </a:t>
            </a:r>
            <a:r>
              <a:rPr lang="en-US" sz="1600" b="1" dirty="0" err="1">
                <a:latin typeface="Helvetica" pitchFamily="34" charset="0"/>
                <a:cs typeface="Helvetica" pitchFamily="34" charset="0"/>
              </a:rPr>
              <a:t>pentru</a:t>
            </a:r>
            <a:r>
              <a:rPr lang="en-US" sz="1600" b="1" dirty="0">
                <a:latin typeface="Helvetica" pitchFamily="34" charset="0"/>
                <a:cs typeface="Helvetica" pitchFamily="34" charset="0"/>
              </a:rPr>
              <a:t> </a:t>
            </a:r>
            <a:r>
              <a:rPr lang="en-US" sz="1600" b="1" dirty="0" err="1">
                <a:latin typeface="Helvetica" pitchFamily="34" charset="0"/>
                <a:cs typeface="Helvetica" pitchFamily="34" charset="0"/>
              </a:rPr>
              <a:t>stocarea</a:t>
            </a:r>
            <a:r>
              <a:rPr lang="en-US" sz="1600" b="1" dirty="0">
                <a:latin typeface="Helvetica" pitchFamily="34" charset="0"/>
                <a:cs typeface="Helvetica" pitchFamily="34" charset="0"/>
              </a:rPr>
              <a:t> </a:t>
            </a:r>
            <a:r>
              <a:rPr lang="en-US" sz="1600" b="1" dirty="0" err="1">
                <a:latin typeface="Helvetica" pitchFamily="34" charset="0"/>
                <a:cs typeface="Helvetica" pitchFamily="34" charset="0"/>
              </a:rPr>
              <a:t>și</a:t>
            </a:r>
            <a:endParaRPr lang="en-US" sz="1600" b="1" dirty="0">
              <a:latin typeface="Helvetica" pitchFamily="34" charset="0"/>
              <a:cs typeface="Helvetica" pitchFamily="34" charset="0"/>
            </a:endParaRPr>
          </a:p>
          <a:p>
            <a:pPr algn="just"/>
            <a:r>
              <a:rPr lang="en-US" sz="1600" b="1" dirty="0" err="1">
                <a:latin typeface="Helvetica" pitchFamily="34" charset="0"/>
                <a:cs typeface="Helvetica" pitchFamily="34" charset="0"/>
              </a:rPr>
              <a:t>codificarea</a:t>
            </a:r>
            <a:r>
              <a:rPr lang="en-US" sz="1600" b="1" dirty="0">
                <a:latin typeface="Helvetica" pitchFamily="34" charset="0"/>
                <a:cs typeface="Helvetica" pitchFamily="34" charset="0"/>
              </a:rPr>
              <a:t> </a:t>
            </a:r>
            <a:r>
              <a:rPr lang="en-US" sz="1600" b="1" dirty="0" err="1">
                <a:latin typeface="Helvetica" pitchFamily="34" charset="0"/>
                <a:cs typeface="Helvetica" pitchFamily="34" charset="0"/>
              </a:rPr>
              <a:t>informațiilor</a:t>
            </a:r>
            <a:r>
              <a:rPr lang="en-US" sz="1600" b="1" dirty="0">
                <a:latin typeface="Helvetica" pitchFamily="34" charset="0"/>
                <a:cs typeface="Helvetica" pitchFamily="34" charset="0"/>
              </a:rPr>
              <a:t> </a:t>
            </a:r>
            <a:r>
              <a:rPr lang="en-US" sz="1600" b="1" dirty="0" err="1">
                <a:latin typeface="Helvetica" pitchFamily="34" charset="0"/>
                <a:cs typeface="Helvetica" pitchFamily="34" charset="0"/>
              </a:rPr>
              <a:t>genetice</a:t>
            </a:r>
            <a:r>
              <a:rPr lang="en-US" sz="1600" b="1" dirty="0">
                <a:latin typeface="Helvetica" pitchFamily="34" charset="0"/>
                <a:cs typeface="Helvetica" pitchFamily="34" charset="0"/>
              </a:rPr>
              <a:t> </a:t>
            </a:r>
            <a:r>
              <a:rPr lang="en-US" sz="1600" b="1" dirty="0" err="1">
                <a:latin typeface="Helvetica" pitchFamily="34" charset="0"/>
                <a:cs typeface="Helvetica" pitchFamily="34" charset="0"/>
              </a:rPr>
              <a:t>în</a:t>
            </a:r>
            <a:r>
              <a:rPr lang="en-US" sz="1600" b="1" dirty="0">
                <a:latin typeface="Helvetica" pitchFamily="34" charset="0"/>
                <a:cs typeface="Helvetica" pitchFamily="34" charset="0"/>
              </a:rPr>
              <a:t> organism.</a:t>
            </a:r>
            <a:endParaRPr lang="en-US" sz="1600" dirty="0">
              <a:latin typeface="Helvetica" pitchFamily="34" charset="0"/>
              <a:cs typeface="Helvetica" pitchFamily="34" charset="0"/>
            </a:endParaRPr>
          </a:p>
        </p:txBody>
      </p:sp>
      <p:sp>
        <p:nvSpPr>
          <p:cNvPr id="14" name="Rectangle 13"/>
          <p:cNvSpPr/>
          <p:nvPr/>
        </p:nvSpPr>
        <p:spPr>
          <a:xfrm>
            <a:off x="6627813" y="1143000"/>
            <a:ext cx="4876799" cy="4524315"/>
          </a:xfrm>
          <a:prstGeom prst="rect">
            <a:avLst/>
          </a:prstGeom>
        </p:spPr>
        <p:txBody>
          <a:bodyPr wrap="square">
            <a:spAutoFit/>
          </a:bodyPr>
          <a:lstStyle/>
          <a:p>
            <a:pPr marL="285750" indent="-285750" algn="just">
              <a:buFont typeface="Wingdings" pitchFamily="2" charset="2"/>
              <a:buChar char="v"/>
            </a:pPr>
            <a:r>
              <a:rPr lang="vi-VN" sz="1600" b="1" dirty="0">
                <a:latin typeface="Helvetica" pitchFamily="34" charset="0"/>
                <a:cs typeface="Helvetica" pitchFamily="34" charset="0"/>
              </a:rPr>
              <a:t>Structura ADN-ului permite ca informațiile</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genetice să fie moștenite de copii de la părinții lor. </a:t>
            </a:r>
            <a:endParaRPr lang="en-US" sz="1600" b="1" dirty="0">
              <a:latin typeface="Helvetica" pitchFamily="34" charset="0"/>
              <a:cs typeface="Helvetica" pitchFamily="34" charset="0"/>
            </a:endParaRPr>
          </a:p>
          <a:p>
            <a:pPr marL="285750" indent="-285750" algn="just">
              <a:buFont typeface="Wingdings" pitchFamily="2" charset="2"/>
              <a:buChar char="v"/>
            </a:pPr>
            <a:endParaRPr lang="en-US" sz="1600" b="1" dirty="0">
              <a:latin typeface="Helvetica" pitchFamily="34" charset="0"/>
              <a:cs typeface="Helvetica" pitchFamily="34" charset="0"/>
            </a:endParaRPr>
          </a:p>
          <a:p>
            <a:pPr marL="285750" indent="-285750" algn="just">
              <a:buFont typeface="Wingdings" pitchFamily="2" charset="2"/>
              <a:buChar char="v"/>
            </a:pPr>
            <a:endParaRPr lang="en-US" sz="1600" b="1" dirty="0">
              <a:latin typeface="Helvetica" pitchFamily="34" charset="0"/>
              <a:cs typeface="Helvetica" pitchFamily="34" charset="0"/>
            </a:endParaRPr>
          </a:p>
          <a:p>
            <a:pPr marL="285750" indent="-285750" algn="just">
              <a:buFont typeface="Wingdings" pitchFamily="2" charset="2"/>
              <a:buChar char="v"/>
            </a:pPr>
            <a:r>
              <a:rPr lang="vi-VN" sz="1600" b="1" dirty="0">
                <a:latin typeface="Helvetica" pitchFamily="34" charset="0"/>
                <a:cs typeface="Helvetica" pitchFamily="34" charset="0"/>
              </a:rPr>
              <a:t>Deoarece nucleotidele adenina, timina,</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guanina și citozina din ADN se vor împerechea doar într-o anumită secvență (adenina cu timina și guanina cu citozina), de fiecare dată când o celulă dublează lanțul ADN-ului poate specifica secvența în care nucleotidele trebuie copiate.</a:t>
            </a:r>
            <a:endParaRPr lang="en-US" sz="1600" b="1" dirty="0">
              <a:latin typeface="Helvetica" pitchFamily="34" charset="0"/>
              <a:cs typeface="Helvetica" pitchFamily="34" charset="0"/>
            </a:endParaRPr>
          </a:p>
          <a:p>
            <a:pPr marL="285750" indent="-285750" algn="just">
              <a:buFont typeface="Wingdings" pitchFamily="2" charset="2"/>
              <a:buChar char="v"/>
            </a:pPr>
            <a:endParaRPr lang="en-US" sz="1600" b="1" dirty="0">
              <a:latin typeface="Helvetica" pitchFamily="34" charset="0"/>
              <a:cs typeface="Helvetica" pitchFamily="34" charset="0"/>
            </a:endParaRPr>
          </a:p>
          <a:p>
            <a:pPr marL="285750" indent="-285750" algn="just">
              <a:buFont typeface="Wingdings" pitchFamily="2" charset="2"/>
              <a:buChar char="v"/>
            </a:pPr>
            <a:endParaRPr lang="en-US" sz="1600" b="1" dirty="0">
              <a:latin typeface="Helvetica" pitchFamily="34" charset="0"/>
              <a:cs typeface="Helvetica" pitchFamily="34" charset="0"/>
            </a:endParaRPr>
          </a:p>
          <a:p>
            <a:pPr marL="285750" indent="-285750" algn="just">
              <a:buFont typeface="Wingdings" pitchFamily="2" charset="2"/>
              <a:buChar char="v"/>
            </a:pPr>
            <a:r>
              <a:rPr lang="vi-VN" sz="1600" b="1" dirty="0">
                <a:latin typeface="Helvetica" pitchFamily="34" charset="0"/>
                <a:cs typeface="Helvetica" pitchFamily="34" charset="0"/>
              </a:rPr>
              <a:t>Ca atare, copii exacte ale ADN-ului pot fi</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făcute și transmise din generație în generație. În interiorul ADN-ului sunt stocate instrucțiuni pentru toate proteinele pe care le va produce un organism.</a:t>
            </a:r>
            <a:endParaRPr lang="en-US" sz="1600" b="1" dirty="0">
              <a:latin typeface="Helvetica" pitchFamily="34" charset="0"/>
              <a:cs typeface="Helvetica" pitchFamily="34" charset="0"/>
            </a:endParaRPr>
          </a:p>
        </p:txBody>
      </p:sp>
    </p:spTree>
    <p:extLst>
      <p:ext uri="{BB962C8B-B14F-4D97-AF65-F5344CB8AC3E}">
        <p14:creationId xmlns:p14="http://schemas.microsoft.com/office/powerpoint/2010/main" val="8316293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8012" y="685800"/>
            <a:ext cx="4876800" cy="1569660"/>
          </a:xfrm>
          <a:prstGeom prst="rect">
            <a:avLst/>
          </a:prstGeom>
        </p:spPr>
        <p:txBody>
          <a:bodyPr wrap="square">
            <a:spAutoFit/>
          </a:bodyPr>
          <a:lstStyle/>
          <a:p>
            <a:pPr marL="285750" indent="-285750" algn="just">
              <a:buFont typeface="Wingdings" pitchFamily="2" charset="2"/>
              <a:buChar char="v"/>
            </a:pPr>
            <a:r>
              <a:rPr lang="vi-VN" sz="1600" b="1" dirty="0">
                <a:latin typeface="Helvetica" pitchFamily="34" charset="0"/>
                <a:cs typeface="Helvetica" pitchFamily="34" charset="0"/>
              </a:rPr>
              <a:t>Molecula de ADN este foarte lungă şi este</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formată din două fire răsucite unul în jurul celuilalt formând o dublă elice. Secvenţialitatea structurilor de pe lanţurile ADN-ului formează un cod special, codul genetic care stabileşte cum arată, creşte şi funcţionează corpul.</a:t>
            </a:r>
            <a:endParaRPr lang="en-US" sz="1600" b="1" dirty="0">
              <a:latin typeface="Helvetica" pitchFamily="34" charset="0"/>
              <a:cs typeface="Helvetica" pitchFamily="34" charset="0"/>
            </a:endParaRPr>
          </a:p>
        </p:txBody>
      </p:sp>
      <p:sp>
        <p:nvSpPr>
          <p:cNvPr id="5" name="Rectangle 4"/>
          <p:cNvSpPr/>
          <p:nvPr/>
        </p:nvSpPr>
        <p:spPr>
          <a:xfrm>
            <a:off x="586371" y="2256174"/>
            <a:ext cx="4898441" cy="3293209"/>
          </a:xfrm>
          <a:prstGeom prst="rect">
            <a:avLst/>
          </a:prstGeom>
        </p:spPr>
        <p:txBody>
          <a:bodyPr wrap="square">
            <a:spAutoFit/>
          </a:bodyPr>
          <a:lstStyle/>
          <a:p>
            <a:pPr marL="285750" indent="-285750" algn="just">
              <a:buFont typeface="Wingdings" pitchFamily="2" charset="2"/>
              <a:buChar char="v"/>
            </a:pPr>
            <a:r>
              <a:rPr lang="vi-VN" sz="1600" b="1" dirty="0">
                <a:latin typeface="Helvetica" pitchFamily="34" charset="0"/>
                <a:cs typeface="Helvetica" pitchFamily="34" charset="0"/>
              </a:rPr>
              <a:t>Pe unul dintre fire se află informaţiile ce</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coordonează sinteza proteinelor de către enzime. Proteinele sunt cele care controlează activitatea celulară. În timpul diviziunii celulare, enzimele separă cele două fire şi sintetizează alte două fire noi în faţa celor vechi. </a:t>
            </a:r>
            <a:endParaRPr lang="en-US" sz="1600" b="1" dirty="0">
              <a:latin typeface="Helvetica" pitchFamily="34" charset="0"/>
              <a:cs typeface="Helvetica" pitchFamily="34" charset="0"/>
            </a:endParaRPr>
          </a:p>
          <a:p>
            <a:pPr marL="285750" indent="-285750" algn="just">
              <a:buFont typeface="Wingdings" pitchFamily="2" charset="2"/>
              <a:buChar char="v"/>
            </a:pPr>
            <a:endParaRPr lang="en-US" sz="1600" b="1" dirty="0">
              <a:latin typeface="Helvetica" pitchFamily="34" charset="0"/>
              <a:cs typeface="Helvetica" pitchFamily="34" charset="0"/>
            </a:endParaRPr>
          </a:p>
          <a:p>
            <a:pPr marL="285750" indent="-285750" algn="just">
              <a:buFont typeface="Wingdings" pitchFamily="2" charset="2"/>
              <a:buChar char="v"/>
            </a:pPr>
            <a:r>
              <a:rPr lang="vi-VN" sz="1600" b="1" dirty="0">
                <a:latin typeface="Helvetica" pitchFamily="34" charset="0"/>
                <a:cs typeface="Helvetica" pitchFamily="34" charset="0"/>
              </a:rPr>
              <a:t>Astfel se formează două noi molecule de</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ADN, identice cu cea iniţială. Aceste două noi molecule de ADN sunt destinate fiecare în parte câte unei alte celule-fiice. Acest fenomen, denumit replicarea ADN-ului, asigură identitatea genetică în timpul multiplicării celulare.</a:t>
            </a:r>
            <a:endParaRPr lang="en-US" sz="1600" b="1" dirty="0">
              <a:latin typeface="Helvetica" pitchFamily="34" charset="0"/>
              <a:cs typeface="Helvetica" pitchFamily="34" charset="0"/>
            </a:endParaRPr>
          </a:p>
        </p:txBody>
      </p:sp>
      <p:sp>
        <p:nvSpPr>
          <p:cNvPr id="6" name="Rectangle 5"/>
          <p:cNvSpPr/>
          <p:nvPr/>
        </p:nvSpPr>
        <p:spPr>
          <a:xfrm>
            <a:off x="6551611" y="609600"/>
            <a:ext cx="5162549" cy="2554545"/>
          </a:xfrm>
          <a:prstGeom prst="rect">
            <a:avLst/>
          </a:prstGeom>
        </p:spPr>
        <p:txBody>
          <a:bodyPr wrap="square">
            <a:spAutoFit/>
          </a:bodyPr>
          <a:lstStyle/>
          <a:p>
            <a:pPr marL="285750" indent="-285750" algn="just">
              <a:buFont typeface="Wingdings" pitchFamily="2" charset="2"/>
              <a:buChar char="v"/>
            </a:pPr>
            <a:r>
              <a:rPr lang="vi-VN" sz="1600" b="1" dirty="0">
                <a:latin typeface="Helvetica" pitchFamily="34" charset="0"/>
                <a:cs typeface="Helvetica" pitchFamily="34" charset="0"/>
              </a:rPr>
              <a:t>ARN-ul joacă un rol important în sinteza</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proteinelor și reglează expresia informațiilor stocate în ADN pentru a produce aceste proteine. Spre deosebire de ADN, ARN-ul este monocatenar. </a:t>
            </a:r>
            <a:endParaRPr lang="en-US" sz="1600" b="1" dirty="0">
              <a:latin typeface="Helvetica" pitchFamily="34" charset="0"/>
              <a:cs typeface="Helvetica" pitchFamily="34" charset="0"/>
            </a:endParaRPr>
          </a:p>
          <a:p>
            <a:pPr marL="285750" indent="-285750" algn="just">
              <a:buFont typeface="Wingdings" pitchFamily="2" charset="2"/>
              <a:buChar char="v"/>
            </a:pPr>
            <a:endParaRPr lang="en-US" sz="1600" b="1" dirty="0">
              <a:latin typeface="Helvetica" pitchFamily="34" charset="0"/>
              <a:cs typeface="Helvetica" pitchFamily="34" charset="0"/>
            </a:endParaRPr>
          </a:p>
          <a:p>
            <a:pPr marL="285750" indent="-285750" algn="just">
              <a:buFont typeface="Wingdings" pitchFamily="2" charset="2"/>
              <a:buChar char="v"/>
            </a:pPr>
            <a:r>
              <a:rPr lang="vi-VN" sz="1600" b="1" dirty="0">
                <a:latin typeface="Helvetica" pitchFamily="34" charset="0"/>
                <a:cs typeface="Helvetica" pitchFamily="34" charset="0"/>
              </a:rPr>
              <a:t>Totuși, diferite părți ale catenei sale pot</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interacționa între ele, ceea ce înseamnă că forma ARN-ului poate varia mai mult decât cea a ADN-ului. Drept urmare, există mai multe tipuri diferite de ARN cu diferite funcții, astfel:</a:t>
            </a:r>
            <a:endParaRPr lang="en-US" sz="1600" dirty="0">
              <a:latin typeface="Helvetica" pitchFamily="34" charset="0"/>
              <a:cs typeface="Helvetica" pitchFamily="34" charset="0"/>
            </a:endParaRPr>
          </a:p>
        </p:txBody>
      </p:sp>
      <p:sp>
        <p:nvSpPr>
          <p:cNvPr id="7" name="Rectangle 6"/>
          <p:cNvSpPr/>
          <p:nvPr/>
        </p:nvSpPr>
        <p:spPr>
          <a:xfrm>
            <a:off x="6551611" y="3352800"/>
            <a:ext cx="4800601" cy="2308324"/>
          </a:xfrm>
          <a:prstGeom prst="rect">
            <a:avLst/>
          </a:prstGeom>
        </p:spPr>
        <p:txBody>
          <a:bodyPr wrap="square">
            <a:spAutoFit/>
          </a:bodyPr>
          <a:lstStyle/>
          <a:p>
            <a:pPr marL="285750" indent="-285750" algn="just">
              <a:buFont typeface="Wingdings" pitchFamily="2" charset="2"/>
              <a:buChar char="v"/>
            </a:pPr>
            <a:r>
              <a:rPr lang="vi-VN" sz="1600" b="1" i="1" u="sng" dirty="0">
                <a:latin typeface="Helvetica" pitchFamily="34" charset="0"/>
                <a:cs typeface="Helvetica" pitchFamily="34" charset="0"/>
              </a:rPr>
              <a:t>ARN-mesager (ARNm)</a:t>
            </a:r>
            <a:r>
              <a:rPr lang="vi-VN" sz="1600" b="1" u="sng" dirty="0">
                <a:latin typeface="Helvetica" pitchFamily="34" charset="0"/>
                <a:cs typeface="Helvetica" pitchFamily="34" charset="0"/>
              </a:rPr>
              <a:t>: </a:t>
            </a:r>
            <a:r>
              <a:rPr lang="vi-VN" sz="1600" b="1" dirty="0">
                <a:latin typeface="Helvetica" pitchFamily="34" charset="0"/>
                <a:cs typeface="Helvetica" pitchFamily="34" charset="0"/>
              </a:rPr>
              <a:t>are rol în transcripția</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informației genetice și copiază informația genetică de pe ADN, transmițând-o în citoplasma celulei la locul sintezei proteice (în ribozomi)</a:t>
            </a:r>
            <a:r>
              <a:rPr lang="en-US" sz="1600" b="1" dirty="0">
                <a:latin typeface="Helvetica" pitchFamily="34" charset="0"/>
                <a:cs typeface="Helvetica" pitchFamily="34" charset="0"/>
              </a:rPr>
              <a:t>. </a:t>
            </a:r>
          </a:p>
          <a:p>
            <a:pPr marL="285750" indent="-285750" algn="just">
              <a:buFont typeface="Wingdings" pitchFamily="2" charset="2"/>
              <a:buChar char="v"/>
            </a:pPr>
            <a:r>
              <a:rPr lang="vi-VN" sz="1600" b="1" dirty="0">
                <a:latin typeface="Helvetica" pitchFamily="34" charset="0"/>
                <a:cs typeface="Helvetica" pitchFamily="34" charset="0"/>
              </a:rPr>
              <a:t>El utilizează perechi de baze complementare</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pentru a copia și transmite informația genetică din ADN la ribozomi (proces numit transcripție), unde are loc sinteza proteinelor</a:t>
            </a:r>
            <a:endParaRPr lang="en-US" sz="1600" b="1" dirty="0">
              <a:latin typeface="Helvetica" pitchFamily="34" charset="0"/>
              <a:cs typeface="Helvetica" pitchFamily="34" charset="0"/>
            </a:endParaRPr>
          </a:p>
        </p:txBody>
      </p:sp>
    </p:spTree>
    <p:extLst>
      <p:ext uri="{BB962C8B-B14F-4D97-AF65-F5344CB8AC3E}">
        <p14:creationId xmlns:p14="http://schemas.microsoft.com/office/powerpoint/2010/main" val="5052589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84211" y="845403"/>
            <a:ext cx="4903788" cy="830997"/>
          </a:xfrm>
          <a:prstGeom prst="rect">
            <a:avLst/>
          </a:prstGeom>
        </p:spPr>
        <p:txBody>
          <a:bodyPr wrap="square">
            <a:spAutoFit/>
          </a:bodyPr>
          <a:lstStyle/>
          <a:p>
            <a:pPr marL="285750" indent="-285750" algn="just">
              <a:buFont typeface="Wingdings" pitchFamily="2" charset="2"/>
              <a:buChar char="v"/>
            </a:pPr>
            <a:r>
              <a:rPr lang="vi-VN" sz="1600" b="1" i="1" dirty="0">
                <a:latin typeface="Helvetica" pitchFamily="34" charset="0"/>
                <a:cs typeface="Helvetica" pitchFamily="34" charset="0"/>
              </a:rPr>
              <a:t> </a:t>
            </a:r>
            <a:r>
              <a:rPr lang="vi-VN" sz="1600" b="1" i="1" u="sng" dirty="0">
                <a:latin typeface="Helvetica" pitchFamily="34" charset="0"/>
                <a:cs typeface="Helvetica" pitchFamily="34" charset="0"/>
              </a:rPr>
              <a:t>ARN de transport/transfer (ARNt)</a:t>
            </a:r>
            <a:r>
              <a:rPr lang="vi-VN" sz="1600" b="1" u="sng" dirty="0">
                <a:latin typeface="Helvetica" pitchFamily="34" charset="0"/>
                <a:cs typeface="Helvetica" pitchFamily="34" charset="0"/>
              </a:rPr>
              <a:t>: </a:t>
            </a:r>
            <a:r>
              <a:rPr lang="vi-VN" sz="1600" b="1" dirty="0">
                <a:latin typeface="Helvetica" pitchFamily="34" charset="0"/>
                <a:cs typeface="Helvetica" pitchFamily="34" charset="0"/>
              </a:rPr>
              <a:t>decodifică</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informația genetică, transformând o secvență de aminoacizi în molecula proteinelor.</a:t>
            </a:r>
            <a:endParaRPr lang="en-US" sz="1600" b="1" dirty="0">
              <a:latin typeface="Helvetica" pitchFamily="34" charset="0"/>
              <a:cs typeface="Helvetica" pitchFamily="34" charset="0"/>
            </a:endParaRPr>
          </a:p>
        </p:txBody>
      </p:sp>
      <p:sp>
        <p:nvSpPr>
          <p:cNvPr id="5" name="Rectangle 4"/>
          <p:cNvSpPr/>
          <p:nvPr/>
        </p:nvSpPr>
        <p:spPr>
          <a:xfrm>
            <a:off x="684213" y="2146518"/>
            <a:ext cx="4903786" cy="1815882"/>
          </a:xfrm>
          <a:prstGeom prst="rect">
            <a:avLst/>
          </a:prstGeom>
        </p:spPr>
        <p:txBody>
          <a:bodyPr wrap="square">
            <a:spAutoFit/>
          </a:bodyPr>
          <a:lstStyle/>
          <a:p>
            <a:pPr marL="285750" indent="-285750" algn="just">
              <a:buFont typeface="Wingdings" pitchFamily="2" charset="2"/>
              <a:buChar char="v"/>
            </a:pPr>
            <a:r>
              <a:rPr lang="vi-VN" sz="1600" b="1" i="1" u="sng" dirty="0">
                <a:latin typeface="Helvetica" pitchFamily="34" charset="0"/>
                <a:cs typeface="Helvetica" pitchFamily="34" charset="0"/>
              </a:rPr>
              <a:t>ARN ribozomal (ARNr)</a:t>
            </a:r>
            <a:r>
              <a:rPr lang="vi-VN" sz="1600" b="1" u="sng" dirty="0">
                <a:latin typeface="Helvetica" pitchFamily="34" charset="0"/>
                <a:cs typeface="Helvetica" pitchFamily="34" charset="0"/>
              </a:rPr>
              <a:t>: </a:t>
            </a:r>
            <a:r>
              <a:rPr lang="vi-VN" sz="1600" b="1" dirty="0">
                <a:latin typeface="Helvetica" pitchFamily="34" charset="0"/>
                <a:cs typeface="Helvetica" pitchFamily="34" charset="0"/>
              </a:rPr>
              <a:t>intră în alcătuirea</a:t>
            </a:r>
            <a:endParaRPr lang="en-US" sz="1600" b="1" dirty="0">
              <a:latin typeface="Helvetica" pitchFamily="34" charset="0"/>
              <a:cs typeface="Helvetica" pitchFamily="34" charset="0"/>
            </a:endParaRPr>
          </a:p>
          <a:p>
            <a:pPr algn="just"/>
            <a:r>
              <a:rPr lang="vi-VN" sz="1600" b="1" dirty="0">
                <a:latin typeface="Helvetica" pitchFamily="34" charset="0"/>
                <a:cs typeface="Helvetica" pitchFamily="34" charset="0"/>
              </a:rPr>
              <a:t>ribozomilor (structurile celulare responsabile pentru sinteza proteinelor), având rol în sinteza proteinelor. El joacă un rol esențial în procesul de translație, deoarece transferă aminoacizii la locul de sinteză a proteinelor. În natură există 20 de aminoacizi, fiecare având propriul său ARNt.</a:t>
            </a:r>
            <a:endParaRPr lang="en-US" sz="1600" b="1" dirty="0">
              <a:latin typeface="Helvetica" pitchFamily="34" charset="0"/>
              <a:cs typeface="Helvetica" pitchFamily="34" charset="0"/>
            </a:endParaRPr>
          </a:p>
        </p:txBody>
      </p:sp>
      <p:sp>
        <p:nvSpPr>
          <p:cNvPr id="6" name="Rectangle 5"/>
          <p:cNvSpPr/>
          <p:nvPr/>
        </p:nvSpPr>
        <p:spPr>
          <a:xfrm>
            <a:off x="684213" y="4368225"/>
            <a:ext cx="4903786" cy="584775"/>
          </a:xfrm>
          <a:prstGeom prst="rect">
            <a:avLst/>
          </a:prstGeom>
        </p:spPr>
        <p:txBody>
          <a:bodyPr wrap="square">
            <a:spAutoFit/>
          </a:bodyPr>
          <a:lstStyle/>
          <a:p>
            <a:pPr marL="285750" indent="-285750" algn="just">
              <a:buFont typeface="Wingdings" pitchFamily="2" charset="2"/>
              <a:buChar char="v"/>
            </a:pPr>
            <a:r>
              <a:rPr lang="es-ES" sz="1600" b="1" i="1" u="sng" dirty="0">
                <a:latin typeface="Helvetica" pitchFamily="34" charset="0"/>
                <a:cs typeface="Helvetica" pitchFamily="34" charset="0"/>
              </a:rPr>
              <a:t>ARN viral (</a:t>
            </a:r>
            <a:r>
              <a:rPr lang="es-ES" sz="1600" b="1" i="1" u="sng" dirty="0" err="1">
                <a:latin typeface="Helvetica" pitchFamily="34" charset="0"/>
                <a:cs typeface="Helvetica" pitchFamily="34" charset="0"/>
              </a:rPr>
              <a:t>ARNv</a:t>
            </a:r>
            <a:r>
              <a:rPr lang="es-ES" sz="1600" b="1" i="1" u="sng" dirty="0">
                <a:latin typeface="Helvetica" pitchFamily="34" charset="0"/>
                <a:cs typeface="Helvetica" pitchFamily="34" charset="0"/>
              </a:rPr>
              <a:t>)</a:t>
            </a:r>
            <a:r>
              <a:rPr lang="es-ES" sz="1600" b="1" u="sng" dirty="0">
                <a:latin typeface="Helvetica" pitchFamily="34" charset="0"/>
                <a:cs typeface="Helvetica" pitchFamily="34" charset="0"/>
              </a:rPr>
              <a:t>: </a:t>
            </a:r>
            <a:r>
              <a:rPr lang="es-ES" sz="1600" b="1" dirty="0">
                <a:latin typeface="Helvetica" pitchFamily="34" charset="0"/>
                <a:cs typeface="Helvetica" pitchFamily="34" charset="0"/>
              </a:rPr>
              <a:t>este material </a:t>
            </a:r>
            <a:r>
              <a:rPr lang="es-ES" sz="1600" b="1" dirty="0" err="1">
                <a:latin typeface="Helvetica" pitchFamily="34" charset="0"/>
                <a:cs typeface="Helvetica" pitchFamily="34" charset="0"/>
              </a:rPr>
              <a:t>genetic</a:t>
            </a:r>
            <a:r>
              <a:rPr lang="es-ES" sz="1600" b="1" dirty="0">
                <a:latin typeface="Helvetica" pitchFamily="34" charset="0"/>
                <a:cs typeface="Helvetica" pitchFamily="34" charset="0"/>
              </a:rPr>
              <a:t> la </a:t>
            </a:r>
            <a:r>
              <a:rPr lang="es-ES" sz="1600" b="1" dirty="0" err="1">
                <a:latin typeface="Helvetica" pitchFamily="34" charset="0"/>
                <a:cs typeface="Helvetica" pitchFamily="34" charset="0"/>
              </a:rPr>
              <a:t>unele</a:t>
            </a:r>
            <a:r>
              <a:rPr lang="es-ES" sz="1600" b="1" dirty="0">
                <a:latin typeface="Helvetica" pitchFamily="34" charset="0"/>
                <a:cs typeface="Helvetica" pitchFamily="34" charset="0"/>
              </a:rPr>
              <a:t> </a:t>
            </a:r>
            <a:r>
              <a:rPr lang="es-ES" sz="1600" b="1" dirty="0" err="1">
                <a:latin typeface="Helvetica" pitchFamily="34" charset="0"/>
                <a:cs typeface="Helvetica" pitchFamily="34" charset="0"/>
              </a:rPr>
              <a:t>virusuri</a:t>
            </a:r>
            <a:r>
              <a:rPr lang="es-ES" sz="1600" b="1" dirty="0">
                <a:latin typeface="Helvetica" pitchFamily="34" charset="0"/>
                <a:cs typeface="Helvetica" pitchFamily="34" charset="0"/>
              </a:rPr>
              <a:t>.</a:t>
            </a:r>
            <a:endParaRPr lang="en-US" sz="1600" b="1" dirty="0">
              <a:latin typeface="Helvetica" pitchFamily="34" charset="0"/>
              <a:cs typeface="Helvetica" pitchFamily="34" charset="0"/>
            </a:endParaRPr>
          </a:p>
        </p:txBody>
      </p:sp>
      <p:pic>
        <p:nvPicPr>
          <p:cNvPr id="1026" name="Picture 2" descr="https://www.fizichim.ro/chimie/clasa11/capitolul3/III-6-2-functiile-acizilor-nucleici-poza1-functiile-a-r-n-ului-schema-mental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22155" y="641731"/>
            <a:ext cx="4878620" cy="99036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6723976" y="2600325"/>
            <a:ext cx="4876799" cy="2554545"/>
          </a:xfrm>
          <a:prstGeom prst="rect">
            <a:avLst/>
          </a:prstGeom>
        </p:spPr>
        <p:txBody>
          <a:bodyPr wrap="square">
            <a:spAutoFit/>
          </a:bodyPr>
          <a:lstStyle/>
          <a:p>
            <a:pPr marL="285750" indent="-285750">
              <a:buFont typeface="Wingdings" pitchFamily="2" charset="2"/>
              <a:buChar char="v"/>
            </a:pPr>
            <a:r>
              <a:rPr lang="vi-VN" sz="1600" b="1" dirty="0">
                <a:latin typeface="Helvetica" pitchFamily="34" charset="0"/>
                <a:cs typeface="Helvetica" pitchFamily="34" charset="0"/>
              </a:rPr>
              <a:t>ADN-ul și ARN-ul pot fi degradate de la</a:t>
            </a:r>
            <a:endParaRPr lang="ro-RO" sz="1600" b="1" dirty="0">
              <a:latin typeface="Helvetica" pitchFamily="34" charset="0"/>
              <a:cs typeface="Helvetica" pitchFamily="34" charset="0"/>
            </a:endParaRPr>
          </a:p>
          <a:p>
            <a:r>
              <a:rPr lang="vi-VN" sz="1600" b="1" dirty="0">
                <a:latin typeface="Helvetica" pitchFamily="34" charset="0"/>
                <a:cs typeface="Helvetica" pitchFamily="34" charset="0"/>
              </a:rPr>
              <a:t>nucleotide la nucleozide, apoi la baze azotate și în final la acid uric. </a:t>
            </a:r>
            <a:endParaRPr lang="en-US" sz="1600" b="1" dirty="0">
              <a:latin typeface="Helvetica" pitchFamily="34" charset="0"/>
              <a:cs typeface="Helvetica" pitchFamily="34" charset="0"/>
            </a:endParaRPr>
          </a:p>
          <a:p>
            <a:pPr marL="285750" indent="-285750">
              <a:buFont typeface="Wingdings" pitchFamily="2" charset="2"/>
              <a:buChar char="v"/>
            </a:pPr>
            <a:endParaRPr lang="ro-RO" sz="1600" b="1" dirty="0">
              <a:latin typeface="Helvetica" pitchFamily="34" charset="0"/>
              <a:cs typeface="Helvetica" pitchFamily="34" charset="0"/>
            </a:endParaRPr>
          </a:p>
          <a:p>
            <a:pPr marL="285750" indent="-285750">
              <a:buFont typeface="Wingdings" pitchFamily="2" charset="2"/>
              <a:buChar char="v"/>
            </a:pPr>
            <a:r>
              <a:rPr lang="vi-VN" sz="1600" b="1" dirty="0">
                <a:latin typeface="Helvetica" pitchFamily="34" charset="0"/>
                <a:cs typeface="Helvetica" pitchFamily="34" charset="0"/>
              </a:rPr>
              <a:t>Degradarea acizilor nucleici este importantă</a:t>
            </a:r>
            <a:endParaRPr lang="ro-RO" sz="1600" b="1" dirty="0">
              <a:latin typeface="Helvetica" pitchFamily="34" charset="0"/>
              <a:cs typeface="Helvetica" pitchFamily="34" charset="0"/>
            </a:endParaRPr>
          </a:p>
          <a:p>
            <a:r>
              <a:rPr lang="vi-VN" sz="1600" b="1" dirty="0">
                <a:latin typeface="Helvetica" pitchFamily="34" charset="0"/>
                <a:cs typeface="Helvetica" pitchFamily="34" charset="0"/>
              </a:rPr>
              <a:t>pentru sănătatea organismului. De exemplu, incapacitatea de a degrada purinele este asociată cu </a:t>
            </a:r>
            <a:r>
              <a:rPr lang="ro-RO" sz="1600" b="1" dirty="0">
                <a:latin typeface="Helvetica" pitchFamily="34" charset="0"/>
                <a:cs typeface="Helvetica" pitchFamily="34" charset="0"/>
              </a:rPr>
              <a:t>G</a:t>
            </a:r>
            <a:r>
              <a:rPr lang="vi-VN" sz="1600" b="1" dirty="0">
                <a:latin typeface="Helvetica" pitchFamily="34" charset="0"/>
                <a:cs typeface="Helvetica" pitchFamily="34" charset="0"/>
              </a:rPr>
              <a:t>u</a:t>
            </a:r>
            <a:r>
              <a:rPr lang="ro-RO" sz="1600" b="1" dirty="0">
                <a:latin typeface="Helvetica" pitchFamily="34" charset="0"/>
                <a:cs typeface="Helvetica" pitchFamily="34" charset="0"/>
              </a:rPr>
              <a:t>ță</a:t>
            </a:r>
            <a:r>
              <a:rPr lang="vi-VN" sz="1600" b="1" dirty="0">
                <a:latin typeface="Helvetica" pitchFamily="34" charset="0"/>
                <a:cs typeface="Helvetica" pitchFamily="34" charset="0"/>
              </a:rPr>
              <a:t>, o afecțiune dureroasă care afectează unele articulații din cauza cristalelor de acid uric depuse la nivelul acestora.</a:t>
            </a:r>
          </a:p>
        </p:txBody>
      </p:sp>
    </p:spTree>
    <p:extLst>
      <p:ext uri="{BB962C8B-B14F-4D97-AF65-F5344CB8AC3E}">
        <p14:creationId xmlns:p14="http://schemas.microsoft.com/office/powerpoint/2010/main" val="38325911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18908" y="2895600"/>
            <a:ext cx="4953001" cy="2369880"/>
          </a:xfrm>
          <a:prstGeom prst="rect">
            <a:avLst/>
          </a:prstGeom>
        </p:spPr>
        <p:txBody>
          <a:bodyPr wrap="square">
            <a:spAutoFit/>
          </a:bodyPr>
          <a:lstStyle/>
          <a:p>
            <a:pPr algn="just"/>
            <a:r>
              <a:rPr lang="vi-VN" b="1" u="sng" dirty="0">
                <a:latin typeface="Helvetica" pitchFamily="34" charset="0"/>
                <a:cs typeface="Helvetica" pitchFamily="34" charset="0"/>
              </a:rPr>
              <a:t>Rolul și importanța acizilor nucleici</a:t>
            </a:r>
            <a:endParaRPr lang="en-US" b="1" u="sng" dirty="0">
              <a:latin typeface="Helvetica" pitchFamily="34" charset="0"/>
              <a:cs typeface="Helvetica" pitchFamily="34" charset="0"/>
            </a:endParaRPr>
          </a:p>
          <a:p>
            <a:pPr algn="just"/>
            <a:endParaRPr lang="vi-VN" b="1" dirty="0">
              <a:latin typeface="Helvetica" pitchFamily="34" charset="0"/>
              <a:cs typeface="Helvetica" pitchFamily="34" charset="0"/>
            </a:endParaRPr>
          </a:p>
          <a:p>
            <a:pPr marL="285750" indent="-285750" algn="just">
              <a:buFont typeface="Arial" pitchFamily="34" charset="0"/>
              <a:buChar char="•"/>
            </a:pPr>
            <a:r>
              <a:rPr lang="vi-VN" sz="1600" b="1" dirty="0">
                <a:latin typeface="Helvetica" pitchFamily="34" charset="0"/>
                <a:cs typeface="Helvetica" pitchFamily="34" charset="0"/>
              </a:rPr>
              <a:t>Păstrarea informației genetice (atât ADN-ul, cât și ARN-ul);</a:t>
            </a:r>
          </a:p>
          <a:p>
            <a:pPr marL="285750" indent="-285750" algn="just">
              <a:buFont typeface="Arial" pitchFamily="34" charset="0"/>
              <a:buChar char="•"/>
            </a:pPr>
            <a:r>
              <a:rPr lang="vi-VN" sz="1600" b="1" dirty="0">
                <a:latin typeface="Helvetica" pitchFamily="34" charset="0"/>
                <a:cs typeface="Helvetica" pitchFamily="34" charset="0"/>
              </a:rPr>
              <a:t>Sinteza proteinelor (numai ARN-ul).</a:t>
            </a:r>
          </a:p>
          <a:p>
            <a:pPr marL="285750" indent="-285750" algn="just">
              <a:buFont typeface="Arial" pitchFamily="34" charset="0"/>
              <a:buChar char="•"/>
            </a:pPr>
            <a:r>
              <a:rPr lang="vi-VN" sz="1600" b="1" dirty="0">
                <a:latin typeface="Helvetica" pitchFamily="34" charset="0"/>
                <a:cs typeface="Helvetica" pitchFamily="34" charset="0"/>
              </a:rPr>
              <a:t>Acizii nucleici reprezintă substratul eredității. Ei au înscrisă, sub formă de codificare biochimică informația ereditară în catena polinucleotidică.</a:t>
            </a:r>
          </a:p>
        </p:txBody>
      </p:sp>
      <p:sp>
        <p:nvSpPr>
          <p:cNvPr id="5" name="Rectangle 4"/>
          <p:cNvSpPr/>
          <p:nvPr/>
        </p:nvSpPr>
        <p:spPr>
          <a:xfrm>
            <a:off x="6597195" y="990600"/>
            <a:ext cx="4953000" cy="4062651"/>
          </a:xfrm>
          <a:prstGeom prst="rect">
            <a:avLst/>
          </a:prstGeom>
        </p:spPr>
        <p:txBody>
          <a:bodyPr wrap="square">
            <a:spAutoFit/>
          </a:bodyPr>
          <a:lstStyle/>
          <a:p>
            <a:pPr algn="just"/>
            <a:r>
              <a:rPr lang="vi-VN" b="1" dirty="0">
                <a:latin typeface="Helvetica" pitchFamily="34" charset="0"/>
                <a:cs typeface="Helvetica" pitchFamily="34" charset="0"/>
              </a:rPr>
              <a:t>Observație</a:t>
            </a:r>
            <a:endParaRPr lang="en-US" b="1" dirty="0">
              <a:latin typeface="Helvetica" pitchFamily="34" charset="0"/>
              <a:cs typeface="Helvetica" pitchFamily="34" charset="0"/>
            </a:endParaRPr>
          </a:p>
          <a:p>
            <a:pPr algn="just"/>
            <a:endParaRPr lang="vi-VN" sz="1600" b="1" dirty="0">
              <a:latin typeface="Helvetica" pitchFamily="34" charset="0"/>
              <a:cs typeface="Helvetica" pitchFamily="34" charset="0"/>
            </a:endParaRPr>
          </a:p>
          <a:p>
            <a:pPr marL="285750" indent="-285750" algn="just">
              <a:buFont typeface="Wingdings" pitchFamily="2" charset="2"/>
              <a:buChar char="v"/>
            </a:pPr>
            <a:r>
              <a:rPr lang="vi-VN" sz="1600" b="1" dirty="0">
                <a:latin typeface="Helvetica" pitchFamily="34" charset="0"/>
                <a:cs typeface="Helvetica" pitchFamily="34" charset="0"/>
              </a:rPr>
              <a:t>Nu toți acizii nucleici sunt implicați în prelucrarea informațiilor stocate în celule. Adenozin trifosfatul (ATP) este implicat în generarea de energie pentru procesele celulare. </a:t>
            </a:r>
            <a:endParaRPr lang="ro-RO" sz="1600" b="1" dirty="0">
              <a:latin typeface="Helvetica" pitchFamily="34" charset="0"/>
              <a:cs typeface="Helvetica" pitchFamily="34" charset="0"/>
            </a:endParaRPr>
          </a:p>
          <a:p>
            <a:pPr marL="285750" indent="-285750" algn="just">
              <a:buFont typeface="Wingdings" pitchFamily="2" charset="2"/>
              <a:buChar char="v"/>
            </a:pPr>
            <a:endParaRPr lang="ro-RO" sz="1600" b="1" dirty="0">
              <a:latin typeface="Helvetica" pitchFamily="34" charset="0"/>
              <a:cs typeface="Helvetica" pitchFamily="34" charset="0"/>
            </a:endParaRPr>
          </a:p>
          <a:p>
            <a:pPr marL="285750" indent="-285750" algn="just">
              <a:buFont typeface="Wingdings" pitchFamily="2" charset="2"/>
              <a:buChar char="v"/>
            </a:pPr>
            <a:r>
              <a:rPr lang="vi-VN" sz="1600" b="1" dirty="0">
                <a:latin typeface="Helvetica" pitchFamily="34" charset="0"/>
                <a:cs typeface="Helvetica" pitchFamily="34" charset="0"/>
              </a:rPr>
              <a:t>Adenozin</a:t>
            </a:r>
            <a:r>
              <a:rPr lang="ro-RO" sz="1600" b="1" dirty="0">
                <a:latin typeface="Helvetica" pitchFamily="34" charset="0"/>
                <a:cs typeface="Helvetica" pitchFamily="34" charset="0"/>
              </a:rPr>
              <a:t> </a:t>
            </a:r>
            <a:r>
              <a:rPr lang="vi-VN" sz="1600" b="1" dirty="0">
                <a:latin typeface="Helvetica" pitchFamily="34" charset="0"/>
                <a:cs typeface="Helvetica" pitchFamily="34" charset="0"/>
              </a:rPr>
              <a:t>trifosfatul este o nucleozidă trifosforilată (fiind compus din trifosfat, adenină și riboză) și este un element constitutiv al macromoleculelor de ADN și ARN. Este acumulatorul de energie necesară celulei, deoarece este implicat în transformarea energiei reacțiilor biochimice celulare conform cu necesitățile metabolice.</a:t>
            </a:r>
          </a:p>
        </p:txBody>
      </p:sp>
      <p:sp>
        <p:nvSpPr>
          <p:cNvPr id="6" name="Rectangle 5"/>
          <p:cNvSpPr/>
          <p:nvPr/>
        </p:nvSpPr>
        <p:spPr>
          <a:xfrm>
            <a:off x="718909" y="990600"/>
            <a:ext cx="4953001" cy="1569660"/>
          </a:xfrm>
          <a:prstGeom prst="rect">
            <a:avLst/>
          </a:prstGeom>
        </p:spPr>
        <p:txBody>
          <a:bodyPr wrap="square">
            <a:spAutoFit/>
          </a:bodyPr>
          <a:lstStyle/>
          <a:p>
            <a:pPr marL="285750" indent="-285750" algn="just">
              <a:buFont typeface="Wingdings" pitchFamily="2" charset="2"/>
              <a:buChar char="v"/>
            </a:pPr>
            <a:r>
              <a:rPr lang="vi-VN" sz="1600" b="1" dirty="0">
                <a:latin typeface="Helvetica" pitchFamily="34" charset="0"/>
                <a:cs typeface="Helvetica" pitchFamily="34" charset="0"/>
              </a:rPr>
              <a:t>ADN-ul constituie cca. 1% din masa celulei,</a:t>
            </a:r>
            <a:endParaRPr lang="ro-RO" sz="1600" b="1" dirty="0">
              <a:latin typeface="Helvetica" pitchFamily="34" charset="0"/>
              <a:cs typeface="Helvetica" pitchFamily="34" charset="0"/>
            </a:endParaRPr>
          </a:p>
          <a:p>
            <a:pPr algn="just"/>
            <a:r>
              <a:rPr lang="vi-VN" sz="1600" b="1" dirty="0">
                <a:latin typeface="Helvetica" pitchFamily="34" charset="0"/>
                <a:cs typeface="Helvetica" pitchFamily="34" charset="0"/>
              </a:rPr>
              <a:t>iar ARN-ul aproximativ 5-10%.</a:t>
            </a:r>
          </a:p>
          <a:p>
            <a:pPr marL="285750" indent="-285750" algn="just">
              <a:buFont typeface="Wingdings" pitchFamily="2" charset="2"/>
              <a:buChar char="v"/>
            </a:pPr>
            <a:endParaRPr lang="en-US" sz="1600" b="1" dirty="0">
              <a:latin typeface="Helvetica" pitchFamily="34" charset="0"/>
              <a:cs typeface="Helvetica" pitchFamily="34" charset="0"/>
            </a:endParaRPr>
          </a:p>
          <a:p>
            <a:pPr marL="285750" indent="-285750" algn="just">
              <a:buFont typeface="Wingdings" pitchFamily="2" charset="2"/>
              <a:buChar char="v"/>
            </a:pPr>
            <a:r>
              <a:rPr lang="vi-VN" sz="1600" b="1" dirty="0">
                <a:latin typeface="Helvetica" pitchFamily="34" charset="0"/>
                <a:cs typeface="Helvetica" pitchFamily="34" charset="0"/>
              </a:rPr>
              <a:t>Genomul uman conține cca. trei bilioane de</a:t>
            </a:r>
            <a:endParaRPr lang="ro-RO" sz="1600" b="1" dirty="0">
              <a:latin typeface="Helvetica" pitchFamily="34" charset="0"/>
              <a:cs typeface="Helvetica" pitchFamily="34" charset="0"/>
            </a:endParaRPr>
          </a:p>
          <a:p>
            <a:pPr algn="just"/>
            <a:r>
              <a:rPr lang="vi-VN" sz="1600" b="1" dirty="0">
                <a:latin typeface="Helvetica" pitchFamily="34" charset="0"/>
                <a:cs typeface="Helvetica" pitchFamily="34" charset="0"/>
              </a:rPr>
              <a:t>perechi de nucleotide, organizate în 23 de perechi de cromozomi.</a:t>
            </a:r>
          </a:p>
        </p:txBody>
      </p:sp>
    </p:spTree>
    <p:extLst>
      <p:ext uri="{BB962C8B-B14F-4D97-AF65-F5344CB8AC3E}">
        <p14:creationId xmlns:p14="http://schemas.microsoft.com/office/powerpoint/2010/main" val="495172802"/>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marL="285750" indent="-285750">
          <a:buFont typeface="Wingdings" pitchFamily="2" charset="2"/>
          <a:buChar char="v"/>
          <a:defRPr sz="1400" dirty="0" err="1" smtClean="0">
            <a:latin typeface="Elephant" pitchFamily="18" charset="0"/>
          </a:defRPr>
        </a:defPPr>
      </a:lstStyle>
    </a:txDef>
  </a:objectDefaults>
  <a:extraClrSchemeLst/>
</a:theme>
</file>

<file path=docProps/app.xml><?xml version="1.0" encoding="utf-8"?>
<Properties xmlns="http://schemas.openxmlformats.org/officeDocument/2006/extended-properties" xmlns:vt="http://schemas.openxmlformats.org/officeDocument/2006/docPropsVTypes">
  <TotalTime>116</TotalTime>
  <Words>1765</Words>
  <Application>Microsoft Office PowerPoint</Application>
  <PresentationFormat>Custom</PresentationFormat>
  <Paragraphs>175</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Helvetica</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Gabi</dc:creator>
  <cp:lastModifiedBy>Cozma Dacian</cp:lastModifiedBy>
  <cp:revision>12</cp:revision>
  <dcterms:created xsi:type="dcterms:W3CDTF">2006-08-16T00:00:00Z</dcterms:created>
  <dcterms:modified xsi:type="dcterms:W3CDTF">2024-05-13T11:12:54Z</dcterms:modified>
</cp:coreProperties>
</file>