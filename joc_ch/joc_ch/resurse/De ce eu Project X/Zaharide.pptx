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50" autoAdjust="0"/>
    <p:restoredTop sz="94660"/>
  </p:normalViewPr>
  <p:slideViewPr>
    <p:cSldViewPr>
      <p:cViewPr varScale="1">
        <p:scale>
          <a:sx n="88" d="100"/>
          <a:sy n="88" d="100"/>
        </p:scale>
        <p:origin x="-120" y="-6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1" cy="6858000"/>
          </a:xfrm>
        </p:spPr>
      </p:pic>
      <p:sp>
        <p:nvSpPr>
          <p:cNvPr id="12" name="TextBox 11"/>
          <p:cNvSpPr txBox="1"/>
          <p:nvPr/>
        </p:nvSpPr>
        <p:spPr>
          <a:xfrm>
            <a:off x="540123" y="533400"/>
            <a:ext cx="360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 err="1" smtClean="0">
                <a:latin typeface="Elephant" pitchFamily="18" charset="0"/>
              </a:rPr>
              <a:t>Zaharide</a:t>
            </a:r>
            <a:r>
              <a:rPr lang="en-US" sz="2400" dirty="0" smtClean="0">
                <a:latin typeface="Elephant" pitchFamily="18" charset="0"/>
              </a:rPr>
              <a:t> - </a:t>
            </a:r>
            <a:r>
              <a:rPr lang="en-US" sz="2400" dirty="0" err="1">
                <a:latin typeface="Elephant" pitchFamily="18" charset="0"/>
              </a:rPr>
              <a:t>g</a:t>
            </a:r>
            <a:r>
              <a:rPr lang="en-US" sz="2400" dirty="0" err="1" smtClean="0">
                <a:latin typeface="Elephant" pitchFamily="18" charset="0"/>
              </a:rPr>
              <a:t>eneralitati</a:t>
            </a:r>
            <a:endParaRPr lang="en-US" sz="2400" u="sng" dirty="0">
              <a:latin typeface="Elephant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965" y="3415926"/>
            <a:ext cx="2781300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391886" y="1447800"/>
            <a:ext cx="37338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400" dirty="0" err="1" smtClean="0">
                <a:latin typeface="Elephant" pitchFamily="18" charset="0"/>
              </a:rPr>
              <a:t>Zaharidele</a:t>
            </a:r>
            <a:r>
              <a:rPr lang="en-US" sz="1400" dirty="0" smtClean="0">
                <a:latin typeface="Elephant" pitchFamily="18" charset="0"/>
              </a:rPr>
              <a:t> se </a:t>
            </a:r>
            <a:r>
              <a:rPr lang="en-US" sz="1400" dirty="0" err="1" smtClean="0">
                <a:latin typeface="Elephant" pitchFamily="18" charset="0"/>
              </a:rPr>
              <a:t>regasesc</a:t>
            </a:r>
            <a:r>
              <a:rPr lang="en-US" sz="1400" dirty="0" smtClean="0">
                <a:latin typeface="Elephant" pitchFamily="18" charset="0"/>
              </a:rPr>
              <a:t> in </a:t>
            </a:r>
            <a:r>
              <a:rPr lang="en-US" sz="1400" dirty="0" err="1" smtClean="0">
                <a:latin typeface="Elephant" pitchFamily="18" charset="0"/>
              </a:rPr>
              <a:t>natura</a:t>
            </a:r>
            <a:r>
              <a:rPr lang="en-US" sz="1400" dirty="0" smtClean="0">
                <a:latin typeface="Elephant" pitchFamily="18" charset="0"/>
              </a:rPr>
              <a:t> in</a:t>
            </a:r>
          </a:p>
          <a:p>
            <a:pPr algn="just"/>
            <a:r>
              <a:rPr lang="en-US" sz="1400" dirty="0" err="1" smtClean="0">
                <a:latin typeface="Elephant" pitchFamily="18" charset="0"/>
              </a:rPr>
              <a:t>plante</a:t>
            </a:r>
            <a:r>
              <a:rPr lang="en-US" sz="1400" dirty="0" smtClean="0">
                <a:latin typeface="Elephant" pitchFamily="18" charset="0"/>
              </a:rPr>
              <a:t>. </a:t>
            </a:r>
            <a:r>
              <a:rPr lang="en-US" sz="1400" dirty="0" err="1" smtClean="0">
                <a:latin typeface="Elephant" pitchFamily="18" charset="0"/>
              </a:rPr>
              <a:t>Acestea</a:t>
            </a:r>
            <a:r>
              <a:rPr lang="en-US" sz="1400" dirty="0" smtClean="0">
                <a:latin typeface="Elephant" pitchFamily="18" charset="0"/>
              </a:rPr>
              <a:t> se </a:t>
            </a:r>
            <a:r>
              <a:rPr lang="en-US" sz="1400" dirty="0" err="1" smtClean="0">
                <a:latin typeface="Elephant" pitchFamily="18" charset="0"/>
              </a:rPr>
              <a:t>formeaza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printr</a:t>
            </a:r>
            <a:r>
              <a:rPr lang="en-US" sz="1400" dirty="0" smtClean="0">
                <a:latin typeface="Elephant" pitchFamily="18" charset="0"/>
              </a:rPr>
              <a:t>-un</a:t>
            </a:r>
          </a:p>
          <a:p>
            <a:pPr algn="just"/>
            <a:r>
              <a:rPr lang="en-US" sz="1400" dirty="0" err="1" smtClean="0">
                <a:latin typeface="Elephant" pitchFamily="18" charset="0"/>
              </a:rPr>
              <a:t>proces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numit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fotosinteza</a:t>
            </a:r>
            <a:r>
              <a:rPr lang="en-US" sz="1400" dirty="0" smtClean="0">
                <a:latin typeface="Elephant" pitchFamily="18" charset="0"/>
              </a:rPr>
              <a:t>. </a:t>
            </a:r>
            <a:r>
              <a:rPr lang="en-US" sz="1400" dirty="0" err="1" smtClean="0">
                <a:latin typeface="Elephant" pitchFamily="18" charset="0"/>
              </a:rPr>
              <a:t>Pentru</a:t>
            </a:r>
            <a:r>
              <a:rPr lang="en-US" sz="1400" dirty="0" smtClean="0">
                <a:latin typeface="Elephant" pitchFamily="18" charset="0"/>
              </a:rPr>
              <a:t> a </a:t>
            </a:r>
            <a:r>
              <a:rPr lang="en-US" sz="1400" dirty="0" err="1" smtClean="0">
                <a:latin typeface="Elephant" pitchFamily="18" charset="0"/>
              </a:rPr>
              <a:t>realiza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fotosinteza</a:t>
            </a:r>
            <a:r>
              <a:rPr lang="en-US" sz="1400" dirty="0" smtClean="0">
                <a:latin typeface="Elephant" pitchFamily="18" charset="0"/>
              </a:rPr>
              <a:t>, </a:t>
            </a:r>
            <a:r>
              <a:rPr lang="en-US" sz="1400" dirty="0" err="1" smtClean="0">
                <a:latin typeface="Elephant" pitchFamily="18" charset="0"/>
              </a:rPr>
              <a:t>plantele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utilizeaza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dioxid</a:t>
            </a:r>
            <a:r>
              <a:rPr lang="en-US" sz="1400" dirty="0" smtClean="0">
                <a:latin typeface="Elephant" pitchFamily="18" charset="0"/>
              </a:rPr>
              <a:t> de carbon, </a:t>
            </a:r>
            <a:r>
              <a:rPr lang="en-US" sz="1400" dirty="0" err="1" smtClean="0">
                <a:latin typeface="Elephant" pitchFamily="18" charset="0"/>
              </a:rPr>
              <a:t>apa</a:t>
            </a:r>
            <a:r>
              <a:rPr lang="en-US" sz="1400" dirty="0" smtClean="0">
                <a:latin typeface="Elephant" pitchFamily="18" charset="0"/>
              </a:rPr>
              <a:t>, </a:t>
            </a:r>
            <a:r>
              <a:rPr lang="en-US" sz="1400" dirty="0" err="1" smtClean="0">
                <a:latin typeface="Elephant" pitchFamily="18" charset="0"/>
              </a:rPr>
              <a:t>si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energie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pe</a:t>
            </a:r>
            <a:r>
              <a:rPr lang="en-US" sz="1400" dirty="0" smtClean="0">
                <a:latin typeface="Elephant" pitchFamily="18" charset="0"/>
              </a:rPr>
              <a:t> care o </a:t>
            </a:r>
            <a:r>
              <a:rPr lang="en-US" sz="1400" dirty="0" err="1" smtClean="0">
                <a:latin typeface="Elephant" pitchFamily="18" charset="0"/>
              </a:rPr>
              <a:t>colecteaza</a:t>
            </a:r>
            <a:r>
              <a:rPr lang="en-US" sz="1400" dirty="0" smtClean="0">
                <a:latin typeface="Elephant" pitchFamily="18" charset="0"/>
              </a:rPr>
              <a:t> de la </a:t>
            </a:r>
            <a:r>
              <a:rPr lang="en-US" sz="1400" dirty="0" err="1" smtClean="0">
                <a:latin typeface="Elephant" pitchFamily="18" charset="0"/>
              </a:rPr>
              <a:t>lumina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solara</a:t>
            </a:r>
            <a:endParaRPr lang="en-US" sz="1400" dirty="0" smtClean="0">
              <a:latin typeface="Elephant" pitchFamily="18" charset="0"/>
            </a:endParaRPr>
          </a:p>
          <a:p>
            <a:pPr algn="just"/>
            <a:r>
              <a:rPr lang="en-US" sz="1400" dirty="0" err="1" smtClean="0">
                <a:latin typeface="Elephant" pitchFamily="18" charset="0"/>
              </a:rPr>
              <a:t>Ecuatia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este</a:t>
            </a:r>
            <a:r>
              <a:rPr lang="en-US" sz="1400" dirty="0" smtClean="0">
                <a:latin typeface="Elephant" pitchFamily="18" charset="0"/>
              </a:rPr>
              <a:t>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657" y="4114800"/>
            <a:ext cx="37338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400" dirty="0" err="1" smtClean="0">
                <a:latin typeface="Elephant" pitchFamily="18" charset="0"/>
              </a:rPr>
              <a:t>Zaharidele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reprezinta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principala</a:t>
            </a:r>
            <a:endParaRPr lang="en-US" sz="1400" dirty="0">
              <a:latin typeface="Elephant" pitchFamily="18" charset="0"/>
            </a:endParaRPr>
          </a:p>
          <a:p>
            <a:pPr algn="just"/>
            <a:r>
              <a:rPr lang="en-US" sz="1400" dirty="0" err="1" smtClean="0">
                <a:latin typeface="Elephant" pitchFamily="18" charset="0"/>
              </a:rPr>
              <a:t>sursa</a:t>
            </a:r>
            <a:r>
              <a:rPr lang="en-US" sz="1400" dirty="0" smtClean="0">
                <a:latin typeface="Elephant" pitchFamily="18" charset="0"/>
              </a:rPr>
              <a:t> de </a:t>
            </a:r>
            <a:r>
              <a:rPr lang="en-US" sz="1400" dirty="0" err="1" smtClean="0">
                <a:latin typeface="Elephant" pitchFamily="18" charset="0"/>
              </a:rPr>
              <a:t>energie</a:t>
            </a:r>
            <a:r>
              <a:rPr lang="en-US" sz="1400" dirty="0" smtClean="0">
                <a:latin typeface="Elephant" pitchFamily="18" charset="0"/>
              </a:rPr>
              <a:t> a </a:t>
            </a:r>
            <a:r>
              <a:rPr lang="en-US" sz="1400" dirty="0" err="1" smtClean="0">
                <a:latin typeface="Elephant" pitchFamily="18" charset="0"/>
              </a:rPr>
              <a:t>organismelor</a:t>
            </a:r>
            <a:r>
              <a:rPr lang="en-US" sz="1400" dirty="0" smtClean="0">
                <a:latin typeface="Elephant" pitchFamily="18" charset="0"/>
              </a:rPr>
              <a:t> vii.</a:t>
            </a:r>
          </a:p>
          <a:p>
            <a:pPr algn="just"/>
            <a:r>
              <a:rPr lang="en-US" sz="1400" dirty="0" smtClean="0">
                <a:latin typeface="Elephant" pitchFamily="18" charset="0"/>
              </a:rPr>
              <a:t>La </a:t>
            </a:r>
            <a:r>
              <a:rPr lang="en-US" sz="1400" dirty="0" err="1" smtClean="0">
                <a:latin typeface="Elephant" pitchFamily="18" charset="0"/>
              </a:rPr>
              <a:t>plante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zaharidele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sunt</a:t>
            </a:r>
            <a:r>
              <a:rPr lang="en-US" sz="1400" dirty="0" smtClean="0">
                <a:latin typeface="Elephant" pitchFamily="18" charset="0"/>
              </a:rPr>
              <a:t> sub forma de </a:t>
            </a:r>
            <a:r>
              <a:rPr lang="en-US" sz="1400" dirty="0" err="1" smtClean="0">
                <a:latin typeface="Elephant" pitchFamily="18" charset="0"/>
              </a:rPr>
              <a:t>amidon</a:t>
            </a:r>
            <a:r>
              <a:rPr lang="en-US" sz="1400" dirty="0" smtClean="0">
                <a:latin typeface="Elephant" pitchFamily="18" charset="0"/>
              </a:rPr>
              <a:t>, </a:t>
            </a:r>
            <a:r>
              <a:rPr lang="en-US" sz="1400" dirty="0" err="1" smtClean="0">
                <a:latin typeface="Elephant" pitchFamily="18" charset="0"/>
              </a:rPr>
              <a:t>iar</a:t>
            </a:r>
            <a:r>
              <a:rPr lang="en-US" sz="1400" dirty="0" smtClean="0">
                <a:latin typeface="Elephant" pitchFamily="18" charset="0"/>
              </a:rPr>
              <a:t> la </a:t>
            </a:r>
            <a:r>
              <a:rPr lang="en-US" sz="1400" dirty="0" err="1" smtClean="0">
                <a:latin typeface="Elephant" pitchFamily="18" charset="0"/>
              </a:rPr>
              <a:t>animalele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dezvoltate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sunt</a:t>
            </a:r>
            <a:r>
              <a:rPr lang="en-US" sz="1400" dirty="0" smtClean="0">
                <a:latin typeface="Elephant" pitchFamily="18" charset="0"/>
              </a:rPr>
              <a:t> sub forma de </a:t>
            </a:r>
            <a:r>
              <a:rPr lang="en-US" sz="1400" dirty="0" err="1" smtClean="0">
                <a:latin typeface="Elephant" pitchFamily="18" charset="0"/>
              </a:rPr>
              <a:t>glicogen</a:t>
            </a:r>
            <a:endParaRPr lang="en-US" sz="1400" dirty="0">
              <a:latin typeface="Elephant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53000" y="777350"/>
            <a:ext cx="3810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400" dirty="0" err="1" smtClean="0">
                <a:latin typeface="Elephant" pitchFamily="18" charset="0"/>
              </a:rPr>
              <a:t>Zaharidele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stocate</a:t>
            </a:r>
            <a:r>
              <a:rPr lang="en-US" sz="1400" dirty="0" smtClean="0">
                <a:latin typeface="Elephant" pitchFamily="18" charset="0"/>
              </a:rPr>
              <a:t> la </a:t>
            </a:r>
            <a:r>
              <a:rPr lang="en-US" sz="1400" dirty="0" err="1" smtClean="0">
                <a:latin typeface="Elephant" pitchFamily="18" charset="0"/>
              </a:rPr>
              <a:t>nivelul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celulelor</a:t>
            </a:r>
            <a:endParaRPr lang="en-US" sz="1400" dirty="0" smtClean="0">
              <a:latin typeface="Elephant" pitchFamily="18" charset="0"/>
            </a:endParaRPr>
          </a:p>
          <a:p>
            <a:pPr algn="just"/>
            <a:r>
              <a:rPr lang="en-US" sz="1400" dirty="0" err="1" smtClean="0">
                <a:latin typeface="Elephant" pitchFamily="18" charset="0"/>
              </a:rPr>
              <a:t>sunt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transformate</a:t>
            </a:r>
            <a:r>
              <a:rPr lang="en-US" sz="1400" dirty="0" smtClean="0">
                <a:latin typeface="Elephant" pitchFamily="18" charset="0"/>
              </a:rPr>
              <a:t> in </a:t>
            </a:r>
            <a:r>
              <a:rPr lang="en-US" sz="1400" dirty="0" err="1" smtClean="0">
                <a:latin typeface="Elephant" pitchFamily="18" charset="0"/>
              </a:rPr>
              <a:t>energie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prin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degradare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oxidativa</a:t>
            </a:r>
            <a:r>
              <a:rPr lang="en-US" sz="1400" dirty="0" smtClean="0">
                <a:latin typeface="Elephant" pitchFamily="18" charset="0"/>
              </a:rPr>
              <a:t>, un </a:t>
            </a:r>
            <a:r>
              <a:rPr lang="en-US" sz="1400" dirty="0" err="1" smtClean="0">
                <a:latin typeface="Elephant" pitchFamily="18" charset="0"/>
              </a:rPr>
              <a:t>proces</a:t>
            </a:r>
            <a:r>
              <a:rPr lang="en-US" sz="1400" dirty="0" smtClean="0">
                <a:latin typeface="Elephant" pitchFamily="18" charset="0"/>
              </a:rPr>
              <a:t> complex, </a:t>
            </a:r>
            <a:r>
              <a:rPr lang="en-US" sz="1400" dirty="0" err="1" smtClean="0">
                <a:latin typeface="Elephant" pitchFamily="18" charset="0"/>
              </a:rPr>
              <a:t>controlat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enzimatic</a:t>
            </a:r>
            <a:r>
              <a:rPr lang="en-US" sz="1400" dirty="0" smtClean="0">
                <a:latin typeface="Elephant" pitchFamily="18" charset="0"/>
              </a:rPr>
              <a:t>. </a:t>
            </a:r>
            <a:r>
              <a:rPr lang="en-US" sz="1400" dirty="0" err="1" smtClean="0">
                <a:latin typeface="Elephant" pitchFamily="18" charset="0"/>
              </a:rPr>
              <a:t>Ecuatia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acestuia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este</a:t>
            </a:r>
            <a:r>
              <a:rPr lang="en-US" sz="1400" dirty="0" smtClean="0">
                <a:latin typeface="Elephant" pitchFamily="18" charset="0"/>
              </a:rPr>
              <a:t>: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3537" y="1981319"/>
            <a:ext cx="282892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4953000" y="2482333"/>
            <a:ext cx="3810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smtClean="0">
                <a:latin typeface="Elephant" pitchFamily="18" charset="0"/>
              </a:rPr>
              <a:t>Initial </a:t>
            </a:r>
            <a:r>
              <a:rPr lang="en-US" sz="1400" dirty="0" err="1" smtClean="0">
                <a:latin typeface="Elephant" pitchFamily="18" charset="0"/>
              </a:rPr>
              <a:t>acesti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compusi</a:t>
            </a:r>
            <a:r>
              <a:rPr lang="en-US" sz="1400" dirty="0" smtClean="0">
                <a:latin typeface="Elephant" pitchFamily="18" charset="0"/>
              </a:rPr>
              <a:t> au </a:t>
            </a:r>
            <a:r>
              <a:rPr lang="en-US" sz="1400" dirty="0" err="1" smtClean="0">
                <a:latin typeface="Elephant" pitchFamily="18" charset="0"/>
              </a:rPr>
              <a:t>fost</a:t>
            </a:r>
            <a:r>
              <a:rPr lang="en-US" sz="1400" dirty="0" smtClean="0">
                <a:latin typeface="Elephant" pitchFamily="18" charset="0"/>
              </a:rPr>
              <a:t> </a:t>
            </a:r>
          </a:p>
          <a:p>
            <a:r>
              <a:rPr lang="en-US" sz="1400" dirty="0" err="1" smtClean="0">
                <a:latin typeface="Elephant" pitchFamily="18" charset="0"/>
              </a:rPr>
              <a:t>considerati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hidrati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ai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carbonului</a:t>
            </a:r>
            <a:endParaRPr lang="en-US" sz="1400" dirty="0" smtClean="0">
              <a:latin typeface="Elephant" pitchFamily="18" charset="0"/>
            </a:endParaRPr>
          </a:p>
          <a:p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Cn</a:t>
            </a:r>
            <a:r>
              <a:rPr lang="en-US" sz="1400" dirty="0" smtClean="0">
                <a:latin typeface="Elephant" pitchFamily="18" charset="0"/>
              </a:rPr>
              <a:t>(H2O)n </a:t>
            </a:r>
            <a:r>
              <a:rPr lang="en-US" sz="1400" dirty="0" err="1" smtClean="0">
                <a:latin typeface="Elephant" pitchFamily="18" charset="0"/>
              </a:rPr>
              <a:t>si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denumiti</a:t>
            </a:r>
            <a:r>
              <a:rPr lang="en-US" sz="1400" dirty="0" smtClean="0">
                <a:latin typeface="Elephant" pitchFamily="18" charset="0"/>
              </a:rPr>
              <a:t>: </a:t>
            </a:r>
            <a:r>
              <a:rPr lang="en-US" sz="1400" dirty="0" err="1" smtClean="0">
                <a:latin typeface="Elephant" pitchFamily="18" charset="0"/>
              </a:rPr>
              <a:t>hidrati</a:t>
            </a:r>
            <a:r>
              <a:rPr lang="en-US" sz="1400" dirty="0" smtClean="0">
                <a:latin typeface="Elephant" pitchFamily="18" charset="0"/>
              </a:rPr>
              <a:t> de carbon </a:t>
            </a:r>
            <a:r>
              <a:rPr lang="en-US" sz="1400" dirty="0" err="1" smtClean="0">
                <a:latin typeface="Elephant" pitchFamily="18" charset="0"/>
              </a:rPr>
              <a:t>sau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carbohidrati</a:t>
            </a:r>
            <a:r>
              <a:rPr lang="en-US" sz="1400" dirty="0" smtClean="0">
                <a:latin typeface="Elephant" pitchFamily="18" charset="0"/>
              </a:rPr>
              <a:t>. </a:t>
            </a:r>
            <a:r>
              <a:rPr lang="en-US" sz="1400" dirty="0" err="1" smtClean="0">
                <a:latin typeface="Elephant" pitchFamily="18" charset="0"/>
              </a:rPr>
              <a:t>Aceasta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denumire</a:t>
            </a:r>
            <a:r>
              <a:rPr lang="en-US" sz="1400" dirty="0" smtClean="0">
                <a:latin typeface="Elephant" pitchFamily="18" charset="0"/>
              </a:rPr>
              <a:t> se </a:t>
            </a:r>
            <a:r>
              <a:rPr lang="en-US" sz="1400" dirty="0" err="1" smtClean="0">
                <a:latin typeface="Elephant" pitchFamily="18" charset="0"/>
              </a:rPr>
              <a:t>mai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utilizeaza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astazi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desi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structura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lor</a:t>
            </a:r>
            <a:r>
              <a:rPr lang="en-US" sz="1400" dirty="0" smtClean="0">
                <a:latin typeface="Elephant" pitchFamily="18" charset="0"/>
              </a:rPr>
              <a:t> e </a:t>
            </a:r>
            <a:r>
              <a:rPr lang="en-US" sz="1400" dirty="0" err="1" smtClean="0">
                <a:latin typeface="Elephant" pitchFamily="18" charset="0"/>
              </a:rPr>
              <a:t>alta.</a:t>
            </a:r>
            <a:endParaRPr lang="en-US" sz="1400" dirty="0" smtClean="0">
              <a:latin typeface="Elephant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953000" y="4038600"/>
            <a:ext cx="365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400" dirty="0" err="1" smtClean="0">
                <a:latin typeface="Elephant" pitchFamily="18" charset="0"/>
              </a:rPr>
              <a:t>Zaharidele</a:t>
            </a:r>
            <a:r>
              <a:rPr lang="en-US" sz="1400" dirty="0" smtClean="0">
                <a:latin typeface="Elephant" pitchFamily="18" charset="0"/>
              </a:rPr>
              <a:t> se </a:t>
            </a:r>
            <a:r>
              <a:rPr lang="en-US" sz="1400" dirty="0" err="1" smtClean="0">
                <a:latin typeface="Elephant" pitchFamily="18" charset="0"/>
              </a:rPr>
              <a:t>descompun</a:t>
            </a:r>
            <a:r>
              <a:rPr lang="en-US" sz="1400" dirty="0" smtClean="0">
                <a:latin typeface="Elephant" pitchFamily="18" charset="0"/>
              </a:rPr>
              <a:t> la</a:t>
            </a:r>
          </a:p>
          <a:p>
            <a:pPr algn="just"/>
            <a:r>
              <a:rPr lang="en-US" sz="1400" dirty="0" err="1" smtClean="0">
                <a:latin typeface="Elephant" pitchFamily="18" charset="0"/>
              </a:rPr>
              <a:t>incalzire</a:t>
            </a:r>
            <a:r>
              <a:rPr lang="en-US" sz="1400" dirty="0" smtClean="0">
                <a:latin typeface="Elephant" pitchFamily="18" charset="0"/>
              </a:rPr>
              <a:t> in carbon </a:t>
            </a:r>
            <a:r>
              <a:rPr lang="en-US" sz="1400" dirty="0" err="1" smtClean="0">
                <a:latin typeface="Elephant" pitchFamily="18" charset="0"/>
              </a:rPr>
              <a:t>si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apa</a:t>
            </a:r>
            <a:r>
              <a:rPr lang="en-US" sz="1400" dirty="0" smtClean="0">
                <a:latin typeface="Elephant" pitchFamily="18" charset="0"/>
              </a:rPr>
              <a:t>.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9312" y="4800600"/>
            <a:ext cx="1704975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397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1" cy="685800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3581400" cy="1143000"/>
          </a:xfrm>
        </p:spPr>
        <p:txBody>
          <a:bodyPr>
            <a:normAutofit/>
          </a:bodyPr>
          <a:lstStyle/>
          <a:p>
            <a:r>
              <a:rPr lang="en-US" sz="2800" u="sng" dirty="0" err="1" smtClean="0">
                <a:latin typeface="Elephant" pitchFamily="18" charset="0"/>
              </a:rPr>
              <a:t>Monozaharide</a:t>
            </a:r>
            <a:endParaRPr lang="en-US" sz="2800" u="sng" dirty="0">
              <a:latin typeface="Elephant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4800" y="1295397"/>
            <a:ext cx="413728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 smtClean="0">
                <a:latin typeface="Elephant" pitchFamily="18" charset="0"/>
              </a:rPr>
              <a:t>Monozaharidele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sunt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polihidroxialdehide</a:t>
            </a:r>
            <a:endParaRPr lang="en-US" sz="1400" dirty="0" smtClean="0">
              <a:latin typeface="Elephant" pitchFamily="18" charset="0"/>
            </a:endParaRPr>
          </a:p>
          <a:p>
            <a:r>
              <a:rPr lang="en-US" sz="1400" dirty="0" err="1" smtClean="0">
                <a:latin typeface="Elephant" pitchFamily="18" charset="0"/>
              </a:rPr>
              <a:t>numite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aldoze</a:t>
            </a:r>
            <a:r>
              <a:rPr lang="en-US" sz="1400" dirty="0" smtClean="0">
                <a:latin typeface="Elephant" pitchFamily="18" charset="0"/>
              </a:rPr>
              <a:t>, </a:t>
            </a:r>
            <a:r>
              <a:rPr lang="en-US" sz="1400" dirty="0" err="1" smtClean="0">
                <a:latin typeface="Elephant" pitchFamily="18" charset="0"/>
              </a:rPr>
              <a:t>sau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polihidroxicetone</a:t>
            </a:r>
            <a:r>
              <a:rPr lang="en-US" sz="1400" dirty="0" smtClean="0">
                <a:latin typeface="Elephant" pitchFamily="18" charset="0"/>
              </a:rPr>
              <a:t>, </a:t>
            </a:r>
          </a:p>
          <a:p>
            <a:r>
              <a:rPr lang="en-US" sz="1400" dirty="0" err="1" smtClean="0">
                <a:latin typeface="Elephant" pitchFamily="18" charset="0"/>
              </a:rPr>
              <a:t>numite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cetoze</a:t>
            </a:r>
            <a:r>
              <a:rPr lang="en-US" sz="1400" dirty="0" smtClean="0">
                <a:latin typeface="Elephant" pitchFamily="18" charset="0"/>
              </a:rPr>
              <a:t>, cu </a:t>
            </a:r>
            <a:r>
              <a:rPr lang="en-US" sz="1400" dirty="0" err="1" smtClean="0">
                <a:latin typeface="Elephant" pitchFamily="18" charset="0"/>
              </a:rPr>
              <a:t>formelele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generale</a:t>
            </a:r>
            <a:r>
              <a:rPr lang="en-US" sz="1400" dirty="0">
                <a:latin typeface="Elephant" pitchFamily="18" charset="0"/>
              </a:rPr>
              <a:t>:</a:t>
            </a:r>
            <a:endParaRPr lang="en-US" sz="1400" dirty="0" smtClean="0">
              <a:latin typeface="Elephant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343" y="2099582"/>
            <a:ext cx="2362200" cy="136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04800" y="3590796"/>
            <a:ext cx="41930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 smtClean="0">
                <a:latin typeface="Elephant" pitchFamily="18" charset="0"/>
              </a:rPr>
              <a:t>Molecula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unei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monozaharide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este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formata</a:t>
            </a:r>
            <a:endParaRPr lang="en-US" sz="1400" dirty="0" smtClean="0">
              <a:latin typeface="Elephant" pitchFamily="18" charset="0"/>
            </a:endParaRPr>
          </a:p>
          <a:p>
            <a:r>
              <a:rPr lang="en-US" sz="1400" dirty="0" err="1" smtClean="0">
                <a:latin typeface="Elephant" pitchFamily="18" charset="0"/>
              </a:rPr>
              <a:t>dintr</a:t>
            </a:r>
            <a:r>
              <a:rPr lang="en-US" sz="1400" dirty="0" smtClean="0">
                <a:latin typeface="Elephant" pitchFamily="18" charset="0"/>
              </a:rPr>
              <a:t>-o </a:t>
            </a:r>
            <a:r>
              <a:rPr lang="en-US" sz="1400" dirty="0" err="1" smtClean="0">
                <a:latin typeface="Elephant" pitchFamily="18" charset="0"/>
              </a:rPr>
              <a:t>grupa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carbonil</a:t>
            </a:r>
            <a:r>
              <a:rPr lang="en-US" sz="1400" dirty="0" smtClean="0">
                <a:latin typeface="Elephant" pitchFamily="18" charset="0"/>
              </a:rPr>
              <a:t> de tip </a:t>
            </a:r>
            <a:r>
              <a:rPr lang="en-US" sz="1400" dirty="0" err="1" smtClean="0">
                <a:latin typeface="Elephant" pitchFamily="18" charset="0"/>
              </a:rPr>
              <a:t>aldehida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sau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 smtClean="0">
                <a:latin typeface="Elephant" pitchFamily="18" charset="0"/>
              </a:rPr>
              <a:t>cetona</a:t>
            </a:r>
            <a:r>
              <a:rPr lang="en-US" sz="1400" dirty="0" smtClean="0">
                <a:latin typeface="Elephant" pitchFamily="18" charset="0"/>
              </a:rPr>
              <a:t>, </a:t>
            </a:r>
            <a:r>
              <a:rPr lang="en-US" sz="1400" dirty="0" err="1" smtClean="0">
                <a:latin typeface="Elephant" pitchFamily="18" charset="0"/>
              </a:rPr>
              <a:t>una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sau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doua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grupe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alcool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primar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si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 smtClean="0">
                <a:latin typeface="Elephant" pitchFamily="18" charset="0"/>
              </a:rPr>
              <a:t>una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sau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mai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multe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grupe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alcool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secundar</a:t>
            </a:r>
            <a:r>
              <a:rPr lang="en-US" sz="1400" dirty="0" smtClean="0">
                <a:latin typeface="Elephant" pitchFamily="18" charset="0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829" y="4702629"/>
            <a:ext cx="37737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smtClean="0">
                <a:latin typeface="Elephant" pitchFamily="18" charset="0"/>
              </a:rPr>
              <a:t>In </a:t>
            </a:r>
            <a:r>
              <a:rPr lang="en-US" sz="1400" dirty="0" err="1" smtClean="0">
                <a:latin typeface="Elephant" pitchFamily="18" charset="0"/>
              </a:rPr>
              <a:t>caracterizarea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unei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monozaharide</a:t>
            </a:r>
            <a:endParaRPr lang="en-US" sz="1400" dirty="0" smtClean="0">
              <a:latin typeface="Elephant" pitchFamily="18" charset="0"/>
            </a:endParaRPr>
          </a:p>
          <a:p>
            <a:r>
              <a:rPr lang="en-US" sz="1400" dirty="0" smtClean="0">
                <a:latin typeface="Elephant" pitchFamily="18" charset="0"/>
              </a:rPr>
              <a:t>se </a:t>
            </a:r>
            <a:r>
              <a:rPr lang="en-US" sz="1400" dirty="0" err="1" smtClean="0">
                <a:latin typeface="Elephant" pitchFamily="18" charset="0"/>
              </a:rPr>
              <a:t>precizeaza</a:t>
            </a:r>
            <a:r>
              <a:rPr lang="en-US" sz="1400" dirty="0" smtClean="0">
                <a:latin typeface="Elephant" pitchFamily="18" charset="0"/>
              </a:rPr>
              <a:t>: </a:t>
            </a:r>
            <a:r>
              <a:rPr lang="en-US" sz="1400" dirty="0" err="1" smtClean="0">
                <a:latin typeface="Elephant" pitchFamily="18" charset="0"/>
              </a:rPr>
              <a:t>tipul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grupei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carbonil</a:t>
            </a:r>
            <a:r>
              <a:rPr lang="en-US" sz="1400" dirty="0" smtClean="0">
                <a:latin typeface="Elephant" pitchFamily="18" charset="0"/>
              </a:rPr>
              <a:t>,</a:t>
            </a:r>
          </a:p>
          <a:p>
            <a:r>
              <a:rPr lang="en-US" sz="1400" dirty="0" err="1" smtClean="0">
                <a:latin typeface="Elephant" pitchFamily="18" charset="0"/>
              </a:rPr>
              <a:t>numarul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atomilor</a:t>
            </a:r>
            <a:r>
              <a:rPr lang="en-US" sz="1400" dirty="0" smtClean="0">
                <a:latin typeface="Elephant" pitchFamily="18" charset="0"/>
              </a:rPr>
              <a:t> de carbon </a:t>
            </a:r>
            <a:r>
              <a:rPr lang="en-US" sz="1400" dirty="0" err="1" smtClean="0">
                <a:latin typeface="Elephant" pitchFamily="18" charset="0"/>
              </a:rPr>
              <a:t>si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apare</a:t>
            </a:r>
            <a:endParaRPr lang="en-US" sz="1400" dirty="0" smtClean="0">
              <a:latin typeface="Elephant" pitchFamily="18" charset="0"/>
            </a:endParaRPr>
          </a:p>
          <a:p>
            <a:r>
              <a:rPr lang="en-US" sz="1400" dirty="0" err="1" smtClean="0">
                <a:latin typeface="Elephant" pitchFamily="18" charset="0"/>
              </a:rPr>
              <a:t>sufixul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caracteristic</a:t>
            </a:r>
            <a:r>
              <a:rPr lang="en-US" sz="1400" dirty="0" smtClean="0">
                <a:latin typeface="Elephant" pitchFamily="18" charset="0"/>
              </a:rPr>
              <a:t> –</a:t>
            </a:r>
            <a:r>
              <a:rPr lang="en-US" sz="1400" dirty="0" err="1" smtClean="0">
                <a:latin typeface="Elephant" pitchFamily="18" charset="0"/>
              </a:rPr>
              <a:t>oza</a:t>
            </a:r>
            <a:r>
              <a:rPr lang="en-US" sz="1400" dirty="0" smtClean="0">
                <a:latin typeface="Elephant" pitchFamily="18" charset="0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7429" y="685800"/>
            <a:ext cx="13997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1600" u="sng" dirty="0" err="1" smtClean="0">
                <a:latin typeface="Elephant" pitchFamily="18" charset="0"/>
              </a:rPr>
              <a:t>Izomerie</a:t>
            </a:r>
            <a:endParaRPr lang="en-US" sz="1600" u="sng" dirty="0" smtClean="0">
              <a:latin typeface="Elephant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76800" y="1306280"/>
            <a:ext cx="4017446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 smtClean="0">
                <a:latin typeface="Elephant" pitchFamily="18" charset="0"/>
              </a:rPr>
              <a:t>Monozaharidele</a:t>
            </a:r>
            <a:r>
              <a:rPr lang="en-US" sz="1400" dirty="0" smtClean="0">
                <a:latin typeface="Elephant" pitchFamily="18" charset="0"/>
              </a:rPr>
              <a:t> au in </a:t>
            </a:r>
            <a:r>
              <a:rPr lang="en-US" sz="1400" dirty="0" err="1" smtClean="0">
                <a:latin typeface="Elephant" pitchFamily="18" charset="0"/>
              </a:rPr>
              <a:t>molecula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lor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unul</a:t>
            </a:r>
            <a:endParaRPr lang="en-US" sz="1400" dirty="0" smtClean="0">
              <a:latin typeface="Elephant" pitchFamily="18" charset="0"/>
            </a:endParaRPr>
          </a:p>
          <a:p>
            <a:r>
              <a:rPr lang="en-US" sz="1400" dirty="0" err="1" smtClean="0">
                <a:latin typeface="Elephant" pitchFamily="18" charset="0"/>
              </a:rPr>
              <a:t>sau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mai</a:t>
            </a:r>
            <a:r>
              <a:rPr lang="en-US" sz="1400" dirty="0" smtClean="0">
                <a:latin typeface="Elephant" pitchFamily="18" charset="0"/>
              </a:rPr>
              <a:t> multi </a:t>
            </a:r>
            <a:r>
              <a:rPr lang="en-US" sz="1400" dirty="0" err="1" smtClean="0">
                <a:latin typeface="Elephant" pitchFamily="18" charset="0"/>
              </a:rPr>
              <a:t>atomi</a:t>
            </a:r>
            <a:r>
              <a:rPr lang="en-US" sz="1400" dirty="0" smtClean="0">
                <a:latin typeface="Elephant" pitchFamily="18" charset="0"/>
              </a:rPr>
              <a:t> de </a:t>
            </a:r>
            <a:r>
              <a:rPr lang="en-US" sz="1400" dirty="0" err="1" smtClean="0">
                <a:latin typeface="Elephant" pitchFamily="18" charset="0"/>
              </a:rPr>
              <a:t>carboni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asimetrici</a:t>
            </a:r>
            <a:endParaRPr lang="en-US" sz="1400" dirty="0" smtClean="0">
              <a:latin typeface="Elephant" pitchFamily="18" charset="0"/>
            </a:endParaRPr>
          </a:p>
          <a:p>
            <a:r>
              <a:rPr lang="en-US" sz="1400" dirty="0" err="1" smtClean="0">
                <a:latin typeface="Elephant" pitchFamily="18" charset="0"/>
              </a:rPr>
              <a:t>si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sunt</a:t>
            </a:r>
            <a:r>
              <a:rPr lang="en-US" sz="1400" dirty="0" smtClean="0">
                <a:latin typeface="Elephant" pitchFamily="18" charset="0"/>
              </a:rPr>
              <a:t> optic active.</a:t>
            </a:r>
          </a:p>
          <a:p>
            <a:r>
              <a:rPr lang="en-US" sz="1400" dirty="0" err="1" smtClean="0">
                <a:latin typeface="Elephant" pitchFamily="18" charset="0"/>
              </a:rPr>
              <a:t>Numarul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stereoizomerilor</a:t>
            </a:r>
            <a:r>
              <a:rPr lang="en-US" sz="1400" dirty="0" smtClean="0">
                <a:latin typeface="Elephant" pitchFamily="18" charset="0"/>
              </a:rPr>
              <a:t> se </a:t>
            </a:r>
            <a:r>
              <a:rPr lang="en-US" sz="1400" dirty="0" err="1" smtClean="0">
                <a:latin typeface="Elephant" pitchFamily="18" charset="0"/>
              </a:rPr>
              <a:t>calculeaza</a:t>
            </a:r>
            <a:r>
              <a:rPr lang="en-US" sz="1400" dirty="0" smtClean="0">
                <a:latin typeface="Elephant" pitchFamily="18" charset="0"/>
              </a:rPr>
              <a:t> </a:t>
            </a:r>
          </a:p>
          <a:p>
            <a:r>
              <a:rPr lang="en-US" sz="1400" dirty="0" err="1" smtClean="0">
                <a:latin typeface="Elephant" pitchFamily="18" charset="0"/>
              </a:rPr>
              <a:t>dupa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relatia</a:t>
            </a:r>
            <a:r>
              <a:rPr lang="en-US" sz="1400" dirty="0" smtClean="0">
                <a:latin typeface="Elephant" pitchFamily="18" charset="0"/>
              </a:rPr>
              <a:t> 2^n, </a:t>
            </a:r>
            <a:r>
              <a:rPr lang="en-US" sz="1400" dirty="0" err="1" smtClean="0">
                <a:latin typeface="Elephant" pitchFamily="18" charset="0"/>
              </a:rPr>
              <a:t>unde</a:t>
            </a:r>
            <a:r>
              <a:rPr lang="en-US" sz="1400" dirty="0" smtClean="0">
                <a:latin typeface="Elephant" pitchFamily="18" charset="0"/>
              </a:rPr>
              <a:t> n </a:t>
            </a:r>
            <a:r>
              <a:rPr lang="en-US" sz="1400" dirty="0" err="1" smtClean="0">
                <a:latin typeface="Elephant" pitchFamily="18" charset="0"/>
              </a:rPr>
              <a:t>este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numarul</a:t>
            </a:r>
            <a:endParaRPr lang="en-US" sz="1400" dirty="0" smtClean="0">
              <a:latin typeface="Elephant" pitchFamily="18" charset="0"/>
            </a:endParaRPr>
          </a:p>
          <a:p>
            <a:r>
              <a:rPr lang="en-US" sz="1400" dirty="0" err="1" smtClean="0">
                <a:latin typeface="Elephant" pitchFamily="18" charset="0"/>
              </a:rPr>
              <a:t>atomilor</a:t>
            </a:r>
            <a:r>
              <a:rPr lang="en-US" sz="1400" dirty="0" smtClean="0">
                <a:latin typeface="Elephant" pitchFamily="18" charset="0"/>
              </a:rPr>
              <a:t> de carbon </a:t>
            </a:r>
            <a:r>
              <a:rPr lang="en-US" sz="1400" dirty="0" err="1" smtClean="0">
                <a:latin typeface="Elephant" pitchFamily="18" charset="0"/>
              </a:rPr>
              <a:t>chirali</a:t>
            </a:r>
            <a:r>
              <a:rPr lang="en-US" sz="1400" dirty="0" smtClean="0">
                <a:latin typeface="Elephant" pitchFamily="18" charset="0"/>
              </a:rPr>
              <a:t>. </a:t>
            </a:r>
            <a:r>
              <a:rPr lang="en-US" sz="1400" dirty="0" err="1" smtClean="0">
                <a:latin typeface="Elephant" pitchFamily="18" charset="0"/>
              </a:rPr>
              <a:t>Astfel</a:t>
            </a:r>
            <a:r>
              <a:rPr lang="en-US" sz="1400" dirty="0" smtClean="0">
                <a:latin typeface="Elephant" pitchFamily="18" charset="0"/>
              </a:rPr>
              <a:t>, </a:t>
            </a:r>
            <a:r>
              <a:rPr lang="en-US" sz="1400" dirty="0" err="1" smtClean="0">
                <a:latin typeface="Elephant" pitchFamily="18" charset="0"/>
              </a:rPr>
              <a:t>sunt</a:t>
            </a:r>
            <a:endParaRPr lang="en-US" sz="1400" dirty="0" smtClean="0">
              <a:latin typeface="Elephant" pitchFamily="18" charset="0"/>
            </a:endParaRPr>
          </a:p>
          <a:p>
            <a:r>
              <a:rPr lang="en-US" sz="1400" dirty="0" smtClean="0">
                <a:latin typeface="Elephant" pitchFamily="18" charset="0"/>
              </a:rPr>
              <a:t>2^4=16 </a:t>
            </a:r>
            <a:r>
              <a:rPr lang="en-US" sz="1400" dirty="0" err="1" smtClean="0">
                <a:latin typeface="Elephant" pitchFamily="18" charset="0"/>
              </a:rPr>
              <a:t>aldohexoze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si</a:t>
            </a:r>
            <a:r>
              <a:rPr lang="en-US" sz="1400" dirty="0" smtClean="0">
                <a:latin typeface="Elephant" pitchFamily="18" charset="0"/>
              </a:rPr>
              <a:t> 2^3=8 </a:t>
            </a:r>
            <a:r>
              <a:rPr lang="en-US" sz="1400" dirty="0" err="1" smtClean="0">
                <a:latin typeface="Elephant" pitchFamily="18" charset="0"/>
              </a:rPr>
              <a:t>cetohexoze</a:t>
            </a:r>
            <a:endParaRPr lang="en-US" sz="1400" dirty="0" smtClean="0">
              <a:latin typeface="Elephant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39719" y="3200400"/>
            <a:ext cx="402187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smtClean="0">
                <a:latin typeface="Elephant" pitchFamily="18" charset="0"/>
              </a:rPr>
              <a:t>In </a:t>
            </a:r>
            <a:r>
              <a:rPr lang="en-US" sz="1400" dirty="0" err="1" smtClean="0">
                <a:latin typeface="Elephant" pitchFamily="18" charset="0"/>
              </a:rPr>
              <a:t>functie</a:t>
            </a:r>
            <a:r>
              <a:rPr lang="en-US" sz="1400" dirty="0" smtClean="0">
                <a:latin typeface="Elephant" pitchFamily="18" charset="0"/>
              </a:rPr>
              <a:t> de </a:t>
            </a:r>
            <a:r>
              <a:rPr lang="en-US" sz="1400" dirty="0" err="1" smtClean="0">
                <a:latin typeface="Elephant" pitchFamily="18" charset="0"/>
              </a:rPr>
              <a:t>configuratia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atimului</a:t>
            </a:r>
            <a:r>
              <a:rPr lang="en-US" sz="1400" dirty="0" smtClean="0">
                <a:latin typeface="Elephant" pitchFamily="18" charset="0"/>
              </a:rPr>
              <a:t> de </a:t>
            </a:r>
          </a:p>
          <a:p>
            <a:r>
              <a:rPr lang="en-US" sz="1400" dirty="0" smtClean="0">
                <a:latin typeface="Elephant" pitchFamily="18" charset="0"/>
              </a:rPr>
              <a:t>carbon </a:t>
            </a:r>
            <a:r>
              <a:rPr lang="en-US" sz="1400" dirty="0" err="1" smtClean="0">
                <a:latin typeface="Elephant" pitchFamily="18" charset="0"/>
              </a:rPr>
              <a:t>asimetric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cel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mai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departat</a:t>
            </a:r>
            <a:r>
              <a:rPr lang="en-US" sz="1400" dirty="0" smtClean="0">
                <a:latin typeface="Elephant" pitchFamily="18" charset="0"/>
              </a:rPr>
              <a:t> de </a:t>
            </a:r>
            <a:r>
              <a:rPr lang="en-US" sz="1400" dirty="0" err="1" smtClean="0">
                <a:latin typeface="Elephant" pitchFamily="18" charset="0"/>
              </a:rPr>
              <a:t>grupa</a:t>
            </a:r>
            <a:endParaRPr lang="en-US" sz="1400" dirty="0" smtClean="0">
              <a:latin typeface="Elephant" pitchFamily="18" charset="0"/>
            </a:endParaRPr>
          </a:p>
          <a:p>
            <a:r>
              <a:rPr lang="en-US" sz="1400" dirty="0" smtClean="0">
                <a:latin typeface="Elephant" pitchFamily="18" charset="0"/>
              </a:rPr>
              <a:t>de </a:t>
            </a:r>
            <a:r>
              <a:rPr lang="en-US" sz="1400" dirty="0" err="1" smtClean="0">
                <a:latin typeface="Elephant" pitchFamily="18" charset="0"/>
              </a:rPr>
              <a:t>carbonil</a:t>
            </a:r>
            <a:r>
              <a:rPr lang="en-US" sz="1400" dirty="0" smtClean="0">
                <a:latin typeface="Elephant" pitchFamily="18" charset="0"/>
              </a:rPr>
              <a:t>, </a:t>
            </a:r>
            <a:r>
              <a:rPr lang="en-US" sz="1400" dirty="0" err="1" smtClean="0">
                <a:latin typeface="Elephant" pitchFamily="18" charset="0"/>
              </a:rPr>
              <a:t>monozaharidele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sunt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incadrate</a:t>
            </a:r>
            <a:endParaRPr lang="en-US" sz="1400" dirty="0" smtClean="0">
              <a:latin typeface="Elephant" pitchFamily="18" charset="0"/>
            </a:endParaRPr>
          </a:p>
          <a:p>
            <a:r>
              <a:rPr lang="en-US" sz="1400" dirty="0" smtClean="0">
                <a:latin typeface="Elephant" pitchFamily="18" charset="0"/>
              </a:rPr>
              <a:t>in </a:t>
            </a:r>
            <a:r>
              <a:rPr lang="en-US" sz="1400" dirty="0" err="1" smtClean="0">
                <a:latin typeface="Elephant" pitchFamily="18" charset="0"/>
              </a:rPr>
              <a:t>doua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serii</a:t>
            </a:r>
            <a:r>
              <a:rPr lang="en-US" sz="1400" dirty="0" smtClean="0">
                <a:latin typeface="Elephant" pitchFamily="18" charset="0"/>
              </a:rPr>
              <a:t> notate cu D </a:t>
            </a:r>
            <a:r>
              <a:rPr lang="en-US" sz="1400" dirty="0" err="1" smtClean="0">
                <a:latin typeface="Elephant" pitchFamily="18" charset="0"/>
              </a:rPr>
              <a:t>si</a:t>
            </a:r>
            <a:r>
              <a:rPr lang="en-US" sz="1400" dirty="0" smtClean="0">
                <a:latin typeface="Elephant" pitchFamily="18" charset="0"/>
              </a:rPr>
              <a:t> 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6799" y="4419247"/>
            <a:ext cx="408413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smtClean="0">
                <a:latin typeface="Elephant" pitchFamily="18" charset="0"/>
              </a:rPr>
              <a:t>In </a:t>
            </a:r>
            <a:r>
              <a:rPr lang="en-US" sz="1400" dirty="0" err="1" smtClean="0">
                <a:latin typeface="Elephant" pitchFamily="18" charset="0"/>
              </a:rPr>
              <a:t>seria</a:t>
            </a:r>
            <a:r>
              <a:rPr lang="en-US" sz="1400" dirty="0" smtClean="0">
                <a:latin typeface="Elephant" pitchFamily="18" charset="0"/>
              </a:rPr>
              <a:t> D au </a:t>
            </a:r>
            <a:r>
              <a:rPr lang="en-US" sz="1400" dirty="0" err="1" smtClean="0">
                <a:latin typeface="Elephant" pitchFamily="18" charset="0"/>
              </a:rPr>
              <a:t>fost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cuprinse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cele</a:t>
            </a:r>
            <a:r>
              <a:rPr lang="en-US" sz="1400" dirty="0" smtClean="0">
                <a:latin typeface="Elephant" pitchFamily="18" charset="0"/>
              </a:rPr>
              <a:t> care au </a:t>
            </a:r>
          </a:p>
          <a:p>
            <a:r>
              <a:rPr lang="en-US" sz="1400" dirty="0" smtClean="0">
                <a:latin typeface="Elephant" pitchFamily="18" charset="0"/>
              </a:rPr>
              <a:t>la </a:t>
            </a:r>
            <a:r>
              <a:rPr lang="en-US" sz="1400" dirty="0" err="1" smtClean="0">
                <a:latin typeface="Elephant" pitchFamily="18" charset="0"/>
              </a:rPr>
              <a:t>acest</a:t>
            </a:r>
            <a:r>
              <a:rPr lang="en-US" sz="1400" dirty="0" smtClean="0">
                <a:latin typeface="Elephant" pitchFamily="18" charset="0"/>
              </a:rPr>
              <a:t> atom de carbon chiral o </a:t>
            </a:r>
            <a:r>
              <a:rPr lang="en-US" sz="1400" dirty="0" err="1" smtClean="0">
                <a:latin typeface="Elephant" pitchFamily="18" charset="0"/>
              </a:rPr>
              <a:t>configuratie</a:t>
            </a:r>
            <a:endParaRPr lang="en-US" sz="1400" dirty="0" smtClean="0">
              <a:latin typeface="Elephant" pitchFamily="18" charset="0"/>
            </a:endParaRPr>
          </a:p>
          <a:p>
            <a:r>
              <a:rPr lang="en-US" sz="1400" dirty="0" err="1" smtClean="0">
                <a:latin typeface="Elephant" pitchFamily="18" charset="0"/>
              </a:rPr>
              <a:t>identica</a:t>
            </a:r>
            <a:r>
              <a:rPr lang="en-US" sz="1400" dirty="0" smtClean="0">
                <a:latin typeface="Elephant" pitchFamily="18" charset="0"/>
              </a:rPr>
              <a:t> cu a D-</a:t>
            </a:r>
            <a:r>
              <a:rPr lang="en-US" sz="1400" dirty="0" err="1" smtClean="0">
                <a:latin typeface="Elephant" pitchFamily="18" charset="0"/>
              </a:rPr>
              <a:t>glicerinaldehidei</a:t>
            </a:r>
            <a:r>
              <a:rPr lang="en-US" sz="1400" dirty="0" smtClean="0">
                <a:latin typeface="Elephant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1849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1" cy="6858000"/>
          </a:xfrm>
        </p:spPr>
      </p:pic>
      <p:sp>
        <p:nvSpPr>
          <p:cNvPr id="3" name="TextBox 2"/>
          <p:cNvSpPr txBox="1"/>
          <p:nvPr/>
        </p:nvSpPr>
        <p:spPr>
          <a:xfrm>
            <a:off x="457200" y="533399"/>
            <a:ext cx="1262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latin typeface="Elephant" pitchFamily="18" charset="0"/>
              </a:rPr>
              <a:t>Exemple</a:t>
            </a:r>
            <a:r>
              <a:rPr lang="en-US" dirty="0" smtClean="0">
                <a:latin typeface="Elephant" pitchFamily="18" charset="0"/>
              </a:rPr>
              <a:t>: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3784" y="5029200"/>
            <a:ext cx="1609344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342" y="1054499"/>
            <a:ext cx="12192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592" y="3048000"/>
            <a:ext cx="1028700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2684" y="3048000"/>
            <a:ext cx="981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5785" y="1042198"/>
            <a:ext cx="1205827" cy="1853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876800" y="618957"/>
            <a:ext cx="389651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smtClean="0">
                <a:latin typeface="Elephant" pitchFamily="18" charset="0"/>
              </a:rPr>
              <a:t>In </a:t>
            </a:r>
            <a:r>
              <a:rPr lang="en-US" sz="1400" dirty="0" err="1" smtClean="0">
                <a:latin typeface="Elephant" pitchFamily="18" charset="0"/>
              </a:rPr>
              <a:t>seria</a:t>
            </a:r>
            <a:r>
              <a:rPr lang="en-US" sz="1400" dirty="0" smtClean="0">
                <a:latin typeface="Elephant" pitchFamily="18" charset="0"/>
              </a:rPr>
              <a:t> L au </a:t>
            </a:r>
            <a:r>
              <a:rPr lang="en-US" sz="1400" dirty="0" err="1" smtClean="0">
                <a:latin typeface="Elephant" pitchFamily="18" charset="0"/>
              </a:rPr>
              <a:t>fost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cuprinse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cele</a:t>
            </a:r>
            <a:r>
              <a:rPr lang="en-US" sz="1400" dirty="0" smtClean="0">
                <a:latin typeface="Elephant" pitchFamily="18" charset="0"/>
              </a:rPr>
              <a:t> care au</a:t>
            </a:r>
          </a:p>
          <a:p>
            <a:r>
              <a:rPr lang="en-US" sz="1400" dirty="0" err="1" smtClean="0">
                <a:latin typeface="Elephant" pitchFamily="18" charset="0"/>
              </a:rPr>
              <a:t>atomul</a:t>
            </a:r>
            <a:r>
              <a:rPr lang="en-US" sz="1400" dirty="0" smtClean="0">
                <a:latin typeface="Elephant" pitchFamily="18" charset="0"/>
              </a:rPr>
              <a:t> de carbon chiral o </a:t>
            </a:r>
            <a:r>
              <a:rPr lang="en-US" sz="1400" dirty="0" err="1" smtClean="0">
                <a:latin typeface="Elephant" pitchFamily="18" charset="0"/>
              </a:rPr>
              <a:t>configuratie</a:t>
            </a:r>
            <a:endParaRPr lang="en-US" sz="1400" dirty="0" smtClean="0">
              <a:latin typeface="Elephant" pitchFamily="18" charset="0"/>
            </a:endParaRPr>
          </a:p>
          <a:p>
            <a:r>
              <a:rPr lang="en-US" sz="1400" dirty="0" err="1" smtClean="0">
                <a:latin typeface="Elephant" pitchFamily="18" charset="0"/>
              </a:rPr>
              <a:t>identica</a:t>
            </a:r>
            <a:r>
              <a:rPr lang="en-US" sz="1400" dirty="0" smtClean="0">
                <a:latin typeface="Elephant" pitchFamily="18" charset="0"/>
              </a:rPr>
              <a:t> cu a L-</a:t>
            </a:r>
            <a:r>
              <a:rPr lang="en-US" sz="1400" dirty="0" err="1" smtClean="0">
                <a:latin typeface="Elephant" pitchFamily="18" charset="0"/>
              </a:rPr>
              <a:t>glicerinaldehidei</a:t>
            </a:r>
            <a:r>
              <a:rPr lang="en-US" sz="1400" dirty="0" smtClean="0">
                <a:latin typeface="Elephant" pitchFamily="18" charset="0"/>
              </a:rPr>
              <a:t>.</a:t>
            </a:r>
            <a:endParaRPr lang="en-US" sz="1400" dirty="0">
              <a:latin typeface="Elephant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76800" y="1415534"/>
            <a:ext cx="1262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latin typeface="Elephant" pitchFamily="18" charset="0"/>
              </a:rPr>
              <a:t>Exemple</a:t>
            </a:r>
            <a:r>
              <a:rPr lang="en-US" dirty="0" smtClean="0">
                <a:latin typeface="Elephant" pitchFamily="18" charset="0"/>
              </a:rPr>
              <a:t>:</a:t>
            </a:r>
          </a:p>
        </p:txBody>
      </p:sp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9120" y="1981199"/>
            <a:ext cx="35718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8245" y="3962400"/>
            <a:ext cx="2333625" cy="15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0338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1" cy="6858000"/>
          </a:xfrm>
        </p:spPr>
      </p:pic>
      <p:sp>
        <p:nvSpPr>
          <p:cNvPr id="3" name="Rectangle 2"/>
          <p:cNvSpPr/>
          <p:nvPr/>
        </p:nvSpPr>
        <p:spPr>
          <a:xfrm>
            <a:off x="381000" y="685800"/>
            <a:ext cx="40386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</a:rPr>
              <a:t>Fiecare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termen</a:t>
            </a:r>
            <a:r>
              <a:rPr lang="en-US" sz="1400" dirty="0">
                <a:latin typeface="Elephant" pitchFamily="18" charset="0"/>
              </a:rPr>
              <a:t> din </a:t>
            </a:r>
            <a:r>
              <a:rPr lang="en-US" sz="1400" dirty="0" err="1">
                <a:latin typeface="Elephant" pitchFamily="18" charset="0"/>
              </a:rPr>
              <a:t>seria</a:t>
            </a:r>
            <a:r>
              <a:rPr lang="en-US" sz="1400" dirty="0">
                <a:latin typeface="Elephant" pitchFamily="18" charset="0"/>
              </a:rPr>
              <a:t> L </a:t>
            </a:r>
            <a:r>
              <a:rPr lang="en-US" sz="1400" dirty="0" err="1">
                <a:latin typeface="Elephant" pitchFamily="18" charset="0"/>
              </a:rPr>
              <a:t>este</a:t>
            </a:r>
            <a:r>
              <a:rPr lang="en-US" sz="1400" dirty="0">
                <a:latin typeface="Elephant" pitchFamily="18" charset="0"/>
              </a:rPr>
              <a:t> </a:t>
            </a:r>
            <a:endParaRPr lang="en-US" sz="1400" dirty="0" smtClean="0">
              <a:latin typeface="Elephant" pitchFamily="18" charset="0"/>
            </a:endParaRPr>
          </a:p>
          <a:p>
            <a:r>
              <a:rPr lang="en-US" sz="1400" dirty="0" err="1" smtClean="0">
                <a:latin typeface="Elephant" pitchFamily="18" charset="0"/>
              </a:rPr>
              <a:t>enantiomerul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corespunzitor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>
                <a:latin typeface="Elephant" pitchFamily="18" charset="0"/>
              </a:rPr>
              <a:t>al </a:t>
            </a:r>
            <a:r>
              <a:rPr lang="en-US" sz="1400" dirty="0" err="1">
                <a:latin typeface="Elephant" pitchFamily="18" charset="0"/>
              </a:rPr>
              <a:t>unui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termen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>
                <a:latin typeface="Elephant" pitchFamily="18" charset="0"/>
              </a:rPr>
              <a:t>din </a:t>
            </a:r>
            <a:r>
              <a:rPr lang="en-US" sz="1400" dirty="0" err="1">
                <a:latin typeface="Elephant" pitchFamily="18" charset="0"/>
              </a:rPr>
              <a:t>seria</a:t>
            </a:r>
            <a:r>
              <a:rPr lang="en-US" sz="1400" dirty="0">
                <a:latin typeface="Elephant" pitchFamily="18" charset="0"/>
              </a:rPr>
              <a:t> D</a:t>
            </a:r>
            <a:r>
              <a:rPr lang="en-US" sz="1400" dirty="0" smtClean="0">
                <a:latin typeface="Elephant" pitchFamily="18" charset="0"/>
              </a:rPr>
              <a:t>.</a:t>
            </a:r>
            <a:endParaRPr lang="en-US" sz="1400" dirty="0">
              <a:latin typeface="Elephant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3810000"/>
            <a:ext cx="403860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 smtClean="0">
                <a:latin typeface="Elephant" pitchFamily="18" charset="0"/>
              </a:rPr>
              <a:t>Doua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monozaharide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izomere</a:t>
            </a:r>
            <a:r>
              <a:rPr lang="en-US" sz="1400" dirty="0">
                <a:latin typeface="Elephant" pitchFamily="18" charset="0"/>
              </a:rPr>
              <a:t> care </a:t>
            </a:r>
            <a:r>
              <a:rPr lang="en-US" sz="1400" dirty="0" err="1" smtClean="0">
                <a:latin typeface="Elephant" pitchFamily="18" charset="0"/>
              </a:rPr>
              <a:t>difera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 smtClean="0">
                <a:latin typeface="Elephant" pitchFamily="18" charset="0"/>
              </a:rPr>
              <a:t>intre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ele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doar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prin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configuratia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unui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singur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smtClean="0">
                <a:latin typeface="Elephant" pitchFamily="18" charset="0"/>
              </a:rPr>
              <a:t>atom de </a:t>
            </a:r>
            <a:r>
              <a:rPr lang="en-US" sz="1400" dirty="0">
                <a:latin typeface="Elephant" pitchFamily="18" charset="0"/>
              </a:rPr>
              <a:t>carbon </a:t>
            </a:r>
            <a:r>
              <a:rPr lang="en-US" sz="1400" dirty="0" err="1">
                <a:latin typeface="Elephant" pitchFamily="18" charset="0"/>
              </a:rPr>
              <a:t>asimetric</a:t>
            </a:r>
            <a:r>
              <a:rPr lang="en-US" sz="1400" dirty="0">
                <a:latin typeface="Elephant" pitchFamily="18" charset="0"/>
              </a:rPr>
              <a:t> se </a:t>
            </a:r>
            <a:r>
              <a:rPr lang="en-US" sz="1400" dirty="0" err="1">
                <a:latin typeface="Elephant" pitchFamily="18" charset="0"/>
              </a:rPr>
              <a:t>numesc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epimeri</a:t>
            </a:r>
            <a:r>
              <a:rPr lang="en-US" sz="1400" dirty="0" smtClean="0">
                <a:latin typeface="Elephant" pitchFamily="18" charset="0"/>
              </a:rPr>
              <a:t>. </a:t>
            </a:r>
            <a:r>
              <a:rPr lang="en-US" sz="1400" dirty="0">
                <a:latin typeface="Elephant" pitchFamily="18" charset="0"/>
              </a:rPr>
              <a:t>De </a:t>
            </a:r>
            <a:r>
              <a:rPr lang="en-US" sz="1400" dirty="0" err="1" smtClean="0">
                <a:latin typeface="Elephant" pitchFamily="18" charset="0"/>
              </a:rPr>
              <a:t>exemplu</a:t>
            </a:r>
            <a:r>
              <a:rPr lang="en-US" sz="1400" dirty="0" smtClean="0">
                <a:latin typeface="Elephant" pitchFamily="18" charset="0"/>
              </a:rPr>
              <a:t>, </a:t>
            </a:r>
            <a:r>
              <a:rPr lang="en-US" sz="1400" dirty="0">
                <a:latin typeface="Elephant" pitchFamily="18" charset="0"/>
              </a:rPr>
              <a:t>D-</a:t>
            </a:r>
            <a:r>
              <a:rPr lang="en-US" sz="1400" dirty="0" err="1">
                <a:latin typeface="Elephant" pitchFamily="18" charset="0"/>
              </a:rPr>
              <a:t>glucoza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si</a:t>
            </a:r>
            <a:r>
              <a:rPr lang="en-US" sz="1400" dirty="0" smtClean="0">
                <a:latin typeface="Elephant" pitchFamily="18" charset="0"/>
              </a:rPr>
              <a:t> D-</a:t>
            </a:r>
            <a:r>
              <a:rPr lang="en-US" sz="1400" dirty="0" err="1" smtClean="0">
                <a:latin typeface="Elephant" pitchFamily="18" charset="0"/>
              </a:rPr>
              <a:t>monoza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sunt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epimeri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smtClean="0">
                <a:latin typeface="Elephant" pitchFamily="18" charset="0"/>
              </a:rPr>
              <a:t>C2, </a:t>
            </a:r>
            <a:r>
              <a:rPr lang="en-US" sz="1400" dirty="0" err="1" smtClean="0">
                <a:latin typeface="Elephant" pitchFamily="18" charset="0"/>
              </a:rPr>
              <a:t>iar</a:t>
            </a:r>
            <a:r>
              <a:rPr lang="en-US" sz="1400" dirty="0" smtClean="0">
                <a:latin typeface="Elephant" pitchFamily="18" charset="0"/>
              </a:rPr>
              <a:t> D-</a:t>
            </a:r>
            <a:r>
              <a:rPr lang="en-US" sz="1400" dirty="0" err="1" smtClean="0">
                <a:latin typeface="Elephant" pitchFamily="18" charset="0"/>
              </a:rPr>
              <a:t>glucoza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>
                <a:latin typeface="Elephant" pitchFamily="18" charset="0"/>
              </a:rPr>
              <a:t>D-</a:t>
            </a:r>
            <a:r>
              <a:rPr lang="en-US" sz="1400" dirty="0" err="1">
                <a:latin typeface="Elephant" pitchFamily="18" charset="0"/>
              </a:rPr>
              <a:t>galactoza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sunt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epimeri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smtClean="0">
                <a:latin typeface="Elephant" pitchFamily="18" charset="0"/>
              </a:rPr>
              <a:t>C4. </a:t>
            </a:r>
            <a:r>
              <a:rPr lang="en-US" sz="1400" dirty="0" err="1">
                <a:latin typeface="Elephant" pitchFamily="18" charset="0"/>
              </a:rPr>
              <a:t>Epimerii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sunt</a:t>
            </a:r>
            <a:r>
              <a:rPr lang="en-US" sz="1400" dirty="0">
                <a:latin typeface="Elephant" pitchFamily="18" charset="0"/>
              </a:rPr>
              <a:t> un </a:t>
            </a:r>
            <a:r>
              <a:rPr lang="en-US" sz="1400" dirty="0" err="1">
                <a:latin typeface="Elephant" pitchFamily="18" charset="0"/>
              </a:rPr>
              <a:t>caz</a:t>
            </a:r>
            <a:r>
              <a:rPr lang="en-US" sz="1400" dirty="0">
                <a:latin typeface="Elephant" pitchFamily="18" charset="0"/>
              </a:rPr>
              <a:t> particular de </a:t>
            </a:r>
            <a:r>
              <a:rPr lang="en-US" sz="1400" dirty="0" err="1" smtClean="0">
                <a:latin typeface="Elephant" pitchFamily="18" charset="0"/>
              </a:rPr>
              <a:t>diastereoizomerie</a:t>
            </a:r>
            <a:r>
              <a:rPr lang="en-US" sz="1400" dirty="0">
                <a:latin typeface="Elephant" pitchFamily="18" charset="0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1752600"/>
            <a:ext cx="403860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</a:rPr>
              <a:t>Notaliile</a:t>
            </a:r>
            <a:r>
              <a:rPr lang="en-US" sz="1400" dirty="0">
                <a:latin typeface="Elephant" pitchFamily="18" charset="0"/>
              </a:rPr>
              <a:t> L </a:t>
            </a:r>
            <a:r>
              <a:rPr lang="en-US" sz="1400" dirty="0" err="1">
                <a:latin typeface="Elephant" pitchFamily="18" charset="0"/>
              </a:rPr>
              <a:t>sau</a:t>
            </a:r>
            <a:r>
              <a:rPr lang="en-US" sz="1400" dirty="0">
                <a:latin typeface="Elephant" pitchFamily="18" charset="0"/>
              </a:rPr>
              <a:t> D nu au </a:t>
            </a:r>
            <a:r>
              <a:rPr lang="en-US" sz="1400" dirty="0" err="1">
                <a:latin typeface="Elephant" pitchFamily="18" charset="0"/>
              </a:rPr>
              <a:t>nicio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legatura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smtClean="0">
                <a:latin typeface="Elephant" pitchFamily="18" charset="0"/>
              </a:rPr>
              <a:t>cu</a:t>
            </a:r>
          </a:p>
          <a:p>
            <a:r>
              <a:rPr lang="en-US" sz="1400" dirty="0" err="1" smtClean="0">
                <a:latin typeface="Elephant" pitchFamily="18" charset="0"/>
              </a:rPr>
              <a:t>cuvintele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dextrogir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levogir</a:t>
            </a:r>
            <a:r>
              <a:rPr lang="en-US" sz="1400" dirty="0">
                <a:latin typeface="Elephant" pitchFamily="18" charset="0"/>
              </a:rPr>
              <a:t>, care </a:t>
            </a:r>
            <a:r>
              <a:rPr lang="en-US" sz="1400" dirty="0" err="1">
                <a:latin typeface="Elephant" pitchFamily="18" charset="0"/>
              </a:rPr>
              <a:t>indica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sensul</a:t>
            </a:r>
            <a:r>
              <a:rPr lang="en-US" sz="1400" dirty="0">
                <a:latin typeface="Elephant" pitchFamily="18" charset="0"/>
              </a:rPr>
              <a:t> de </a:t>
            </a:r>
            <a:r>
              <a:rPr lang="en-US" sz="1400" dirty="0" err="1">
                <a:latin typeface="Elephant" pitchFamily="18" charset="0"/>
              </a:rPr>
              <a:t>rotatie</a:t>
            </a:r>
            <a:r>
              <a:rPr lang="en-US" sz="1400" dirty="0">
                <a:latin typeface="Elephant" pitchFamily="18" charset="0"/>
              </a:rPr>
              <a:t> al </a:t>
            </a:r>
            <a:r>
              <a:rPr lang="en-US" sz="1400" dirty="0" err="1">
                <a:latin typeface="Elephant" pitchFamily="18" charset="0"/>
              </a:rPr>
              <a:t>planului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luminii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polarizate</a:t>
            </a:r>
            <a:r>
              <a:rPr lang="en-US" sz="1400" dirty="0">
                <a:latin typeface="Elephant" pitchFamily="18" charset="0"/>
              </a:rPr>
              <a:t>. De </a:t>
            </a:r>
            <a:r>
              <a:rPr lang="en-US" sz="1400" dirty="0" err="1">
                <a:latin typeface="Elephant" pitchFamily="18" charset="0"/>
              </a:rPr>
              <a:t>exemplu</a:t>
            </a:r>
            <a:r>
              <a:rPr lang="en-US" sz="1400" dirty="0">
                <a:latin typeface="Elephant" pitchFamily="18" charset="0"/>
              </a:rPr>
              <a:t>. D-</a:t>
            </a:r>
            <a:r>
              <a:rPr lang="en-US" sz="1400" dirty="0" err="1">
                <a:latin typeface="Elephant" pitchFamily="18" charset="0"/>
              </a:rPr>
              <a:t>fructoza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este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levogira</a:t>
            </a:r>
            <a:r>
              <a:rPr lang="en-US" sz="1400" dirty="0">
                <a:latin typeface="Elephant" pitchFamily="18" charset="0"/>
              </a:rPr>
              <a:t>, </a:t>
            </a:r>
            <a:r>
              <a:rPr lang="en-US" sz="1400" dirty="0" err="1">
                <a:latin typeface="Elephant" pitchFamily="18" charset="0"/>
              </a:rPr>
              <a:t>iar</a:t>
            </a:r>
            <a:r>
              <a:rPr lang="en-US" sz="1400" dirty="0">
                <a:latin typeface="Elephant" pitchFamily="18" charset="0"/>
              </a:rPr>
              <a:t> D-</a:t>
            </a:r>
            <a:r>
              <a:rPr lang="en-US" sz="1400" dirty="0" err="1">
                <a:latin typeface="Elephant" pitchFamily="18" charset="0"/>
              </a:rPr>
              <a:t>glucoza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este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dextrogira</a:t>
            </a:r>
            <a:r>
              <a:rPr lang="en-US" sz="1400" dirty="0" smtClean="0">
                <a:latin typeface="Elephant" pitchFamily="18" charset="0"/>
              </a:rPr>
              <a:t>. </a:t>
            </a:r>
            <a:r>
              <a:rPr lang="en-US" sz="1400" dirty="0" err="1" smtClean="0">
                <a:latin typeface="Elephant" pitchFamily="18" charset="0"/>
              </a:rPr>
              <a:t>Marea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majoritate</a:t>
            </a:r>
            <a:r>
              <a:rPr lang="en-US" sz="1400" dirty="0">
                <a:latin typeface="Elephant" pitchFamily="18" charset="0"/>
              </a:rPr>
              <a:t> a </a:t>
            </a:r>
            <a:r>
              <a:rPr lang="en-US" sz="1400" dirty="0" err="1">
                <a:latin typeface="Elephant" pitchFamily="18" charset="0"/>
              </a:rPr>
              <a:t>monozaharidelor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naturale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fac</a:t>
            </a:r>
            <a:r>
              <a:rPr lang="en-US" sz="1400" dirty="0">
                <a:latin typeface="Elephant" pitchFamily="18" charset="0"/>
              </a:rPr>
              <a:t> parte din </a:t>
            </a:r>
            <a:r>
              <a:rPr lang="en-US" sz="1400" dirty="0" err="1">
                <a:latin typeface="Elephant" pitchFamily="18" charset="0"/>
              </a:rPr>
              <a:t>seria</a:t>
            </a:r>
            <a:r>
              <a:rPr lang="en-US" sz="1400" dirty="0">
                <a:latin typeface="Elephant" pitchFamily="18" charset="0"/>
              </a:rPr>
              <a:t> D.</a:t>
            </a:r>
            <a:endParaRPr lang="en-US" sz="1400" dirty="0">
              <a:latin typeface="Elephant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96543" y="501134"/>
            <a:ext cx="14870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1600" u="sng" dirty="0" err="1" smtClean="0">
                <a:latin typeface="Elephant" pitchFamily="18" charset="0"/>
              </a:rPr>
              <a:t>Structura</a:t>
            </a:r>
            <a:endParaRPr lang="en-US" sz="1600" u="sng" dirty="0" smtClean="0">
              <a:latin typeface="Elephant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76800" y="1219199"/>
            <a:ext cx="393197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 smtClean="0">
                <a:latin typeface="Elephant" pitchFamily="18" charset="0"/>
              </a:rPr>
              <a:t>Toate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pentozele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hexozele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adopta</a:t>
            </a:r>
            <a:r>
              <a:rPr lang="en-US" sz="1400" dirty="0" smtClean="0">
                <a:latin typeface="Elephant" pitchFamily="18" charset="0"/>
              </a:rPr>
              <a:t> o</a:t>
            </a:r>
          </a:p>
          <a:p>
            <a:r>
              <a:rPr lang="en-US" sz="1400" dirty="0" smtClean="0">
                <a:latin typeface="Elephant" pitchFamily="18" charset="0"/>
              </a:rPr>
              <a:t>forma </a:t>
            </a:r>
            <a:r>
              <a:rPr lang="en-US" sz="1400" dirty="0" err="1" smtClean="0">
                <a:latin typeface="Elephant" pitchFamily="18" charset="0"/>
              </a:rPr>
              <a:t>cuclica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prin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aditia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unei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grupe</a:t>
            </a:r>
            <a:r>
              <a:rPr lang="en-US" sz="1400" dirty="0" smtClean="0">
                <a:latin typeface="Elephant" pitchFamily="18" charset="0"/>
              </a:rPr>
              <a:t> </a:t>
            </a:r>
          </a:p>
          <a:p>
            <a:r>
              <a:rPr lang="en-US" sz="1400" dirty="0" err="1" smtClean="0">
                <a:latin typeface="Elephant" pitchFamily="18" charset="0"/>
              </a:rPr>
              <a:t>hidroxil</a:t>
            </a:r>
            <a:r>
              <a:rPr lang="en-US" sz="1400" dirty="0" smtClean="0">
                <a:latin typeface="Elephant" pitchFamily="18" charset="0"/>
              </a:rPr>
              <a:t> la </a:t>
            </a:r>
            <a:r>
              <a:rPr lang="en-US" sz="1400" dirty="0" err="1" smtClean="0">
                <a:latin typeface="Elephant" pitchFamily="18" charset="0"/>
              </a:rPr>
              <a:t>grupa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carbonil</a:t>
            </a:r>
            <a:r>
              <a:rPr lang="en-US" sz="1400" dirty="0" smtClean="0">
                <a:latin typeface="Elephant" pitchFamily="18" charset="0"/>
              </a:rPr>
              <a:t>. </a:t>
            </a:r>
            <a:r>
              <a:rPr lang="en-US" sz="1400" dirty="0" err="1" smtClean="0">
                <a:latin typeface="Elephant" pitchFamily="18" charset="0"/>
              </a:rPr>
              <a:t>Formele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ciclice</a:t>
            </a:r>
            <a:r>
              <a:rPr lang="en-US" sz="1400" dirty="0" smtClean="0">
                <a:latin typeface="Elephant" pitchFamily="18" charset="0"/>
              </a:rPr>
              <a:t> </a:t>
            </a:r>
          </a:p>
          <a:p>
            <a:r>
              <a:rPr lang="en-US" sz="1400" dirty="0" err="1" smtClean="0">
                <a:latin typeface="Elephant" pitchFamily="18" charset="0"/>
              </a:rPr>
              <a:t>sunt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mai</a:t>
            </a:r>
            <a:r>
              <a:rPr lang="en-US" sz="1400" dirty="0" smtClean="0">
                <a:latin typeface="Elephant" pitchFamily="18" charset="0"/>
              </a:rPr>
              <a:t> stabile </a:t>
            </a:r>
            <a:r>
              <a:rPr lang="en-US" sz="1400" dirty="0" err="1" smtClean="0">
                <a:latin typeface="Elephant" pitchFamily="18" charset="0"/>
              </a:rPr>
              <a:t>decat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formele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aciclice</a:t>
            </a:r>
            <a:r>
              <a:rPr lang="en-US" sz="1400" dirty="0">
                <a:latin typeface="Elephant" pitchFamily="18" charset="0"/>
              </a:rPr>
              <a:t>.</a:t>
            </a:r>
            <a:endParaRPr lang="en-US" sz="1400" dirty="0" smtClean="0">
              <a:latin typeface="Elephant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76800" y="2315679"/>
            <a:ext cx="384271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 smtClean="0">
                <a:latin typeface="Elephant" pitchFamily="18" charset="0"/>
              </a:rPr>
              <a:t>Pentru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reprezentarea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structurilor</a:t>
            </a:r>
            <a:endParaRPr lang="en-US" sz="1400" dirty="0" smtClean="0">
              <a:latin typeface="Elephant" pitchFamily="18" charset="0"/>
            </a:endParaRPr>
          </a:p>
          <a:p>
            <a:r>
              <a:rPr lang="en-US" sz="1400" dirty="0" err="1" smtClean="0">
                <a:latin typeface="Elephant" pitchFamily="18" charset="0"/>
              </a:rPr>
              <a:t>ciclice</a:t>
            </a:r>
            <a:r>
              <a:rPr lang="en-US" sz="1400" dirty="0" smtClean="0">
                <a:latin typeface="Elephant" pitchFamily="18" charset="0"/>
              </a:rPr>
              <a:t> ale </a:t>
            </a:r>
            <a:r>
              <a:rPr lang="en-US" sz="1400" dirty="0" err="1" smtClean="0">
                <a:latin typeface="Elephant" pitchFamily="18" charset="0"/>
              </a:rPr>
              <a:t>monozaharidelor</a:t>
            </a:r>
            <a:r>
              <a:rPr lang="en-US" sz="1400" dirty="0" smtClean="0">
                <a:latin typeface="Elephant" pitchFamily="18" charset="0"/>
              </a:rPr>
              <a:t> se pot </a:t>
            </a:r>
            <a:r>
              <a:rPr lang="en-US" sz="1400" dirty="0" err="1" smtClean="0">
                <a:latin typeface="Elephant" pitchFamily="18" charset="0"/>
              </a:rPr>
              <a:t>utiliza</a:t>
            </a:r>
            <a:r>
              <a:rPr lang="en-US" sz="1400" dirty="0" smtClean="0">
                <a:latin typeface="Elephant" pitchFamily="18" charset="0"/>
              </a:rPr>
              <a:t> </a:t>
            </a:r>
          </a:p>
          <a:p>
            <a:r>
              <a:rPr lang="en-US" sz="1400" dirty="0" err="1" smtClean="0">
                <a:latin typeface="Elephant" pitchFamily="18" charset="0"/>
              </a:rPr>
              <a:t>formule</a:t>
            </a:r>
            <a:r>
              <a:rPr lang="en-US" sz="1400" dirty="0" smtClean="0">
                <a:latin typeface="Elephant" pitchFamily="18" charset="0"/>
              </a:rPr>
              <a:t> Fischer </a:t>
            </a:r>
            <a:r>
              <a:rPr lang="en-US" sz="1400" dirty="0" err="1" smtClean="0">
                <a:latin typeface="Elephant" pitchFamily="18" charset="0"/>
              </a:rPr>
              <a:t>sau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formule</a:t>
            </a:r>
            <a:r>
              <a:rPr lang="en-US" sz="1400" dirty="0" smtClean="0">
                <a:latin typeface="Elephant" pitchFamily="18" charset="0"/>
              </a:rPr>
              <a:t> Haworth.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628" y="3430558"/>
            <a:ext cx="3775891" cy="1695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6178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686" y="1219200"/>
            <a:ext cx="4140685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smtClean="0">
                <a:latin typeface="Elephant" pitchFamily="18" charset="0"/>
              </a:rPr>
              <a:t>In </a:t>
            </a:r>
            <a:r>
              <a:rPr lang="en-US" sz="1400" dirty="0" err="1" smtClean="0">
                <a:latin typeface="Elephant" pitchFamily="18" charset="0"/>
              </a:rPr>
              <a:t>urma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ciclizarii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apare</a:t>
            </a:r>
            <a:r>
              <a:rPr lang="en-US" sz="1400" dirty="0" smtClean="0">
                <a:latin typeface="Elephant" pitchFamily="18" charset="0"/>
              </a:rPr>
              <a:t> o </a:t>
            </a:r>
            <a:r>
              <a:rPr lang="en-US" sz="1400" dirty="0" err="1" smtClean="0">
                <a:latin typeface="Elephant" pitchFamily="18" charset="0"/>
              </a:rPr>
              <a:t>grupa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hidroxil</a:t>
            </a:r>
            <a:r>
              <a:rPr lang="en-US" sz="1400" dirty="0" smtClean="0">
                <a:latin typeface="Elephant" pitchFamily="18" charset="0"/>
              </a:rPr>
              <a:t>,</a:t>
            </a:r>
          </a:p>
          <a:p>
            <a:r>
              <a:rPr lang="en-US" sz="1400" dirty="0" err="1" smtClean="0">
                <a:latin typeface="Elephant" pitchFamily="18" charset="0"/>
              </a:rPr>
              <a:t>numita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hidroxil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glicozidic</a:t>
            </a:r>
            <a:r>
              <a:rPr lang="en-US" sz="1400" dirty="0" smtClean="0">
                <a:latin typeface="Elephant" pitchFamily="18" charset="0"/>
              </a:rPr>
              <a:t>, care </a:t>
            </a:r>
            <a:r>
              <a:rPr lang="en-US" sz="1400" dirty="0" err="1" smtClean="0">
                <a:latin typeface="Elephant" pitchFamily="18" charset="0"/>
              </a:rPr>
              <a:t>poate</a:t>
            </a:r>
            <a:r>
              <a:rPr lang="en-US" sz="1400" dirty="0" smtClean="0">
                <a:latin typeface="Elephant" pitchFamily="18" charset="0"/>
              </a:rPr>
              <a:t> fi</a:t>
            </a:r>
          </a:p>
          <a:p>
            <a:r>
              <a:rPr lang="en-US" sz="1400" dirty="0" err="1" smtClean="0">
                <a:latin typeface="Elephant" pitchFamily="18" charset="0"/>
              </a:rPr>
              <a:t>dispusa</a:t>
            </a:r>
            <a:r>
              <a:rPr lang="en-US" sz="1400" dirty="0" smtClean="0">
                <a:latin typeface="Elephant" pitchFamily="18" charset="0"/>
              </a:rPr>
              <a:t>, in </a:t>
            </a:r>
            <a:r>
              <a:rPr lang="en-US" sz="1400" dirty="0" err="1" smtClean="0">
                <a:latin typeface="Elephant" pitchFamily="18" charset="0"/>
              </a:rPr>
              <a:t>raport</a:t>
            </a:r>
            <a:r>
              <a:rPr lang="en-US" sz="1400" dirty="0" smtClean="0">
                <a:latin typeface="Elephant" pitchFamily="18" charset="0"/>
              </a:rPr>
              <a:t> cu </a:t>
            </a:r>
            <a:r>
              <a:rPr lang="en-US" sz="1400" dirty="0" err="1" smtClean="0">
                <a:latin typeface="Elephant" pitchFamily="18" charset="0"/>
              </a:rPr>
              <a:t>hidroxilul</a:t>
            </a:r>
            <a:r>
              <a:rPr lang="en-US" sz="1400" dirty="0" smtClean="0">
                <a:latin typeface="Elephant" pitchFamily="18" charset="0"/>
              </a:rPr>
              <a:t> din </a:t>
            </a:r>
            <a:r>
              <a:rPr lang="en-US" sz="1400" dirty="0" err="1" smtClean="0">
                <a:latin typeface="Elephant" pitchFamily="18" charset="0"/>
              </a:rPr>
              <a:t>pozitia</a:t>
            </a:r>
            <a:r>
              <a:rPr lang="en-US" sz="1400" dirty="0" smtClean="0">
                <a:latin typeface="Elephant" pitchFamily="18" charset="0"/>
              </a:rPr>
              <a:t> 4</a:t>
            </a:r>
          </a:p>
          <a:p>
            <a:r>
              <a:rPr lang="en-US" sz="1400" dirty="0" err="1" smtClean="0">
                <a:latin typeface="Elephant" pitchFamily="18" charset="0"/>
              </a:rPr>
              <a:t>sau</a:t>
            </a:r>
            <a:r>
              <a:rPr lang="en-US" sz="1400" dirty="0" smtClean="0">
                <a:latin typeface="Elephant" pitchFamily="18" charset="0"/>
              </a:rPr>
              <a:t> cu </a:t>
            </a:r>
            <a:r>
              <a:rPr lang="en-US" sz="1400" dirty="0" err="1" smtClean="0">
                <a:latin typeface="Elephant" pitchFamily="18" charset="0"/>
              </a:rPr>
              <a:t>cel</a:t>
            </a:r>
            <a:r>
              <a:rPr lang="en-US" sz="1400" dirty="0" smtClean="0">
                <a:latin typeface="Elephant" pitchFamily="18" charset="0"/>
              </a:rPr>
              <a:t> din </a:t>
            </a:r>
            <a:r>
              <a:rPr lang="en-US" sz="1400" dirty="0" err="1" smtClean="0">
                <a:latin typeface="Elephant" pitchFamily="18" charset="0"/>
              </a:rPr>
              <a:t>pozitia</a:t>
            </a:r>
            <a:r>
              <a:rPr lang="en-US" sz="1400" dirty="0" smtClean="0">
                <a:latin typeface="Elephant" pitchFamily="18" charset="0"/>
              </a:rPr>
              <a:t> 2, de </a:t>
            </a:r>
            <a:r>
              <a:rPr lang="en-US" sz="1400" dirty="0" err="1" smtClean="0">
                <a:latin typeface="Elephant" pitchFamily="18" charset="0"/>
              </a:rPr>
              <a:t>aceeasi</a:t>
            </a:r>
            <a:r>
              <a:rPr lang="en-US" sz="1400" dirty="0" smtClean="0">
                <a:latin typeface="Elephant" pitchFamily="18" charset="0"/>
              </a:rPr>
              <a:t> parte</a:t>
            </a:r>
          </a:p>
          <a:p>
            <a:r>
              <a:rPr lang="en-US" sz="1400" dirty="0" smtClean="0">
                <a:latin typeface="Elephant" pitchFamily="18" charset="0"/>
              </a:rPr>
              <a:t>a </a:t>
            </a:r>
            <a:r>
              <a:rPr lang="en-US" sz="1400" dirty="0" err="1" smtClean="0">
                <a:latin typeface="Elephant" pitchFamily="18" charset="0"/>
              </a:rPr>
              <a:t>catenei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ciclice</a:t>
            </a:r>
            <a:r>
              <a:rPr lang="en-US" sz="1400" dirty="0" smtClean="0">
                <a:latin typeface="Elephant" pitchFamily="18" charset="0"/>
              </a:rPr>
              <a:t>, in </a:t>
            </a:r>
            <a:r>
              <a:rPr lang="en-US" sz="1400" dirty="0" err="1" smtClean="0">
                <a:latin typeface="Elephant" pitchFamily="18" charset="0"/>
              </a:rPr>
              <a:t>stereoizomerul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l-GR" sz="1400" dirty="0" smtClean="0">
                <a:latin typeface="Times New Roman"/>
                <a:cs typeface="Times New Roman"/>
              </a:rPr>
              <a:t>α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-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glucoza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,</a:t>
            </a:r>
          </a:p>
          <a:p>
            <a:r>
              <a:rPr lang="en-US" sz="1400" dirty="0" err="1" smtClean="0">
                <a:latin typeface="Elephant" pitchFamily="18" charset="0"/>
                <a:cs typeface="Times New Roman"/>
              </a:rPr>
              <a:t>sau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de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cealalta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parte a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catenei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ciclice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, in </a:t>
            </a:r>
          </a:p>
          <a:p>
            <a:r>
              <a:rPr lang="en-US" sz="1400" dirty="0" err="1" smtClean="0">
                <a:latin typeface="Elephant" pitchFamily="18" charset="0"/>
                <a:cs typeface="Times New Roman"/>
              </a:rPr>
              <a:t>stereoizomerul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l-GR" sz="1400" dirty="0" smtClean="0">
                <a:latin typeface="Times New Roman"/>
                <a:cs typeface="Times New Roman"/>
              </a:rPr>
              <a:t>β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-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glucoza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.</a:t>
            </a:r>
            <a:endParaRPr lang="en-US" sz="1400" dirty="0" smtClean="0">
              <a:latin typeface="Elephant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5067" y="3581400"/>
            <a:ext cx="4060150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smtClean="0">
                <a:latin typeface="Elephant" pitchFamily="18" charset="0"/>
              </a:rPr>
              <a:t>La </a:t>
            </a:r>
            <a:r>
              <a:rPr lang="en-US" sz="1400" dirty="0" err="1" smtClean="0">
                <a:latin typeface="Elephant" pitchFamily="18" charset="0"/>
              </a:rPr>
              <a:t>inchiderea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ciclului</a:t>
            </a:r>
            <a:r>
              <a:rPr lang="en-US" sz="1400" dirty="0" smtClean="0">
                <a:latin typeface="Elephant" pitchFamily="18" charset="0"/>
              </a:rPr>
              <a:t>, </a:t>
            </a:r>
            <a:r>
              <a:rPr lang="en-US" sz="1400" dirty="0" err="1" smtClean="0">
                <a:latin typeface="Elephant" pitchFamily="18" charset="0"/>
              </a:rPr>
              <a:t>atomul</a:t>
            </a:r>
            <a:r>
              <a:rPr lang="en-US" sz="1400" dirty="0" smtClean="0">
                <a:latin typeface="Elephant" pitchFamily="18" charset="0"/>
              </a:rPr>
              <a:t> de carbon</a:t>
            </a:r>
          </a:p>
          <a:p>
            <a:r>
              <a:rPr lang="en-US" sz="1400" dirty="0" smtClean="0">
                <a:latin typeface="Elephant" pitchFamily="18" charset="0"/>
              </a:rPr>
              <a:t>din </a:t>
            </a:r>
            <a:r>
              <a:rPr lang="en-US" sz="1400" dirty="0" err="1" smtClean="0">
                <a:latin typeface="Elephant" pitchFamily="18" charset="0"/>
              </a:rPr>
              <a:t>grupa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carbonil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devine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asimetric</a:t>
            </a:r>
            <a:r>
              <a:rPr lang="en-US" sz="1400" dirty="0" smtClean="0">
                <a:latin typeface="Elephant" pitchFamily="18" charset="0"/>
              </a:rPr>
              <a:t>, se</a:t>
            </a:r>
          </a:p>
          <a:p>
            <a:r>
              <a:rPr lang="en-US" sz="1400" dirty="0" err="1" smtClean="0">
                <a:latin typeface="Elephant" pitchFamily="18" charset="0"/>
              </a:rPr>
              <a:t>numeste</a:t>
            </a:r>
            <a:r>
              <a:rPr lang="en-US" sz="1400" dirty="0" smtClean="0">
                <a:latin typeface="Elephant" pitchFamily="18" charset="0"/>
              </a:rPr>
              <a:t> carbon </a:t>
            </a:r>
            <a:r>
              <a:rPr lang="en-US" sz="1400" dirty="0" err="1" smtClean="0">
                <a:latin typeface="Elephant" pitchFamily="18" charset="0"/>
              </a:rPr>
              <a:t>anomeric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este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singurul</a:t>
            </a:r>
            <a:endParaRPr lang="en-US" sz="1400" dirty="0" smtClean="0">
              <a:latin typeface="Elephant" pitchFamily="18" charset="0"/>
            </a:endParaRPr>
          </a:p>
          <a:p>
            <a:r>
              <a:rPr lang="en-US" sz="1400" dirty="0" smtClean="0">
                <a:latin typeface="Elephant" pitchFamily="18" charset="0"/>
              </a:rPr>
              <a:t>atom de carbon din </a:t>
            </a:r>
            <a:r>
              <a:rPr lang="en-US" sz="1400" dirty="0" err="1" smtClean="0">
                <a:latin typeface="Elephant" pitchFamily="18" charset="0"/>
              </a:rPr>
              <a:t>molecula</a:t>
            </a:r>
            <a:r>
              <a:rPr lang="en-US" sz="1400" dirty="0" smtClean="0">
                <a:latin typeface="Elephant" pitchFamily="18" charset="0"/>
              </a:rPr>
              <a:t> care se </a:t>
            </a:r>
            <a:r>
              <a:rPr lang="en-US" sz="1400" dirty="0" err="1" smtClean="0">
                <a:latin typeface="Elephant" pitchFamily="18" charset="0"/>
              </a:rPr>
              <a:t>leaga</a:t>
            </a:r>
            <a:endParaRPr lang="en-US" sz="1400" dirty="0" smtClean="0">
              <a:latin typeface="Elephant" pitchFamily="18" charset="0"/>
            </a:endParaRPr>
          </a:p>
          <a:p>
            <a:r>
              <a:rPr lang="en-US" sz="1400" dirty="0" smtClean="0">
                <a:latin typeface="Elephant" pitchFamily="18" charset="0"/>
              </a:rPr>
              <a:t>de </a:t>
            </a:r>
            <a:r>
              <a:rPr lang="en-US" sz="1400" dirty="0" err="1" smtClean="0">
                <a:latin typeface="Elephant" pitchFamily="18" charset="0"/>
              </a:rPr>
              <a:t>doi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atomi</a:t>
            </a:r>
            <a:r>
              <a:rPr lang="en-US" sz="1400" dirty="0" smtClean="0">
                <a:latin typeface="Elephant" pitchFamily="18" charset="0"/>
              </a:rPr>
              <a:t> de </a:t>
            </a:r>
            <a:r>
              <a:rPr lang="en-US" sz="1400" dirty="0" err="1" smtClean="0">
                <a:latin typeface="Elephant" pitchFamily="18" charset="0"/>
              </a:rPr>
              <a:t>oxigen</a:t>
            </a:r>
            <a:r>
              <a:rPr lang="en-US" sz="1400" dirty="0" smtClean="0">
                <a:latin typeface="Elephant" pitchFamily="18" charset="0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0568" y="454223"/>
            <a:ext cx="22830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1600" dirty="0" err="1" smtClean="0">
                <a:latin typeface="Elephant" pitchFamily="18" charset="0"/>
              </a:rPr>
              <a:t>Proprietati</a:t>
            </a:r>
            <a:r>
              <a:rPr lang="en-US" sz="1600" dirty="0" smtClean="0">
                <a:latin typeface="Elephant" pitchFamily="18" charset="0"/>
              </a:rPr>
              <a:t> </a:t>
            </a:r>
            <a:r>
              <a:rPr lang="en-US" sz="1600" dirty="0" err="1" smtClean="0">
                <a:latin typeface="Elephant" pitchFamily="18" charset="0"/>
              </a:rPr>
              <a:t>fizice</a:t>
            </a:r>
            <a:r>
              <a:rPr lang="en-US" sz="1600" dirty="0" smtClean="0">
                <a:latin typeface="Elephant" pitchFamily="18" charset="0"/>
              </a:rPr>
              <a:t>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206823"/>
            <a:ext cx="4139788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 smtClean="0">
                <a:latin typeface="Elephant" pitchFamily="18" charset="0"/>
              </a:rPr>
              <a:t>Moleculele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monozaharidelor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sunt</a:t>
            </a:r>
            <a:endParaRPr lang="en-US" sz="1400" dirty="0" smtClean="0">
              <a:latin typeface="Elephant" pitchFamily="18" charset="0"/>
            </a:endParaRPr>
          </a:p>
          <a:p>
            <a:r>
              <a:rPr lang="en-US" sz="1400" dirty="0" err="1" smtClean="0">
                <a:latin typeface="Elephant" pitchFamily="18" charset="0"/>
              </a:rPr>
              <a:t>asociate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prin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legaturi</a:t>
            </a:r>
            <a:r>
              <a:rPr lang="en-US" sz="1400" dirty="0" smtClean="0">
                <a:latin typeface="Elephant" pitchFamily="18" charset="0"/>
              </a:rPr>
              <a:t> de </a:t>
            </a:r>
            <a:r>
              <a:rPr lang="en-US" sz="1400" dirty="0" err="1" smtClean="0">
                <a:latin typeface="Elephant" pitchFamily="18" charset="0"/>
              </a:rPr>
              <a:t>hidrogen</a:t>
            </a:r>
            <a:r>
              <a:rPr lang="en-US" sz="1400" dirty="0" smtClean="0">
                <a:latin typeface="Elephant" pitchFamily="18" charset="0"/>
              </a:rPr>
              <a:t>;</a:t>
            </a:r>
          </a:p>
          <a:p>
            <a:endParaRPr lang="en-US" sz="1400" dirty="0">
              <a:latin typeface="Elephant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 err="1" smtClean="0">
                <a:latin typeface="Elephant" pitchFamily="18" charset="0"/>
              </a:rPr>
              <a:t>Monozaharidele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sunt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substantele</a:t>
            </a:r>
            <a:r>
              <a:rPr lang="en-US" sz="1400" dirty="0" smtClean="0">
                <a:latin typeface="Elephant" pitchFamily="18" charset="0"/>
              </a:rPr>
              <a:t> </a:t>
            </a:r>
          </a:p>
          <a:p>
            <a:r>
              <a:rPr lang="en-US" sz="1400" dirty="0" err="1" smtClean="0">
                <a:latin typeface="Elephant" pitchFamily="18" charset="0"/>
              </a:rPr>
              <a:t>solide</a:t>
            </a:r>
            <a:r>
              <a:rPr lang="en-US" sz="1400" dirty="0" smtClean="0">
                <a:latin typeface="Elephant" pitchFamily="18" charset="0"/>
              </a:rPr>
              <a:t>, </a:t>
            </a:r>
            <a:r>
              <a:rPr lang="en-US" sz="1400" dirty="0" err="1" smtClean="0">
                <a:latin typeface="Elephant" pitchFamily="18" charset="0"/>
              </a:rPr>
              <a:t>cristalizate</a:t>
            </a:r>
            <a:r>
              <a:rPr lang="en-US" sz="1400" dirty="0" smtClean="0">
                <a:latin typeface="Elephant" pitchFamily="18" charset="0"/>
              </a:rPr>
              <a:t>, </a:t>
            </a:r>
            <a:r>
              <a:rPr lang="en-US" sz="1400" dirty="0" err="1" smtClean="0">
                <a:latin typeface="Elephant" pitchFamily="18" charset="0"/>
              </a:rPr>
              <a:t>albe</a:t>
            </a:r>
            <a:r>
              <a:rPr lang="en-US" sz="1400" dirty="0" smtClean="0">
                <a:latin typeface="Elephant" pitchFamily="18" charset="0"/>
              </a:rPr>
              <a:t>, care la </a:t>
            </a:r>
            <a:r>
              <a:rPr lang="en-US" sz="1400" dirty="0" err="1" smtClean="0">
                <a:latin typeface="Elephant" pitchFamily="18" charset="0"/>
              </a:rPr>
              <a:t>incalzire</a:t>
            </a:r>
            <a:endParaRPr lang="en-US" sz="1400" dirty="0" smtClean="0">
              <a:latin typeface="Elephant" pitchFamily="18" charset="0"/>
            </a:endParaRPr>
          </a:p>
          <a:p>
            <a:r>
              <a:rPr lang="en-US" sz="1400" dirty="0" err="1" smtClean="0">
                <a:latin typeface="Elephant" pitchFamily="18" charset="0"/>
              </a:rPr>
              <a:t>avansata</a:t>
            </a:r>
            <a:r>
              <a:rPr lang="en-US" sz="1400" dirty="0" smtClean="0">
                <a:latin typeface="Elephant" pitchFamily="18" charset="0"/>
              </a:rPr>
              <a:t> se </a:t>
            </a:r>
            <a:r>
              <a:rPr lang="en-US" sz="1400" dirty="0" err="1" smtClean="0">
                <a:latin typeface="Elephant" pitchFamily="18" charset="0"/>
              </a:rPr>
              <a:t>descompun</a:t>
            </a:r>
            <a:r>
              <a:rPr lang="en-US" sz="1400" dirty="0" smtClean="0">
                <a:latin typeface="Elephant" pitchFamily="18" charset="0"/>
              </a:rPr>
              <a:t> in carbon </a:t>
            </a:r>
            <a:r>
              <a:rPr lang="en-US" sz="1400" dirty="0" err="1" smtClean="0">
                <a:latin typeface="Elephant" pitchFamily="18" charset="0"/>
              </a:rPr>
              <a:t>si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apa</a:t>
            </a:r>
            <a:r>
              <a:rPr lang="en-US" sz="1400" dirty="0" smtClean="0">
                <a:latin typeface="Elephant" pitchFamily="18" charset="0"/>
              </a:rPr>
              <a:t>;</a:t>
            </a:r>
          </a:p>
          <a:p>
            <a:endParaRPr lang="en-US" sz="1400" dirty="0" smtClean="0">
              <a:latin typeface="Elephant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 err="1" smtClean="0">
                <a:latin typeface="Elephant" pitchFamily="18" charset="0"/>
              </a:rPr>
              <a:t>Sunt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solubile</a:t>
            </a:r>
            <a:r>
              <a:rPr lang="en-US" sz="1400" dirty="0" smtClean="0">
                <a:latin typeface="Elephant" pitchFamily="18" charset="0"/>
              </a:rPr>
              <a:t> in </a:t>
            </a:r>
            <a:r>
              <a:rPr lang="en-US" sz="1400" dirty="0" err="1" smtClean="0">
                <a:latin typeface="Elephant" pitchFamily="18" charset="0"/>
              </a:rPr>
              <a:t>apa</a:t>
            </a:r>
            <a:r>
              <a:rPr lang="en-US" sz="1400" dirty="0" smtClean="0">
                <a:latin typeface="Elephant" pitchFamily="18" charset="0"/>
              </a:rPr>
              <a:t>, </a:t>
            </a:r>
            <a:r>
              <a:rPr lang="en-US" sz="1400" dirty="0" err="1" smtClean="0">
                <a:latin typeface="Elephant" pitchFamily="18" charset="0"/>
              </a:rPr>
              <a:t>putin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solubile</a:t>
            </a:r>
            <a:r>
              <a:rPr lang="en-US" sz="1400" dirty="0" smtClean="0">
                <a:latin typeface="Elephant" pitchFamily="18" charset="0"/>
              </a:rPr>
              <a:t> in</a:t>
            </a:r>
          </a:p>
          <a:p>
            <a:r>
              <a:rPr lang="en-US" sz="1400" dirty="0" err="1" smtClean="0">
                <a:latin typeface="Elephant" pitchFamily="18" charset="0"/>
              </a:rPr>
              <a:t>alcool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greu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solubile</a:t>
            </a:r>
            <a:r>
              <a:rPr lang="en-US" sz="1400" dirty="0" smtClean="0">
                <a:latin typeface="Elephant" pitchFamily="18" charset="0"/>
              </a:rPr>
              <a:t> in </a:t>
            </a:r>
            <a:r>
              <a:rPr lang="en-US" sz="1400" dirty="0" err="1" smtClean="0">
                <a:latin typeface="Elephant" pitchFamily="18" charset="0"/>
              </a:rPr>
              <a:t>solventi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organici</a:t>
            </a:r>
            <a:r>
              <a:rPr lang="en-US" sz="1400" dirty="0" smtClean="0">
                <a:latin typeface="Elephant" pitchFamily="18" charset="0"/>
              </a:rPr>
              <a:t>;</a:t>
            </a:r>
          </a:p>
          <a:p>
            <a:endParaRPr lang="en-US" sz="1400" dirty="0" smtClean="0">
              <a:latin typeface="Elephant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 smtClean="0">
                <a:latin typeface="Elephant" pitchFamily="18" charset="0"/>
              </a:rPr>
              <a:t>Au gust </a:t>
            </a:r>
            <a:r>
              <a:rPr lang="en-US" sz="1400" dirty="0" err="1" smtClean="0">
                <a:latin typeface="Elephant" pitchFamily="18" charset="0"/>
              </a:rPr>
              <a:t>dulce</a:t>
            </a:r>
            <a:r>
              <a:rPr lang="en-US" sz="1400" dirty="0" smtClean="0">
                <a:latin typeface="Elephant" pitchFamily="18" charset="0"/>
              </a:rPr>
              <a:t>, </a:t>
            </a:r>
            <a:r>
              <a:rPr lang="en-US" sz="1400" dirty="0" err="1" smtClean="0">
                <a:latin typeface="Elephant" pitchFamily="18" charset="0"/>
              </a:rPr>
              <a:t>proprietate</a:t>
            </a:r>
            <a:r>
              <a:rPr lang="en-US" sz="1400" dirty="0" smtClean="0">
                <a:latin typeface="Elephant" pitchFamily="18" charset="0"/>
              </a:rPr>
              <a:t> care se</a:t>
            </a:r>
          </a:p>
          <a:p>
            <a:r>
              <a:rPr lang="en-US" sz="1400" dirty="0" err="1" smtClean="0">
                <a:latin typeface="Elephant" pitchFamily="18" charset="0"/>
              </a:rPr>
              <a:t>intensifica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odata</a:t>
            </a:r>
            <a:r>
              <a:rPr lang="en-US" sz="1400" dirty="0" smtClean="0">
                <a:latin typeface="Elephant" pitchFamily="18" charset="0"/>
              </a:rPr>
              <a:t> cu </a:t>
            </a:r>
            <a:r>
              <a:rPr lang="en-US" sz="1400" dirty="0" err="1" smtClean="0">
                <a:latin typeface="Elephant" pitchFamily="18" charset="0"/>
              </a:rPr>
              <a:t>cresterea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numarului</a:t>
            </a:r>
            <a:endParaRPr lang="en-US" sz="1400" dirty="0" smtClean="0">
              <a:latin typeface="Elephant" pitchFamily="18" charset="0"/>
            </a:endParaRPr>
          </a:p>
          <a:p>
            <a:r>
              <a:rPr lang="en-US" sz="1400" dirty="0" smtClean="0">
                <a:latin typeface="Elephant" pitchFamily="18" charset="0"/>
              </a:rPr>
              <a:t>de </a:t>
            </a:r>
            <a:r>
              <a:rPr lang="en-US" sz="1400" dirty="0" err="1" smtClean="0">
                <a:latin typeface="Elephant" pitchFamily="18" charset="0"/>
              </a:rPr>
              <a:t>grupe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hidroxil</a:t>
            </a:r>
            <a:r>
              <a:rPr lang="en-US" sz="1400" dirty="0" smtClean="0">
                <a:latin typeface="Elephant" pitchFamily="18" charset="0"/>
              </a:rPr>
              <a:t> din </a:t>
            </a:r>
            <a:r>
              <a:rPr lang="en-US" sz="1400" dirty="0" err="1" smtClean="0">
                <a:latin typeface="Elephant" pitchFamily="18" charset="0"/>
              </a:rPr>
              <a:t>molecula</a:t>
            </a:r>
            <a:r>
              <a:rPr lang="en-US" sz="1400" dirty="0" smtClean="0">
                <a:latin typeface="Elephant" pitchFamily="18" charset="0"/>
              </a:rPr>
              <a:t>. </a:t>
            </a:r>
            <a:r>
              <a:rPr lang="en-US" sz="1400" dirty="0" err="1" smtClean="0">
                <a:latin typeface="Elephant" pitchFamily="18" charset="0"/>
              </a:rPr>
              <a:t>Glucoza</a:t>
            </a:r>
            <a:r>
              <a:rPr lang="en-US" sz="1400" dirty="0" smtClean="0">
                <a:latin typeface="Elephant" pitchFamily="18" charset="0"/>
              </a:rPr>
              <a:t> </a:t>
            </a:r>
          </a:p>
          <a:p>
            <a:r>
              <a:rPr lang="en-US" sz="1400" dirty="0" smtClean="0">
                <a:latin typeface="Elephant" pitchFamily="18" charset="0"/>
              </a:rPr>
              <a:t>are 75% din </a:t>
            </a:r>
            <a:r>
              <a:rPr lang="en-US" sz="1400" dirty="0" err="1" smtClean="0">
                <a:latin typeface="Elephant" pitchFamily="18" charset="0"/>
              </a:rPr>
              <a:t>puterea</a:t>
            </a:r>
            <a:r>
              <a:rPr lang="en-US" sz="1400" dirty="0" smtClean="0">
                <a:latin typeface="Elephant" pitchFamily="18" charset="0"/>
              </a:rPr>
              <a:t> de </a:t>
            </a:r>
            <a:r>
              <a:rPr lang="en-US" sz="1400" dirty="0" err="1" smtClean="0">
                <a:latin typeface="Elephant" pitchFamily="18" charset="0"/>
              </a:rPr>
              <a:t>indulcire</a:t>
            </a:r>
            <a:r>
              <a:rPr lang="en-US" sz="1400" dirty="0" smtClean="0">
                <a:latin typeface="Elephant" pitchFamily="18" charset="0"/>
              </a:rPr>
              <a:t> a </a:t>
            </a:r>
            <a:r>
              <a:rPr lang="en-US" sz="1400" dirty="0" err="1" smtClean="0">
                <a:latin typeface="Elephant" pitchFamily="18" charset="0"/>
              </a:rPr>
              <a:t>fructozei</a:t>
            </a:r>
            <a:r>
              <a:rPr lang="en-US" sz="1400" dirty="0" smtClean="0">
                <a:latin typeface="Elephant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28759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618997"/>
            <a:ext cx="24706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1600" dirty="0" err="1" smtClean="0">
                <a:latin typeface="Elephant" pitchFamily="18" charset="0"/>
              </a:rPr>
              <a:t>Proprietati</a:t>
            </a:r>
            <a:r>
              <a:rPr lang="en-US" sz="1600" dirty="0" smtClean="0">
                <a:latin typeface="Elephant" pitchFamily="18" charset="0"/>
              </a:rPr>
              <a:t> </a:t>
            </a:r>
            <a:r>
              <a:rPr lang="en-US" sz="1600" dirty="0" err="1" smtClean="0">
                <a:latin typeface="Elephant" pitchFamily="18" charset="0"/>
              </a:rPr>
              <a:t>chimice</a:t>
            </a:r>
            <a:endParaRPr lang="en-US" sz="1600" dirty="0" smtClean="0">
              <a:latin typeface="Elephant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2994" y="137011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Elephant" pitchFamily="18" charset="0"/>
              </a:rPr>
              <a:t>…</a:t>
            </a:r>
            <a:endParaRPr lang="en-US" sz="1400" dirty="0">
              <a:latin typeface="Elephan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344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5914" y="576943"/>
            <a:ext cx="25154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 smtClean="0">
                <a:latin typeface="Elephant" pitchFamily="18" charset="0"/>
              </a:rPr>
              <a:t>Dizaharidele</a:t>
            </a:r>
            <a:endParaRPr lang="en-US" sz="2800" dirty="0" smtClean="0">
              <a:latin typeface="Elephant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000" y="1293911"/>
            <a:ext cx="4035785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 smtClean="0">
                <a:latin typeface="Elephant" pitchFamily="18" charset="0"/>
              </a:rPr>
              <a:t>Molecula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unei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dizaharide</a:t>
            </a:r>
            <a:r>
              <a:rPr lang="en-US" sz="1400" dirty="0" smtClean="0">
                <a:latin typeface="Elephant" pitchFamily="18" charset="0"/>
              </a:rPr>
              <a:t> se </a:t>
            </a:r>
            <a:r>
              <a:rPr lang="en-US" sz="1400" dirty="0" err="1" smtClean="0">
                <a:latin typeface="Elephant" pitchFamily="18" charset="0"/>
              </a:rPr>
              <a:t>obtine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 smtClean="0">
                <a:latin typeface="Elephant" pitchFamily="18" charset="0"/>
              </a:rPr>
              <a:t>teoretic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prin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eliminarea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unei</a:t>
            </a:r>
            <a:r>
              <a:rPr lang="en-US" sz="1400" dirty="0" smtClean="0">
                <a:latin typeface="Elephant" pitchFamily="18" charset="0"/>
              </a:rPr>
              <a:t> molecule de</a:t>
            </a:r>
          </a:p>
          <a:p>
            <a:r>
              <a:rPr lang="en-US" sz="1400" dirty="0" err="1" smtClean="0">
                <a:latin typeface="Elephant" pitchFamily="18" charset="0"/>
              </a:rPr>
              <a:t>apa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intre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doua</a:t>
            </a:r>
            <a:r>
              <a:rPr lang="en-US" sz="1400" dirty="0" smtClean="0">
                <a:latin typeface="Elephant" pitchFamily="18" charset="0"/>
              </a:rPr>
              <a:t> molecule de </a:t>
            </a:r>
            <a:r>
              <a:rPr lang="en-US" sz="1400" dirty="0" err="1" smtClean="0">
                <a:latin typeface="Elephant" pitchFamily="18" charset="0"/>
              </a:rPr>
              <a:t>monozaharide</a:t>
            </a:r>
            <a:endParaRPr lang="en-US" sz="1400" dirty="0" smtClean="0">
              <a:latin typeface="Elephant" pitchFamily="18" charset="0"/>
            </a:endParaRPr>
          </a:p>
          <a:p>
            <a:r>
              <a:rPr lang="en-US" sz="1400" dirty="0" err="1" smtClean="0">
                <a:latin typeface="Elephant" pitchFamily="18" charset="0"/>
              </a:rPr>
              <a:t>identice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sau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diferite</a:t>
            </a:r>
            <a:r>
              <a:rPr lang="en-US" sz="1400" dirty="0" smtClean="0">
                <a:latin typeface="Elephant" pitchFamily="18" charset="0"/>
              </a:rPr>
              <a:t>. </a:t>
            </a:r>
            <a:r>
              <a:rPr lang="en-US" sz="1400" dirty="0" err="1" smtClean="0">
                <a:latin typeface="Elephant" pitchFamily="18" charset="0"/>
              </a:rPr>
              <a:t>Eliminarea</a:t>
            </a:r>
            <a:r>
              <a:rPr lang="en-US" sz="1400" dirty="0" smtClean="0">
                <a:latin typeface="Elephant" pitchFamily="18" charset="0"/>
              </a:rPr>
              <a:t> se </a:t>
            </a:r>
            <a:r>
              <a:rPr lang="en-US" sz="1400" dirty="0" err="1" smtClean="0">
                <a:latin typeface="Elephant" pitchFamily="18" charset="0"/>
              </a:rPr>
              <a:t>poate</a:t>
            </a:r>
            <a:endParaRPr lang="en-US" sz="1400" dirty="0" smtClean="0">
              <a:latin typeface="Elephant" pitchFamily="18" charset="0"/>
            </a:endParaRPr>
          </a:p>
          <a:p>
            <a:r>
              <a:rPr lang="en-US" sz="1400" dirty="0" smtClean="0">
                <a:latin typeface="Elephant" pitchFamily="18" charset="0"/>
              </a:rPr>
              <a:t>face in </a:t>
            </a:r>
            <a:r>
              <a:rPr lang="en-US" sz="1400" dirty="0" err="1" smtClean="0">
                <a:latin typeface="Elephant" pitchFamily="18" charset="0"/>
              </a:rPr>
              <a:t>doua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moduri</a:t>
            </a:r>
            <a:r>
              <a:rPr lang="en-US" sz="1400" dirty="0" smtClean="0">
                <a:latin typeface="Elephant" pitchFamily="18" charset="0"/>
              </a:rPr>
              <a:t>.</a:t>
            </a:r>
          </a:p>
          <a:p>
            <a:endParaRPr lang="en-US" sz="1400" dirty="0">
              <a:latin typeface="Elephant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 err="1" smtClean="0">
                <a:latin typeface="Elephant" pitchFamily="18" charset="0"/>
              </a:rPr>
              <a:t>Daca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eliminarea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apei</a:t>
            </a:r>
            <a:r>
              <a:rPr lang="en-US" sz="1400" dirty="0" smtClean="0">
                <a:latin typeface="Elephant" pitchFamily="18" charset="0"/>
              </a:rPr>
              <a:t> se </a:t>
            </a:r>
            <a:r>
              <a:rPr lang="en-US" sz="1400" dirty="0" err="1" smtClean="0">
                <a:latin typeface="Elephant" pitchFamily="18" charset="0"/>
              </a:rPr>
              <a:t>realizeaza</a:t>
            </a:r>
            <a:endParaRPr lang="en-US" sz="1400" dirty="0" smtClean="0">
              <a:latin typeface="Elephant" pitchFamily="18" charset="0"/>
            </a:endParaRPr>
          </a:p>
          <a:p>
            <a:r>
              <a:rPr lang="en-US" sz="1400" dirty="0" err="1" smtClean="0">
                <a:latin typeface="Elephant" pitchFamily="18" charset="0"/>
              </a:rPr>
              <a:t>intre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hidroxidul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glicozidic</a:t>
            </a:r>
            <a:r>
              <a:rPr lang="en-US" sz="1400" dirty="0" smtClean="0">
                <a:latin typeface="Elephant" pitchFamily="18" charset="0"/>
              </a:rPr>
              <a:t> de la o </a:t>
            </a:r>
            <a:r>
              <a:rPr lang="en-US" sz="1400" dirty="0" err="1" smtClean="0">
                <a:latin typeface="Elephant" pitchFamily="18" charset="0"/>
              </a:rPr>
              <a:t>molecula</a:t>
            </a:r>
            <a:endParaRPr lang="en-US" sz="1400" dirty="0" smtClean="0">
              <a:latin typeface="Elephant" pitchFamily="18" charset="0"/>
            </a:endParaRPr>
          </a:p>
          <a:p>
            <a:r>
              <a:rPr lang="en-US" sz="1400" dirty="0" smtClean="0">
                <a:latin typeface="Elephant" pitchFamily="18" charset="0"/>
              </a:rPr>
              <a:t>de </a:t>
            </a:r>
            <a:r>
              <a:rPr lang="en-US" sz="1400" dirty="0" err="1" smtClean="0">
                <a:latin typeface="Elephant" pitchFamily="18" charset="0"/>
              </a:rPr>
              <a:t>monozaharida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si</a:t>
            </a:r>
            <a:r>
              <a:rPr lang="en-US" sz="1400" dirty="0" smtClean="0">
                <a:latin typeface="Elephant" pitchFamily="18" charset="0"/>
              </a:rPr>
              <a:t> o </a:t>
            </a:r>
            <a:r>
              <a:rPr lang="en-US" sz="1400" dirty="0" err="1" smtClean="0">
                <a:latin typeface="Elephant" pitchFamily="18" charset="0"/>
              </a:rPr>
              <a:t>grupa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hidroxil</a:t>
            </a:r>
            <a:r>
              <a:rPr lang="en-US" sz="1400" dirty="0" smtClean="0">
                <a:latin typeface="Elephant" pitchFamily="18" charset="0"/>
              </a:rPr>
              <a:t>, de </a:t>
            </a:r>
          </a:p>
          <a:p>
            <a:r>
              <a:rPr lang="en-US" sz="1400" dirty="0" err="1" smtClean="0">
                <a:latin typeface="Elephant" pitchFamily="18" charset="0"/>
              </a:rPr>
              <a:t>obicei</a:t>
            </a:r>
            <a:r>
              <a:rPr lang="en-US" sz="1400" dirty="0" smtClean="0">
                <a:latin typeface="Elephant" pitchFamily="18" charset="0"/>
              </a:rPr>
              <a:t> din </a:t>
            </a:r>
            <a:r>
              <a:rPr lang="en-US" sz="1400" dirty="0" err="1" smtClean="0">
                <a:latin typeface="Elephant" pitchFamily="18" charset="0"/>
              </a:rPr>
              <a:t>pozitia</a:t>
            </a:r>
            <a:r>
              <a:rPr lang="en-US" sz="1400" dirty="0" smtClean="0">
                <a:latin typeface="Elephant" pitchFamily="18" charset="0"/>
              </a:rPr>
              <a:t> 4, de la </a:t>
            </a:r>
            <a:r>
              <a:rPr lang="en-US" sz="1400" dirty="0" err="1" smtClean="0">
                <a:latin typeface="Elephant" pitchFamily="18" charset="0"/>
              </a:rPr>
              <a:t>cealalta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molecula</a:t>
            </a:r>
            <a:endParaRPr lang="en-US" sz="1400" dirty="0" smtClean="0">
              <a:latin typeface="Elephant" pitchFamily="18" charset="0"/>
            </a:endParaRPr>
          </a:p>
          <a:p>
            <a:r>
              <a:rPr lang="en-US" sz="1400" dirty="0" smtClean="0">
                <a:latin typeface="Elephant" pitchFamily="18" charset="0"/>
              </a:rPr>
              <a:t>de </a:t>
            </a:r>
            <a:r>
              <a:rPr lang="en-US" sz="1400" dirty="0" err="1" smtClean="0">
                <a:latin typeface="Elephant" pitchFamily="18" charset="0"/>
              </a:rPr>
              <a:t>monozaharida</a:t>
            </a:r>
            <a:r>
              <a:rPr lang="en-US" sz="1400" dirty="0" smtClean="0">
                <a:latin typeface="Elephant" pitchFamily="18" charset="0"/>
              </a:rPr>
              <a:t>, </a:t>
            </a:r>
            <a:r>
              <a:rPr lang="en-US" sz="1400" dirty="0" err="1" smtClean="0">
                <a:latin typeface="Elephant" pitchFamily="18" charset="0"/>
              </a:rPr>
              <a:t>legatura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eterica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smtClean="0">
                <a:latin typeface="Elephant" pitchFamily="18" charset="0"/>
              </a:rPr>
              <a:t>(C-O-C)</a:t>
            </a:r>
          </a:p>
          <a:p>
            <a:r>
              <a:rPr lang="en-US" sz="1400" dirty="0" smtClean="0">
                <a:latin typeface="Elephant" pitchFamily="18" charset="0"/>
              </a:rPr>
              <a:t>se </a:t>
            </a:r>
            <a:r>
              <a:rPr lang="en-US" sz="1400" dirty="0" err="1" smtClean="0">
                <a:latin typeface="Elephant" pitchFamily="18" charset="0"/>
              </a:rPr>
              <a:t>numeste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legatura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monocarbonilica</a:t>
            </a:r>
            <a:r>
              <a:rPr lang="en-US" sz="1400" dirty="0" smtClean="0">
                <a:latin typeface="Elephant" pitchFamily="18" charset="0"/>
              </a:rPr>
              <a:t>.</a:t>
            </a:r>
          </a:p>
          <a:p>
            <a:endParaRPr lang="en-US" sz="1400" dirty="0">
              <a:latin typeface="Elephant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 err="1" smtClean="0">
                <a:latin typeface="Elephant" pitchFamily="18" charset="0"/>
              </a:rPr>
              <a:t>Daca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hidroxilul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glicozidic</a:t>
            </a:r>
            <a:r>
              <a:rPr lang="en-US" sz="1400" dirty="0" smtClean="0">
                <a:latin typeface="Elephant" pitchFamily="18" charset="0"/>
              </a:rPr>
              <a:t> care </a:t>
            </a:r>
            <a:r>
              <a:rPr lang="en-US" sz="1400" dirty="0" err="1" smtClean="0">
                <a:latin typeface="Elephant" pitchFamily="18" charset="0"/>
              </a:rPr>
              <a:t>participa</a:t>
            </a:r>
            <a:endParaRPr lang="en-US" sz="1400" dirty="0" smtClean="0">
              <a:latin typeface="Elephant" pitchFamily="18" charset="0"/>
            </a:endParaRPr>
          </a:p>
          <a:p>
            <a:r>
              <a:rPr lang="en-US" sz="1400" dirty="0" smtClean="0">
                <a:latin typeface="Elephant" pitchFamily="18" charset="0"/>
              </a:rPr>
              <a:t>la </a:t>
            </a:r>
            <a:r>
              <a:rPr lang="en-US" sz="1400" dirty="0" err="1" smtClean="0">
                <a:latin typeface="Elephant" pitchFamily="18" charset="0"/>
              </a:rPr>
              <a:t>condensare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provine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dintr</a:t>
            </a:r>
            <a:r>
              <a:rPr lang="en-US" sz="1400" dirty="0" smtClean="0">
                <a:latin typeface="Elephant" pitchFamily="18" charset="0"/>
              </a:rPr>
              <a:t>-un </a:t>
            </a:r>
            <a:r>
              <a:rPr lang="en-US" sz="1400" dirty="0" err="1" smtClean="0">
                <a:latin typeface="Elephant" pitchFamily="18" charset="0"/>
              </a:rPr>
              <a:t>anomer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l-GR" sz="1400" dirty="0" smtClean="0">
                <a:latin typeface="Times New Roman"/>
                <a:cs typeface="Times New Roman"/>
              </a:rPr>
              <a:t>α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,</a:t>
            </a:r>
          </a:p>
          <a:p>
            <a:r>
              <a:rPr lang="en-US" sz="1400" dirty="0" err="1" smtClean="0">
                <a:latin typeface="Elephant" pitchFamily="18" charset="0"/>
                <a:cs typeface="Times New Roman"/>
              </a:rPr>
              <a:t>legatura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eterica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este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l-GR" sz="1400" dirty="0" smtClean="0">
                <a:latin typeface="Times New Roman"/>
                <a:cs typeface="Times New Roman"/>
              </a:rPr>
              <a:t>α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-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glicozidica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. (A)</a:t>
            </a:r>
          </a:p>
          <a:p>
            <a:endParaRPr lang="en-US" sz="1400" dirty="0">
              <a:latin typeface="Elephant" pitchFamily="18" charset="0"/>
              <a:cs typeface="Times New Roman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 err="1" smtClean="0">
                <a:latin typeface="Elephant" pitchFamily="18" charset="0"/>
                <a:cs typeface="Times New Roman"/>
              </a:rPr>
              <a:t>Daca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hidroxilul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care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participa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la </a:t>
            </a:r>
          </a:p>
          <a:p>
            <a:r>
              <a:rPr lang="en-US" sz="1400" dirty="0" err="1" smtClean="0">
                <a:latin typeface="Elephant" pitchFamily="18" charset="0"/>
                <a:cs typeface="Times New Roman"/>
              </a:rPr>
              <a:t>condensare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provine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dintr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-un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anomer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l-GR" sz="1400" dirty="0" smtClean="0">
                <a:latin typeface="Times New Roman"/>
                <a:cs typeface="Times New Roman"/>
              </a:rPr>
              <a:t>β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, </a:t>
            </a:r>
          </a:p>
          <a:p>
            <a:r>
              <a:rPr lang="en-US" sz="1400" dirty="0" err="1" smtClean="0">
                <a:latin typeface="Elephant" pitchFamily="18" charset="0"/>
                <a:cs typeface="Times New Roman"/>
              </a:rPr>
              <a:t>legatura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eterica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este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l-GR" sz="1400" dirty="0" smtClean="0">
                <a:latin typeface="Times New Roman"/>
                <a:cs typeface="Times New Roman"/>
              </a:rPr>
              <a:t>β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-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glicozidica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.</a:t>
            </a:r>
            <a:r>
              <a:rPr lang="en-US" sz="1400" dirty="0" smtClean="0">
                <a:latin typeface="Elephant" pitchFamily="18" charset="0"/>
              </a:rPr>
              <a:t> (B)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7749" y="772853"/>
            <a:ext cx="2963352" cy="2721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962400"/>
            <a:ext cx="3905250" cy="1490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7493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7685" y="609600"/>
            <a:ext cx="395935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 smtClean="0">
                <a:latin typeface="Elephant" pitchFamily="18" charset="0"/>
              </a:rPr>
              <a:t>Daca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eliminarea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apei</a:t>
            </a:r>
            <a:r>
              <a:rPr lang="en-US" sz="1400" dirty="0" smtClean="0">
                <a:latin typeface="Elephant" pitchFamily="18" charset="0"/>
              </a:rPr>
              <a:t> are </a:t>
            </a:r>
            <a:r>
              <a:rPr lang="en-US" sz="1400" dirty="0" err="1" smtClean="0">
                <a:latin typeface="Elephant" pitchFamily="18" charset="0"/>
              </a:rPr>
              <a:t>loc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intre</a:t>
            </a:r>
            <a:endParaRPr lang="en-US" sz="1400" dirty="0" smtClean="0">
              <a:latin typeface="Elephant" pitchFamily="18" charset="0"/>
            </a:endParaRPr>
          </a:p>
          <a:p>
            <a:r>
              <a:rPr lang="en-US" sz="1400" dirty="0" err="1" smtClean="0">
                <a:latin typeface="Elephant" pitchFamily="18" charset="0"/>
              </a:rPr>
              <a:t>grupele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hidroxil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glicozodice</a:t>
            </a:r>
            <a:r>
              <a:rPr lang="en-US" sz="1400" dirty="0" smtClean="0">
                <a:latin typeface="Elephant" pitchFamily="18" charset="0"/>
              </a:rPr>
              <a:t> ale </a:t>
            </a:r>
            <a:r>
              <a:rPr lang="en-US" sz="1400" dirty="0" err="1" smtClean="0">
                <a:latin typeface="Elephant" pitchFamily="18" charset="0"/>
              </a:rPr>
              <a:t>celor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doua</a:t>
            </a:r>
            <a:endParaRPr lang="en-US" sz="1400" dirty="0" smtClean="0">
              <a:latin typeface="Elephant" pitchFamily="18" charset="0"/>
            </a:endParaRPr>
          </a:p>
          <a:p>
            <a:r>
              <a:rPr lang="en-US" sz="1400" dirty="0" err="1" smtClean="0">
                <a:latin typeface="Elephant" pitchFamily="18" charset="0"/>
              </a:rPr>
              <a:t>monozaharide</a:t>
            </a:r>
            <a:r>
              <a:rPr lang="en-US" sz="1400" dirty="0" smtClean="0">
                <a:latin typeface="Elephant" pitchFamily="18" charset="0"/>
              </a:rPr>
              <a:t>, </a:t>
            </a:r>
            <a:r>
              <a:rPr lang="en-US" sz="1400" dirty="0" err="1" smtClean="0">
                <a:latin typeface="Elephant" pitchFamily="18" charset="0"/>
              </a:rPr>
              <a:t>legatura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eterica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formata</a:t>
            </a:r>
            <a:r>
              <a:rPr lang="en-US" sz="1400" dirty="0" smtClean="0">
                <a:latin typeface="Elephant" pitchFamily="18" charset="0"/>
              </a:rPr>
              <a:t> se</a:t>
            </a:r>
          </a:p>
          <a:p>
            <a:r>
              <a:rPr lang="en-US" sz="1400" dirty="0" err="1" smtClean="0">
                <a:latin typeface="Elephant" pitchFamily="18" charset="0"/>
              </a:rPr>
              <a:t>numeste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legatura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dicarbonilica</a:t>
            </a:r>
            <a:r>
              <a:rPr lang="en-US" sz="1400" dirty="0" smtClean="0">
                <a:latin typeface="Elephant" pitchFamily="18" charset="0"/>
              </a:rPr>
              <a:t> (</a:t>
            </a:r>
            <a:r>
              <a:rPr lang="en-US" sz="1400" dirty="0" err="1" smtClean="0">
                <a:latin typeface="Elephant" pitchFamily="18" charset="0"/>
              </a:rPr>
              <a:t>cazul</a:t>
            </a:r>
            <a:r>
              <a:rPr lang="en-US" sz="1400" dirty="0" smtClean="0">
                <a:latin typeface="Elephant" pitchFamily="18" charset="0"/>
              </a:rPr>
              <a:t> C).</a:t>
            </a:r>
          </a:p>
          <a:p>
            <a:r>
              <a:rPr lang="en-US" sz="1400" dirty="0" smtClean="0">
                <a:latin typeface="Elephant" pitchFamily="18" charset="0"/>
              </a:rPr>
              <a:t>In </a:t>
            </a:r>
            <a:r>
              <a:rPr lang="en-US" sz="1400" dirty="0" err="1" smtClean="0">
                <a:latin typeface="Elephant" pitchFamily="18" charset="0"/>
              </a:rPr>
              <a:t>molecula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zaharozei</a:t>
            </a:r>
            <a:r>
              <a:rPr lang="en-US" sz="1400" dirty="0" smtClean="0">
                <a:latin typeface="Elephant" pitchFamily="18" charset="0"/>
              </a:rPr>
              <a:t>, </a:t>
            </a:r>
            <a:r>
              <a:rPr lang="en-US" sz="1400" dirty="0" err="1" smtClean="0">
                <a:latin typeface="Elephant" pitchFamily="18" charset="0"/>
              </a:rPr>
              <a:t>unitatea</a:t>
            </a:r>
            <a:r>
              <a:rPr lang="en-US" sz="1400" dirty="0" smtClean="0">
                <a:latin typeface="Elephant" pitchFamily="18" charset="0"/>
              </a:rPr>
              <a:t> de </a:t>
            </a:r>
            <a:r>
              <a:rPr lang="en-US" sz="1400" dirty="0" err="1" smtClean="0">
                <a:latin typeface="Elephant" pitchFamily="18" charset="0"/>
              </a:rPr>
              <a:t>glucoza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 smtClean="0">
                <a:latin typeface="Elephant" pitchFamily="18" charset="0"/>
              </a:rPr>
              <a:t>si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unitatea</a:t>
            </a:r>
            <a:r>
              <a:rPr lang="en-US" sz="1400" dirty="0" smtClean="0">
                <a:latin typeface="Elephant" pitchFamily="18" charset="0"/>
              </a:rPr>
              <a:t> de </a:t>
            </a:r>
            <a:r>
              <a:rPr lang="en-US" sz="1400" dirty="0" err="1" smtClean="0">
                <a:latin typeface="Elephant" pitchFamily="18" charset="0"/>
              </a:rPr>
              <a:t>fructoza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sunt</a:t>
            </a:r>
            <a:r>
              <a:rPr lang="en-US" sz="1400" dirty="0" smtClean="0">
                <a:latin typeface="Elephant" pitchFamily="18" charset="0"/>
              </a:rPr>
              <a:t> unite </a:t>
            </a:r>
            <a:r>
              <a:rPr lang="en-US" sz="1400" dirty="0" err="1" smtClean="0">
                <a:latin typeface="Elephant" pitchFamily="18" charset="0"/>
              </a:rPr>
              <a:t>printr</a:t>
            </a:r>
            <a:r>
              <a:rPr lang="en-US" sz="1400" dirty="0" smtClean="0">
                <a:latin typeface="Elephant" pitchFamily="18" charset="0"/>
              </a:rPr>
              <a:t>-o</a:t>
            </a:r>
          </a:p>
          <a:p>
            <a:r>
              <a:rPr lang="en-US" sz="1400" dirty="0" err="1" smtClean="0">
                <a:latin typeface="Elephant" pitchFamily="18" charset="0"/>
              </a:rPr>
              <a:t>legatura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dicarbonilica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l-GR" sz="1400" dirty="0" smtClean="0">
                <a:latin typeface="Times New Roman"/>
                <a:cs typeface="Times New Roman"/>
              </a:rPr>
              <a:t>α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-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glicozidica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din</a:t>
            </a:r>
          </a:p>
          <a:p>
            <a:r>
              <a:rPr lang="en-US" sz="1400" dirty="0" err="1" smtClean="0">
                <a:latin typeface="Elephant" pitchFamily="18" charset="0"/>
                <a:cs typeface="Times New Roman"/>
              </a:rPr>
              <a:t>partea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glucozei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si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l-GR" sz="1400" dirty="0">
                <a:latin typeface="Times New Roman"/>
                <a:cs typeface="Times New Roman"/>
              </a:rPr>
              <a:t>β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-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glicozidica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din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partea</a:t>
            </a:r>
            <a:endParaRPr lang="en-US" sz="1400" dirty="0">
              <a:latin typeface="Elephant" pitchFamily="18" charset="0"/>
              <a:cs typeface="Times New Roman"/>
            </a:endParaRPr>
          </a:p>
          <a:p>
            <a:r>
              <a:rPr lang="en-US" sz="1400" dirty="0" err="1" smtClean="0">
                <a:latin typeface="Elephant" pitchFamily="18" charset="0"/>
                <a:cs typeface="Times New Roman"/>
              </a:rPr>
              <a:t>fructozei</a:t>
            </a:r>
            <a:endParaRPr lang="en-US" sz="1400" dirty="0" smtClean="0">
              <a:latin typeface="Elephant" pitchFamily="18" charset="0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955" y="2895600"/>
            <a:ext cx="3634813" cy="2478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029200" y="533400"/>
            <a:ext cx="13356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u="sng" dirty="0" err="1" smtClean="0">
                <a:latin typeface="Elephant" pitchFamily="18" charset="0"/>
              </a:rPr>
              <a:t>Proprietati</a:t>
            </a:r>
            <a:endParaRPr lang="en-US" sz="1600" u="sng" dirty="0" smtClean="0">
              <a:latin typeface="Elephant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76800" y="1295399"/>
            <a:ext cx="4253729" cy="4185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 smtClean="0">
                <a:latin typeface="Elephant" pitchFamily="18" charset="0"/>
              </a:rPr>
              <a:t>Proprietatile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dizaharidelor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sunt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smtClean="0">
                <a:latin typeface="Elephant" pitchFamily="18" charset="0"/>
              </a:rPr>
              <a:t>determinate de </a:t>
            </a:r>
            <a:r>
              <a:rPr lang="en-US" sz="1400" dirty="0" err="1" smtClean="0">
                <a:latin typeface="Elephant" pitchFamily="18" charset="0"/>
              </a:rPr>
              <a:t>natura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legaturii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eterice</a:t>
            </a:r>
            <a:r>
              <a:rPr lang="en-US" sz="1400" dirty="0" smtClean="0">
                <a:latin typeface="Elephant" pitchFamily="18" charset="0"/>
              </a:rPr>
              <a:t>.</a:t>
            </a:r>
          </a:p>
          <a:p>
            <a:endParaRPr lang="en-US" sz="1400" dirty="0" smtClean="0">
              <a:latin typeface="Elephant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 err="1" smtClean="0">
                <a:latin typeface="Elephant" pitchFamily="18" charset="0"/>
              </a:rPr>
              <a:t>Dizaharidele</a:t>
            </a:r>
            <a:r>
              <a:rPr lang="en-US" sz="1400" dirty="0" smtClean="0">
                <a:latin typeface="Elephant" pitchFamily="18" charset="0"/>
              </a:rPr>
              <a:t> cu </a:t>
            </a:r>
            <a:r>
              <a:rPr lang="en-US" sz="1400" dirty="0" err="1" smtClean="0">
                <a:latin typeface="Elephant" pitchFamily="18" charset="0"/>
              </a:rPr>
              <a:t>legatura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monocarbonilica</a:t>
            </a:r>
            <a:r>
              <a:rPr lang="en-US" sz="1400" dirty="0" smtClean="0">
                <a:latin typeface="Elephant" pitchFamily="18" charset="0"/>
              </a:rPr>
              <a:t>,</a:t>
            </a:r>
          </a:p>
          <a:p>
            <a:r>
              <a:rPr lang="en-US" sz="1400" dirty="0" err="1" smtClean="0">
                <a:latin typeface="Elephant" pitchFamily="18" charset="0"/>
              </a:rPr>
              <a:t>avand</a:t>
            </a:r>
            <a:r>
              <a:rPr lang="en-US" sz="1400" dirty="0" smtClean="0">
                <a:latin typeface="Elephant" pitchFamily="18" charset="0"/>
              </a:rPr>
              <a:t> un </a:t>
            </a:r>
            <a:r>
              <a:rPr lang="en-US" sz="1400" dirty="0" err="1" smtClean="0">
                <a:latin typeface="Elephant" pitchFamily="18" charset="0"/>
              </a:rPr>
              <a:t>hidroxil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glicozidic</a:t>
            </a:r>
            <a:r>
              <a:rPr lang="en-US" sz="1400" dirty="0" smtClean="0">
                <a:latin typeface="Elephant" pitchFamily="18" charset="0"/>
              </a:rPr>
              <a:t> liber, pot </a:t>
            </a:r>
            <a:r>
              <a:rPr lang="en-US" sz="1400" dirty="0" err="1" smtClean="0">
                <a:latin typeface="Elephant" pitchFamily="18" charset="0"/>
              </a:rPr>
              <a:t>trece</a:t>
            </a:r>
            <a:endParaRPr lang="en-US" sz="1400" dirty="0" smtClean="0">
              <a:latin typeface="Elephant" pitchFamily="18" charset="0"/>
            </a:endParaRPr>
          </a:p>
          <a:p>
            <a:r>
              <a:rPr lang="en-US" sz="1400" dirty="0" smtClean="0">
                <a:latin typeface="Elephant" pitchFamily="18" charset="0"/>
              </a:rPr>
              <a:t>in forma </a:t>
            </a:r>
            <a:r>
              <a:rPr lang="en-US" sz="1400" dirty="0" err="1" smtClean="0">
                <a:latin typeface="Elephant" pitchFamily="18" charset="0"/>
              </a:rPr>
              <a:t>carbonilica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si</a:t>
            </a:r>
            <a:r>
              <a:rPr lang="en-US" sz="1400" dirty="0" smtClean="0">
                <a:latin typeface="Elephant" pitchFamily="18" charset="0"/>
              </a:rPr>
              <a:t> pot da </a:t>
            </a:r>
            <a:r>
              <a:rPr lang="en-US" sz="1400" dirty="0" err="1" smtClean="0">
                <a:latin typeface="Elephant" pitchFamily="18" charset="0"/>
              </a:rPr>
              <a:t>reactii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 smtClean="0">
                <a:latin typeface="Elephant" pitchFamily="18" charset="0"/>
              </a:rPr>
              <a:t>specifice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acesteia</a:t>
            </a:r>
            <a:r>
              <a:rPr lang="en-US" sz="1400" dirty="0" smtClean="0">
                <a:latin typeface="Elephant" pitchFamily="18" charset="0"/>
              </a:rPr>
              <a:t>. </a:t>
            </a:r>
            <a:r>
              <a:rPr lang="en-US" sz="1400" dirty="0" err="1" smtClean="0">
                <a:latin typeface="Elephant" pitchFamily="18" charset="0"/>
              </a:rPr>
              <a:t>Aceste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dizaharide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exista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smtClean="0">
                <a:latin typeface="Elephant" pitchFamily="18" charset="0"/>
              </a:rPr>
              <a:t>sub forma a </a:t>
            </a:r>
            <a:r>
              <a:rPr lang="en-US" sz="1400" dirty="0" err="1" smtClean="0">
                <a:latin typeface="Elephant" pitchFamily="18" charset="0"/>
              </a:rPr>
              <a:t>doi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anomeri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l-GR" sz="1400" dirty="0" smtClean="0">
                <a:latin typeface="Times New Roman"/>
                <a:cs typeface="Times New Roman"/>
              </a:rPr>
              <a:t>α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si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l-GR" sz="1400" dirty="0" smtClean="0">
                <a:latin typeface="Times New Roman"/>
                <a:cs typeface="Times New Roman"/>
              </a:rPr>
              <a:t>β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si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prezinta</a:t>
            </a:r>
            <a:endParaRPr lang="en-US" sz="1400" dirty="0" smtClean="0">
              <a:latin typeface="Elephant" pitchFamily="18" charset="0"/>
              <a:cs typeface="Times New Roman"/>
            </a:endParaRPr>
          </a:p>
          <a:p>
            <a:r>
              <a:rPr lang="en-US" sz="1400" dirty="0" err="1" smtClean="0">
                <a:latin typeface="Elephant" pitchFamily="18" charset="0"/>
                <a:cs typeface="Times New Roman"/>
              </a:rPr>
              <a:t>mutarotatie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, se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oxideaza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si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reduc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reactivii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:</a:t>
            </a:r>
          </a:p>
          <a:p>
            <a:r>
              <a:rPr lang="en-US" sz="1400" dirty="0" smtClean="0">
                <a:latin typeface="Elephant" pitchFamily="18" charset="0"/>
                <a:cs typeface="Times New Roman"/>
              </a:rPr>
              <a:t>Br2,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Tollens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si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Fehling.</a:t>
            </a:r>
          </a:p>
          <a:p>
            <a:r>
              <a:rPr lang="en-US" sz="1400" dirty="0" err="1" smtClean="0">
                <a:latin typeface="Elephant" pitchFamily="18" charset="0"/>
                <a:cs typeface="Times New Roman"/>
              </a:rPr>
              <a:t>Acestea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se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numesc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dizaharide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reducatoare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.</a:t>
            </a:r>
          </a:p>
          <a:p>
            <a:endParaRPr lang="en-US" sz="1400" dirty="0">
              <a:latin typeface="Elephant" pitchFamily="18" charset="0"/>
              <a:cs typeface="Times New Roman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 err="1" smtClean="0">
                <a:latin typeface="Elephant" pitchFamily="18" charset="0"/>
                <a:cs typeface="Times New Roman"/>
              </a:rPr>
              <a:t>Dizaharidele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cu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legatura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dicarbonilica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,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 smtClean="0">
                <a:latin typeface="Elephant" pitchFamily="18" charset="0"/>
                <a:cs typeface="Times New Roman"/>
              </a:rPr>
              <a:t>neavand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hidroxidul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glicozidic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live, nu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mai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</a:p>
          <a:p>
            <a:r>
              <a:rPr lang="en-US" sz="1400" dirty="0" smtClean="0">
                <a:latin typeface="Elephant" pitchFamily="18" charset="0"/>
                <a:cs typeface="Times New Roman"/>
              </a:rPr>
              <a:t>pot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trece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in forma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carbonilica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si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nu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mai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pot</a:t>
            </a:r>
          </a:p>
          <a:p>
            <a:r>
              <a:rPr lang="en-US" sz="1400" dirty="0" smtClean="0">
                <a:latin typeface="Elephant" pitchFamily="18" charset="0"/>
                <a:cs typeface="Times New Roman"/>
              </a:rPr>
              <a:t>da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reactiile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specifice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acesteia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: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fenomenul</a:t>
            </a:r>
            <a:endParaRPr lang="en-US" sz="1400" dirty="0" smtClean="0">
              <a:latin typeface="Elephant" pitchFamily="18" charset="0"/>
              <a:cs typeface="Times New Roman"/>
            </a:endParaRPr>
          </a:p>
          <a:p>
            <a:r>
              <a:rPr lang="en-US" sz="1400" dirty="0" smtClean="0">
                <a:latin typeface="Elephant" pitchFamily="18" charset="0"/>
                <a:cs typeface="Times New Roman"/>
              </a:rPr>
              <a:t>de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mutoritatie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,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reducere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solutiilor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Tolens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,</a:t>
            </a:r>
          </a:p>
          <a:p>
            <a:r>
              <a:rPr lang="en-US" sz="1400" dirty="0" smtClean="0">
                <a:latin typeface="Elephant" pitchFamily="18" charset="0"/>
                <a:cs typeface="Times New Roman"/>
              </a:rPr>
              <a:t>Fehling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si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Br2.</a:t>
            </a:r>
          </a:p>
          <a:p>
            <a:r>
              <a:rPr lang="en-US" sz="1400" dirty="0" err="1" smtClean="0">
                <a:latin typeface="Elephant" pitchFamily="18" charset="0"/>
                <a:cs typeface="Times New Roman"/>
              </a:rPr>
              <a:t>Ele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se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numesc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dizaharide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nereducatoare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7491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9877" y="1143000"/>
            <a:ext cx="389908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 smtClean="0">
                <a:latin typeface="Elephant" pitchFamily="18" charset="0"/>
              </a:rPr>
              <a:t>Hidroliza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oligozaharidelor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este</a:t>
            </a:r>
            <a:r>
              <a:rPr lang="en-US" sz="1400" dirty="0" smtClean="0">
                <a:latin typeface="Elephant" pitchFamily="18" charset="0"/>
              </a:rPr>
              <a:t> un</a:t>
            </a:r>
          </a:p>
          <a:p>
            <a:r>
              <a:rPr lang="en-US" sz="1400" dirty="0" err="1" smtClean="0">
                <a:latin typeface="Elephant" pitchFamily="18" charset="0"/>
              </a:rPr>
              <a:t>proces</a:t>
            </a:r>
            <a:r>
              <a:rPr lang="en-US" sz="1400" dirty="0" smtClean="0">
                <a:latin typeface="Elephant" pitchFamily="18" charset="0"/>
              </a:rPr>
              <a:t> invers </a:t>
            </a:r>
            <a:r>
              <a:rPr lang="en-US" sz="1400" dirty="0" err="1" smtClean="0">
                <a:latin typeface="Elephant" pitchFamily="18" charset="0"/>
              </a:rPr>
              <a:t>condensarii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biochimice</a:t>
            </a:r>
            <a:r>
              <a:rPr lang="en-US" sz="1400" dirty="0" smtClean="0">
                <a:latin typeface="Elephant" pitchFamily="18" charset="0"/>
              </a:rPr>
              <a:t> a </a:t>
            </a:r>
          </a:p>
          <a:p>
            <a:r>
              <a:rPr lang="en-US" sz="1400" dirty="0" err="1" smtClean="0">
                <a:latin typeface="Elephant" pitchFamily="18" charset="0"/>
              </a:rPr>
              <a:t>monozaharidelor</a:t>
            </a:r>
            <a:r>
              <a:rPr lang="en-US" sz="1400" dirty="0" smtClean="0">
                <a:latin typeface="Elephant" pitchFamily="18" charset="0"/>
              </a:rPr>
              <a:t>. </a:t>
            </a:r>
            <a:r>
              <a:rPr lang="en-US" sz="1400" dirty="0" err="1" smtClean="0">
                <a:latin typeface="Elephant" pitchFamily="18" charset="0"/>
              </a:rPr>
              <a:t>Hidroliza</a:t>
            </a:r>
            <a:r>
              <a:rPr lang="en-US" sz="1400" dirty="0" smtClean="0">
                <a:latin typeface="Elephant" pitchFamily="18" charset="0"/>
              </a:rPr>
              <a:t> in </a:t>
            </a:r>
            <a:r>
              <a:rPr lang="en-US" sz="1400" dirty="0" err="1" smtClean="0">
                <a:latin typeface="Elephant" pitchFamily="18" charset="0"/>
              </a:rPr>
              <a:t>mediu</a:t>
            </a:r>
            <a:r>
              <a:rPr lang="en-US" sz="1400" dirty="0" smtClean="0">
                <a:latin typeface="Elephant" pitchFamily="18" charset="0"/>
              </a:rPr>
              <a:t> acid</a:t>
            </a:r>
          </a:p>
          <a:p>
            <a:r>
              <a:rPr lang="en-US" sz="1400" dirty="0" err="1" smtClean="0">
                <a:latin typeface="Elephant" pitchFamily="18" charset="0"/>
              </a:rPr>
              <a:t>este</a:t>
            </a:r>
            <a:r>
              <a:rPr lang="en-US" sz="1400" dirty="0" smtClean="0">
                <a:latin typeface="Elephant" pitchFamily="18" charset="0"/>
              </a:rPr>
              <a:t> o </a:t>
            </a:r>
            <a:r>
              <a:rPr lang="en-US" sz="1400" dirty="0" err="1" smtClean="0">
                <a:latin typeface="Elephant" pitchFamily="18" charset="0"/>
              </a:rPr>
              <a:t>hidroliza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totala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si</a:t>
            </a:r>
            <a:r>
              <a:rPr lang="en-US" sz="1400" dirty="0" smtClean="0">
                <a:latin typeface="Elephant" pitchFamily="18" charset="0"/>
              </a:rPr>
              <a:t> conduce la</a:t>
            </a:r>
          </a:p>
          <a:p>
            <a:r>
              <a:rPr lang="en-US" sz="1400" dirty="0" err="1" smtClean="0">
                <a:latin typeface="Elephant" pitchFamily="18" charset="0"/>
              </a:rPr>
              <a:t>monozaharidele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constituente</a:t>
            </a:r>
            <a:r>
              <a:rPr lang="en-US" sz="1400" dirty="0" smtClean="0">
                <a:latin typeface="Elephant" pitchFamily="18" charset="0"/>
              </a:rPr>
              <a:t>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829" y="2623358"/>
            <a:ext cx="330517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" name="TextBox 25"/>
          <p:cNvSpPr txBox="1"/>
          <p:nvPr/>
        </p:nvSpPr>
        <p:spPr>
          <a:xfrm>
            <a:off x="299877" y="3581400"/>
            <a:ext cx="411356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smtClean="0">
                <a:latin typeface="Elephant" pitchFamily="18" charset="0"/>
              </a:rPr>
              <a:t>In </a:t>
            </a:r>
            <a:r>
              <a:rPr lang="en-US" sz="1400" dirty="0" err="1" smtClean="0">
                <a:latin typeface="Elephant" pitchFamily="18" charset="0"/>
              </a:rPr>
              <a:t>mediu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viu</a:t>
            </a:r>
            <a:r>
              <a:rPr lang="en-US" sz="1400" dirty="0" smtClean="0">
                <a:latin typeface="Elephant" pitchFamily="18" charset="0"/>
              </a:rPr>
              <a:t>, </a:t>
            </a:r>
            <a:r>
              <a:rPr lang="en-US" sz="1400" dirty="0" err="1" smtClean="0">
                <a:latin typeface="Elephant" pitchFamily="18" charset="0"/>
              </a:rPr>
              <a:t>reactiile</a:t>
            </a:r>
            <a:r>
              <a:rPr lang="en-US" sz="1400" dirty="0" smtClean="0">
                <a:latin typeface="Elephant" pitchFamily="18" charset="0"/>
              </a:rPr>
              <a:t> de </a:t>
            </a:r>
            <a:r>
              <a:rPr lang="en-US" sz="1400" dirty="0" err="1" smtClean="0">
                <a:latin typeface="Elephant" pitchFamily="18" charset="0"/>
              </a:rPr>
              <a:t>hidroliza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sunt</a:t>
            </a:r>
            <a:endParaRPr lang="en-US" sz="1400" dirty="0" smtClean="0">
              <a:latin typeface="Elephant" pitchFamily="18" charset="0"/>
            </a:endParaRPr>
          </a:p>
          <a:p>
            <a:r>
              <a:rPr lang="en-US" sz="1400" dirty="0" err="1" smtClean="0">
                <a:latin typeface="Elephant" pitchFamily="18" charset="0"/>
              </a:rPr>
              <a:t>catalizate</a:t>
            </a:r>
            <a:r>
              <a:rPr lang="en-US" sz="1400" dirty="0" smtClean="0">
                <a:latin typeface="Elephant" pitchFamily="18" charset="0"/>
              </a:rPr>
              <a:t> d </a:t>
            </a:r>
            <a:r>
              <a:rPr lang="en-US" sz="1400" dirty="0" err="1" smtClean="0">
                <a:latin typeface="Elephant" pitchFamily="18" charset="0"/>
              </a:rPr>
              <a:t>enzime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specifice</a:t>
            </a:r>
            <a:r>
              <a:rPr lang="en-US" sz="1400" dirty="0" smtClean="0">
                <a:latin typeface="Elephant" pitchFamily="18" charset="0"/>
              </a:rPr>
              <a:t>. </a:t>
            </a:r>
            <a:r>
              <a:rPr lang="en-US" sz="1400" dirty="0" err="1" smtClean="0">
                <a:latin typeface="Elephant" pitchFamily="18" charset="0"/>
              </a:rPr>
              <a:t>Legaturile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 smtClean="0">
                <a:latin typeface="Elephant" pitchFamily="18" charset="0"/>
              </a:rPr>
              <a:t>eterice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l-GR" sz="1400" dirty="0" smtClean="0">
                <a:latin typeface="Times New Roman"/>
                <a:cs typeface="Times New Roman"/>
              </a:rPr>
              <a:t>α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-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glicozidice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sunt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hidrolizate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de </a:t>
            </a:r>
          </a:p>
          <a:p>
            <a:r>
              <a:rPr lang="el-GR" sz="1400" dirty="0" smtClean="0">
                <a:latin typeface="Times New Roman"/>
                <a:cs typeface="Times New Roman"/>
              </a:rPr>
              <a:t>α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-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glicozidaze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.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Legaturile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eterice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l-GR" sz="1400" dirty="0" smtClean="0">
                <a:latin typeface="Times New Roman"/>
                <a:cs typeface="Times New Roman"/>
              </a:rPr>
              <a:t>β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-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glicozidice</a:t>
            </a:r>
            <a:endParaRPr lang="en-US" sz="1400" dirty="0" smtClean="0">
              <a:latin typeface="Elephant" pitchFamily="18" charset="0"/>
              <a:cs typeface="Times New Roman"/>
            </a:endParaRPr>
          </a:p>
          <a:p>
            <a:r>
              <a:rPr lang="en-US" sz="1400" dirty="0" err="1" smtClean="0">
                <a:latin typeface="Elephant" pitchFamily="18" charset="0"/>
                <a:cs typeface="Times New Roman"/>
              </a:rPr>
              <a:t>sunt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hidrolizate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 de </a:t>
            </a:r>
            <a:r>
              <a:rPr lang="el-GR" sz="1400" dirty="0" smtClean="0">
                <a:latin typeface="Times New Roman"/>
                <a:cs typeface="Times New Roman"/>
              </a:rPr>
              <a:t>β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-</a:t>
            </a:r>
            <a:r>
              <a:rPr lang="en-US" sz="1400" dirty="0" err="1" smtClean="0">
                <a:latin typeface="Elephant" pitchFamily="18" charset="0"/>
                <a:cs typeface="Times New Roman"/>
              </a:rPr>
              <a:t>glicozidaze</a:t>
            </a:r>
            <a:r>
              <a:rPr lang="en-US" sz="1400" dirty="0" smtClean="0">
                <a:latin typeface="Elephant" pitchFamily="18" charset="0"/>
                <a:cs typeface="Times New Roman"/>
              </a:rPr>
              <a:t>.</a:t>
            </a:r>
            <a:endParaRPr lang="en-US" sz="1400" dirty="0" smtClean="0">
              <a:latin typeface="Elephant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00600" y="990600"/>
            <a:ext cx="399263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 smtClean="0">
                <a:latin typeface="Elephant" pitchFamily="18" charset="0"/>
              </a:rPr>
              <a:t>Zaharoza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este</a:t>
            </a:r>
            <a:r>
              <a:rPr lang="en-US" sz="1400" dirty="0" smtClean="0">
                <a:latin typeface="Elephant" pitchFamily="18" charset="0"/>
              </a:rPr>
              <a:t> o </a:t>
            </a:r>
            <a:r>
              <a:rPr lang="en-US" sz="1400" dirty="0" err="1" smtClean="0">
                <a:latin typeface="Elephant" pitchFamily="18" charset="0"/>
              </a:rPr>
              <a:t>substanta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solida</a:t>
            </a:r>
            <a:r>
              <a:rPr lang="en-US" sz="1400" dirty="0" smtClean="0">
                <a:latin typeface="Elephant" pitchFamily="18" charset="0"/>
              </a:rPr>
              <a:t>, alba</a:t>
            </a:r>
          </a:p>
          <a:p>
            <a:r>
              <a:rPr lang="en-US" sz="1400" dirty="0" err="1" smtClean="0">
                <a:latin typeface="Elephant" pitchFamily="18" charset="0"/>
              </a:rPr>
              <a:t>cristalizata</a:t>
            </a:r>
            <a:r>
              <a:rPr lang="en-US" sz="1400" dirty="0" smtClean="0">
                <a:latin typeface="Elephant" pitchFamily="18" charset="0"/>
              </a:rPr>
              <a:t>, cu gust </a:t>
            </a:r>
            <a:r>
              <a:rPr lang="en-US" sz="1400" dirty="0" err="1" smtClean="0">
                <a:latin typeface="Elephant" pitchFamily="18" charset="0"/>
              </a:rPr>
              <a:t>dulce</a:t>
            </a:r>
            <a:r>
              <a:rPr lang="en-US" sz="1400" dirty="0" smtClean="0">
                <a:latin typeface="Elephant" pitchFamily="18" charset="0"/>
              </a:rPr>
              <a:t>, </a:t>
            </a:r>
            <a:r>
              <a:rPr lang="en-US" sz="1400" dirty="0" err="1" smtClean="0">
                <a:latin typeface="Elephant" pitchFamily="18" charset="0"/>
              </a:rPr>
              <a:t>solubila</a:t>
            </a:r>
            <a:r>
              <a:rPr lang="en-US" sz="1400" dirty="0" smtClean="0">
                <a:latin typeface="Elephant" pitchFamily="18" charset="0"/>
              </a:rPr>
              <a:t> in </a:t>
            </a:r>
            <a:r>
              <a:rPr lang="en-US" sz="1400" dirty="0" err="1" smtClean="0">
                <a:latin typeface="Elephant" pitchFamily="18" charset="0"/>
              </a:rPr>
              <a:t>apa</a:t>
            </a:r>
            <a:r>
              <a:rPr lang="en-US" sz="1400" dirty="0" smtClean="0">
                <a:latin typeface="Elephant" pitchFamily="18" charset="0"/>
              </a:rPr>
              <a:t>.</a:t>
            </a:r>
          </a:p>
          <a:p>
            <a:r>
              <a:rPr lang="en-US" sz="1400" dirty="0" err="1" smtClean="0">
                <a:latin typeface="Elephant" pitchFamily="18" charset="0"/>
              </a:rPr>
              <a:t>Zaharoza</a:t>
            </a:r>
            <a:r>
              <a:rPr lang="en-US" sz="1400" dirty="0" smtClean="0">
                <a:latin typeface="Elephant" pitchFamily="18" charset="0"/>
              </a:rPr>
              <a:t> se </a:t>
            </a:r>
            <a:r>
              <a:rPr lang="en-US" sz="1400" dirty="0" err="1" smtClean="0">
                <a:latin typeface="Elephant" pitchFamily="18" charset="0"/>
              </a:rPr>
              <a:t>topeste</a:t>
            </a:r>
            <a:r>
              <a:rPr lang="en-US" sz="1400" dirty="0" smtClean="0">
                <a:latin typeface="Elephant" pitchFamily="18" charset="0"/>
              </a:rPr>
              <a:t> la 185 grade Celsius</a:t>
            </a:r>
          </a:p>
          <a:p>
            <a:r>
              <a:rPr lang="en-US" sz="1400" dirty="0" err="1" smtClean="0">
                <a:latin typeface="Elephant" pitchFamily="18" charset="0"/>
              </a:rPr>
              <a:t>cand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formeaza</a:t>
            </a:r>
            <a:r>
              <a:rPr lang="en-US" sz="1400" dirty="0" smtClean="0">
                <a:latin typeface="Elephant" pitchFamily="18" charset="0"/>
              </a:rPr>
              <a:t> un </a:t>
            </a:r>
            <a:r>
              <a:rPr lang="en-US" sz="1400" dirty="0" err="1" smtClean="0">
                <a:latin typeface="Elephant" pitchFamily="18" charset="0"/>
              </a:rPr>
              <a:t>lichid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galben-brun</a:t>
            </a:r>
            <a:r>
              <a:rPr lang="en-US" sz="1400" dirty="0" smtClean="0">
                <a:latin typeface="Elephant" pitchFamily="18" charset="0"/>
              </a:rPr>
              <a:t> care</a:t>
            </a:r>
          </a:p>
          <a:p>
            <a:r>
              <a:rPr lang="en-US" sz="1400" dirty="0" err="1" smtClean="0">
                <a:latin typeface="Elephant" pitchFamily="18" charset="0"/>
              </a:rPr>
              <a:t>prin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racire</a:t>
            </a:r>
            <a:r>
              <a:rPr lang="en-US" sz="1400" dirty="0" smtClean="0">
                <a:latin typeface="Elephant" pitchFamily="18" charset="0"/>
              </a:rPr>
              <a:t> da o </a:t>
            </a:r>
            <a:r>
              <a:rPr lang="en-US" sz="1400" dirty="0" err="1" smtClean="0">
                <a:latin typeface="Elephant" pitchFamily="18" charset="0"/>
              </a:rPr>
              <a:t>masa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amorfa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densa</a:t>
            </a:r>
            <a:r>
              <a:rPr lang="en-US" sz="1400" dirty="0" smtClean="0">
                <a:latin typeface="Elephant" pitchFamily="18" charset="0"/>
              </a:rPr>
              <a:t> cu </a:t>
            </a:r>
          </a:p>
          <a:p>
            <a:r>
              <a:rPr lang="en-US" sz="1400" dirty="0" smtClean="0">
                <a:latin typeface="Elephant" pitchFamily="18" charset="0"/>
              </a:rPr>
              <a:t>aspect </a:t>
            </a:r>
            <a:r>
              <a:rPr lang="en-US" sz="1400" dirty="0" err="1" smtClean="0">
                <a:latin typeface="Elephant" pitchFamily="18" charset="0"/>
              </a:rPr>
              <a:t>sticlos</a:t>
            </a:r>
            <a:r>
              <a:rPr lang="en-US" sz="1400" dirty="0" smtClean="0">
                <a:latin typeface="Elephant" pitchFamily="18" charset="0"/>
              </a:rPr>
              <a:t>, </a:t>
            </a:r>
            <a:r>
              <a:rPr lang="en-US" sz="1400" dirty="0" err="1" smtClean="0">
                <a:latin typeface="Elephant" pitchFamily="18" charset="0"/>
              </a:rPr>
              <a:t>numita</a:t>
            </a:r>
            <a:r>
              <a:rPr lang="en-US" sz="1400" dirty="0" smtClean="0">
                <a:latin typeface="Elephant" pitchFamily="18" charset="0"/>
              </a:rPr>
              <a:t> caramel. </a:t>
            </a:r>
          </a:p>
          <a:p>
            <a:endParaRPr lang="en-US" sz="1400" dirty="0" smtClean="0">
              <a:latin typeface="Elephant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 err="1" smtClean="0">
                <a:latin typeface="Elephant" pitchFamily="18" charset="0"/>
              </a:rPr>
              <a:t>Daca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incalzirea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este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avansata</a:t>
            </a:r>
            <a:r>
              <a:rPr lang="en-US" sz="1400" dirty="0" smtClean="0">
                <a:latin typeface="Elephant" pitchFamily="18" charset="0"/>
              </a:rPr>
              <a:t> are </a:t>
            </a:r>
            <a:r>
              <a:rPr lang="en-US" sz="1400" dirty="0" err="1" smtClean="0">
                <a:latin typeface="Elephant" pitchFamily="18" charset="0"/>
              </a:rPr>
              <a:t>loc</a:t>
            </a:r>
            <a:r>
              <a:rPr lang="en-US" sz="1400" dirty="0" smtClean="0">
                <a:latin typeface="Elephant" pitchFamily="18" charset="0"/>
              </a:rPr>
              <a:t> un</a:t>
            </a:r>
          </a:p>
          <a:p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proces</a:t>
            </a:r>
            <a:r>
              <a:rPr lang="en-US" sz="1400" dirty="0" smtClean="0">
                <a:latin typeface="Elephant" pitchFamily="18" charset="0"/>
              </a:rPr>
              <a:t> de </a:t>
            </a:r>
            <a:r>
              <a:rPr lang="en-US" sz="1400" dirty="0" err="1" smtClean="0">
                <a:latin typeface="Elephant" pitchFamily="18" charset="0"/>
              </a:rPr>
              <a:t>deshidratare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zaharoza</a:t>
            </a:r>
            <a:r>
              <a:rPr lang="en-US" sz="1400" dirty="0" smtClean="0">
                <a:latin typeface="Elephant" pitchFamily="18" charset="0"/>
              </a:rPr>
              <a:t> se</a:t>
            </a:r>
          </a:p>
          <a:p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carbonizeaza</a:t>
            </a:r>
            <a:r>
              <a:rPr lang="en-US" sz="1400" dirty="0" smtClean="0">
                <a:latin typeface="Elephant" pitchFamily="18" charset="0"/>
              </a:rPr>
              <a:t>.</a:t>
            </a:r>
          </a:p>
          <a:p>
            <a:endParaRPr lang="en-US" sz="1400" dirty="0">
              <a:latin typeface="Elephant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 err="1" smtClean="0">
                <a:latin typeface="Elephant" pitchFamily="18" charset="0"/>
              </a:rPr>
              <a:t>Prin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hidroliza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acida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sau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enzimatica</a:t>
            </a:r>
            <a:r>
              <a:rPr lang="en-US" sz="1400" dirty="0" smtClean="0">
                <a:latin typeface="Elephant" pitchFamily="18" charset="0"/>
              </a:rPr>
              <a:t>, </a:t>
            </a:r>
          </a:p>
          <a:p>
            <a:r>
              <a:rPr lang="en-US" sz="1400" dirty="0" err="1" smtClean="0">
                <a:latin typeface="Elephant" pitchFamily="18" charset="0"/>
              </a:rPr>
              <a:t>zaharoza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formeaza</a:t>
            </a:r>
            <a:r>
              <a:rPr lang="en-US" sz="1400" dirty="0" smtClean="0">
                <a:latin typeface="Elephant" pitchFamily="18" charset="0"/>
              </a:rPr>
              <a:t> un </a:t>
            </a:r>
            <a:r>
              <a:rPr lang="en-US" sz="1400" dirty="0" err="1" smtClean="0">
                <a:latin typeface="Elephant" pitchFamily="18" charset="0"/>
              </a:rPr>
              <a:t>amestec</a:t>
            </a:r>
            <a:r>
              <a:rPr lang="en-US" sz="1400" dirty="0" smtClean="0">
                <a:latin typeface="Elephant" pitchFamily="18" charset="0"/>
              </a:rPr>
              <a:t> </a:t>
            </a:r>
          </a:p>
          <a:p>
            <a:r>
              <a:rPr lang="en-US" sz="1400" dirty="0" err="1" smtClean="0">
                <a:latin typeface="Elephant" pitchFamily="18" charset="0"/>
              </a:rPr>
              <a:t>echimolecular</a:t>
            </a:r>
            <a:r>
              <a:rPr lang="en-US" sz="1400" dirty="0" smtClean="0">
                <a:latin typeface="Elephant" pitchFamily="18" charset="0"/>
              </a:rPr>
              <a:t> de D-</a:t>
            </a:r>
            <a:r>
              <a:rPr lang="en-US" sz="1400" dirty="0" err="1" smtClean="0">
                <a:latin typeface="Elephant" pitchFamily="18" charset="0"/>
              </a:rPr>
              <a:t>glucoza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si</a:t>
            </a:r>
            <a:r>
              <a:rPr lang="en-US" sz="1400" dirty="0" smtClean="0">
                <a:latin typeface="Elephant" pitchFamily="18" charset="0"/>
              </a:rPr>
              <a:t> D-</a:t>
            </a:r>
            <a:r>
              <a:rPr lang="en-US" sz="1400" dirty="0" err="1" smtClean="0">
                <a:latin typeface="Elephant" pitchFamily="18" charset="0"/>
              </a:rPr>
              <a:t>fructoza</a:t>
            </a:r>
            <a:r>
              <a:rPr lang="en-US" sz="1400" dirty="0" smtClean="0">
                <a:latin typeface="Elephant" pitchFamily="18" charset="0"/>
              </a:rPr>
              <a:t>,</a:t>
            </a:r>
          </a:p>
          <a:p>
            <a:r>
              <a:rPr lang="en-US" sz="1400" dirty="0" err="1" smtClean="0">
                <a:latin typeface="Elephant" pitchFamily="18" charset="0"/>
              </a:rPr>
              <a:t>numit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zahar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invertit</a:t>
            </a:r>
            <a:r>
              <a:rPr lang="en-US" sz="1400" dirty="0" smtClean="0">
                <a:latin typeface="Elephant" pitchFamily="18" charset="0"/>
              </a:rPr>
              <a:t>.</a:t>
            </a:r>
          </a:p>
          <a:p>
            <a:endParaRPr lang="en-US" sz="1400" dirty="0">
              <a:latin typeface="Elephant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 err="1" smtClean="0">
                <a:latin typeface="Elephant" pitchFamily="18" charset="0"/>
              </a:rPr>
              <a:t>Zaharoza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este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dextrogira</a:t>
            </a:r>
            <a:r>
              <a:rPr lang="en-US" sz="1400" dirty="0" smtClean="0">
                <a:latin typeface="Elephant" pitchFamily="18" charset="0"/>
              </a:rPr>
              <a:t>, </a:t>
            </a:r>
            <a:r>
              <a:rPr lang="en-US" sz="1400" dirty="0" err="1" smtClean="0">
                <a:latin typeface="Elephant" pitchFamily="18" charset="0"/>
              </a:rPr>
              <a:t>iar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solutia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 smtClean="0">
                <a:latin typeface="Elephant" pitchFamily="18" charset="0"/>
              </a:rPr>
              <a:t>rezultata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prin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hidroliza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este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levrogira</a:t>
            </a:r>
            <a:r>
              <a:rPr lang="en-US" sz="1400" dirty="0" smtClean="0">
                <a:latin typeface="Elephant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1968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457200"/>
            <a:ext cx="24640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 err="1" smtClean="0">
                <a:latin typeface="Elephant" pitchFamily="18" charset="0"/>
              </a:rPr>
              <a:t>Polizaharide</a:t>
            </a:r>
            <a:endParaRPr lang="en-US" sz="2800" u="sng" dirty="0" smtClean="0">
              <a:latin typeface="Elephant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000" y="1371598"/>
            <a:ext cx="398391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 smtClean="0">
                <a:latin typeface="Elephant" pitchFamily="18" charset="0"/>
              </a:rPr>
              <a:t>Sunt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compusi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macrimoleculari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naturali</a:t>
            </a:r>
            <a:endParaRPr lang="en-US" sz="1400" dirty="0" smtClean="0">
              <a:latin typeface="Elephant" pitchFamily="18" charset="0"/>
            </a:endParaRPr>
          </a:p>
          <a:p>
            <a:r>
              <a:rPr lang="en-US" sz="1400" dirty="0" err="1" smtClean="0">
                <a:latin typeface="Elephant" pitchFamily="18" charset="0"/>
              </a:rPr>
              <a:t>obtinuti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prin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policondensarea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biochimica</a:t>
            </a:r>
            <a:endParaRPr lang="en-US" sz="1400" dirty="0" smtClean="0">
              <a:latin typeface="Elephant" pitchFamily="18" charset="0"/>
            </a:endParaRPr>
          </a:p>
          <a:p>
            <a:r>
              <a:rPr lang="en-US" sz="1400" dirty="0" smtClean="0">
                <a:latin typeface="Elephant" pitchFamily="18" charset="0"/>
              </a:rPr>
              <a:t>a </a:t>
            </a:r>
            <a:r>
              <a:rPr lang="en-US" sz="1400" dirty="0" err="1" smtClean="0">
                <a:latin typeface="Elephant" pitchFamily="18" charset="0"/>
              </a:rPr>
              <a:t>unor</a:t>
            </a:r>
            <a:r>
              <a:rPr lang="en-US" sz="1400" dirty="0" smtClean="0">
                <a:latin typeface="Elephant" pitchFamily="18" charset="0"/>
              </a:rPr>
              <a:t> </a:t>
            </a:r>
            <a:r>
              <a:rPr lang="en-US" sz="1400" dirty="0" err="1" smtClean="0">
                <a:latin typeface="Elephant" pitchFamily="18" charset="0"/>
              </a:rPr>
              <a:t>monozaharide</a:t>
            </a:r>
            <a:endParaRPr lang="en-US" sz="1400" dirty="0" smtClean="0">
              <a:latin typeface="Elephant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2362200"/>
            <a:ext cx="131318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 smtClean="0">
                <a:latin typeface="Elephant" pitchFamily="18" charset="0"/>
              </a:rPr>
              <a:t>Amidon</a:t>
            </a:r>
            <a:endParaRPr lang="en-US" sz="1400" dirty="0" smtClean="0">
              <a:latin typeface="Elephant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 err="1" smtClean="0">
                <a:latin typeface="Elephant" pitchFamily="18" charset="0"/>
              </a:rPr>
              <a:t>Celuloza</a:t>
            </a:r>
            <a:endParaRPr lang="en-US" sz="1400" dirty="0" smtClean="0">
              <a:latin typeface="Elephant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 err="1" smtClean="0">
                <a:latin typeface="Elephant" pitchFamily="18" charset="0"/>
              </a:rPr>
              <a:t>Glicogen</a:t>
            </a:r>
            <a:r>
              <a:rPr lang="en-US" sz="1400" dirty="0" smtClean="0">
                <a:latin typeface="Elephant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5253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320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643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019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marL="285750" indent="-285750">
          <a:buFont typeface="Wingdings" pitchFamily="2" charset="2"/>
          <a:buChar char="v"/>
          <a:defRPr sz="1400" dirty="0" err="1" smtClean="0">
            <a:latin typeface="Elephant" pitchFamily="18" charset="0"/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1088</Words>
  <Application>Microsoft Office PowerPoint</Application>
  <PresentationFormat>On-screen Show (4:3)</PresentationFormat>
  <Paragraphs>175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Monozaharide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Gabi</dc:creator>
  <cp:lastModifiedBy>Gabi</cp:lastModifiedBy>
  <cp:revision>21</cp:revision>
  <dcterms:created xsi:type="dcterms:W3CDTF">2006-08-16T00:00:00Z</dcterms:created>
  <dcterms:modified xsi:type="dcterms:W3CDTF">2023-11-17T09:41:33Z</dcterms:modified>
</cp:coreProperties>
</file>