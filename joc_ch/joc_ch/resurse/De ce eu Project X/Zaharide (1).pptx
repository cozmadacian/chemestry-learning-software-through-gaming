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76" r:id="rId8"/>
    <p:sldId id="277" r:id="rId9"/>
    <p:sldId id="278" r:id="rId10"/>
    <p:sldId id="279" r:id="rId11"/>
    <p:sldId id="280" r:id="rId12"/>
    <p:sldId id="268" r:id="rId13"/>
    <p:sldId id="269" r:id="rId14"/>
    <p:sldId id="270" r:id="rId15"/>
    <p:sldId id="271" r:id="rId16"/>
    <p:sldId id="272" r:id="rId17"/>
    <p:sldId id="281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50" autoAdjust="0"/>
    <p:restoredTop sz="94660"/>
  </p:normalViewPr>
  <p:slideViewPr>
    <p:cSldViewPr>
      <p:cViewPr varScale="1">
        <p:scale>
          <a:sx n="120" d="100"/>
          <a:sy n="120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12" name="TextBox 11"/>
          <p:cNvSpPr txBox="1"/>
          <p:nvPr/>
        </p:nvSpPr>
        <p:spPr>
          <a:xfrm>
            <a:off x="540123" y="533400"/>
            <a:ext cx="360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err="1">
                <a:latin typeface="Elephant" pitchFamily="18" charset="0"/>
              </a:rPr>
              <a:t>Zaharide</a:t>
            </a:r>
            <a:r>
              <a:rPr lang="en-US" sz="2400" dirty="0">
                <a:latin typeface="Elephant" pitchFamily="18" charset="0"/>
              </a:rPr>
              <a:t> - </a:t>
            </a:r>
            <a:r>
              <a:rPr lang="en-US" sz="2400" dirty="0" err="1">
                <a:latin typeface="Elephant" pitchFamily="18" charset="0"/>
              </a:rPr>
              <a:t>generalitati</a:t>
            </a:r>
            <a:endParaRPr lang="en-US" sz="2400" u="sng" dirty="0">
              <a:latin typeface="Elephant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65" y="3415926"/>
            <a:ext cx="27813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76890" y="1124634"/>
            <a:ext cx="3733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itchFamily="2" charset="2"/>
              <a:buChar char="v"/>
            </a:pP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Zaharidele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se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regasesc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in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natura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in</a:t>
            </a:r>
          </a:p>
          <a:p>
            <a:pPr algn="ctr"/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plante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.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Acestea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se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formeaza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printr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-un</a:t>
            </a:r>
          </a:p>
          <a:p>
            <a:pPr algn="ctr"/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proces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numit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fotosinteza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.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Pentru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a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realiza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fotosinteza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plantele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utilizeaza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dioxid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de carbon,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apa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si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energie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care o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colecteaza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de la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lumina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solara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ctr"/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Ecuatia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este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657" y="3917484"/>
            <a:ext cx="373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itchFamily="2" charset="2"/>
              <a:buChar char="v"/>
            </a:pP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Zaharidele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reprezinta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principala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ctr"/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sursa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de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energie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a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organismelor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vii.</a:t>
            </a:r>
          </a:p>
          <a:p>
            <a:pPr algn="ctr"/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La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plante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zaharidele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sunt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sub forma de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amidon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iar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la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animalele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dezvoltate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sunt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sub forma de 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glicogen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0" y="777350"/>
            <a:ext cx="381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Zaharidele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stocate</a:t>
            </a:r>
            <a:r>
              <a:rPr lang="en-US" sz="1400" dirty="0">
                <a:latin typeface="Elephant" pitchFamily="18" charset="0"/>
              </a:rPr>
              <a:t> la </a:t>
            </a:r>
            <a:r>
              <a:rPr lang="en-US" sz="1400" dirty="0" err="1">
                <a:latin typeface="Elephant" pitchFamily="18" charset="0"/>
              </a:rPr>
              <a:t>nivelul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celulelor</a:t>
            </a:r>
            <a:endParaRPr lang="en-US" sz="1400" dirty="0">
              <a:latin typeface="Elephant" pitchFamily="18" charset="0"/>
            </a:endParaRPr>
          </a:p>
          <a:p>
            <a:pPr algn="just"/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transformate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energie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degradare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oxidativa</a:t>
            </a:r>
            <a:r>
              <a:rPr lang="en-US" sz="1400" dirty="0">
                <a:latin typeface="Elephant" pitchFamily="18" charset="0"/>
              </a:rPr>
              <a:t>, un </a:t>
            </a:r>
            <a:r>
              <a:rPr lang="en-US" sz="1400" dirty="0" err="1">
                <a:latin typeface="Elephant" pitchFamily="18" charset="0"/>
              </a:rPr>
              <a:t>proces</a:t>
            </a:r>
            <a:r>
              <a:rPr lang="en-US" sz="1400" dirty="0">
                <a:latin typeface="Elephant" pitchFamily="18" charset="0"/>
              </a:rPr>
              <a:t> complex, </a:t>
            </a:r>
            <a:r>
              <a:rPr lang="en-US" sz="1400" dirty="0" err="1">
                <a:latin typeface="Elephant" pitchFamily="18" charset="0"/>
              </a:rPr>
              <a:t>controlat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enzimatic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Ecuatia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acestuia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537" y="1981319"/>
            <a:ext cx="282892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4953000" y="2482333"/>
            <a:ext cx="381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Initial </a:t>
            </a:r>
            <a:r>
              <a:rPr lang="en-US" sz="1400" dirty="0" err="1">
                <a:latin typeface="Elephant" pitchFamily="18" charset="0"/>
              </a:rPr>
              <a:t>acesti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compusi</a:t>
            </a:r>
            <a:r>
              <a:rPr lang="en-US" sz="1400" dirty="0">
                <a:latin typeface="Elephant" pitchFamily="18" charset="0"/>
              </a:rPr>
              <a:t> au </a:t>
            </a:r>
            <a:r>
              <a:rPr lang="en-US" sz="1400" dirty="0" err="1">
                <a:latin typeface="Elephant" pitchFamily="18" charset="0"/>
              </a:rPr>
              <a:t>fost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considerati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hidrati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carbonului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Cn</a:t>
            </a:r>
            <a:r>
              <a:rPr lang="en-US" sz="1400" dirty="0">
                <a:latin typeface="Elephant" pitchFamily="18" charset="0"/>
              </a:rPr>
              <a:t>(H2O)n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denumiti</a:t>
            </a:r>
            <a:r>
              <a:rPr lang="en-US" sz="1400" dirty="0">
                <a:latin typeface="Elephant" pitchFamily="18" charset="0"/>
              </a:rPr>
              <a:t>: </a:t>
            </a:r>
            <a:r>
              <a:rPr lang="en-US" sz="1400" dirty="0" err="1">
                <a:latin typeface="Elephant" pitchFamily="18" charset="0"/>
              </a:rPr>
              <a:t>hidrati</a:t>
            </a:r>
            <a:r>
              <a:rPr lang="en-US" sz="1400" dirty="0">
                <a:latin typeface="Elephant" pitchFamily="18" charset="0"/>
              </a:rPr>
              <a:t> de carbon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carbohidrati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Aceasta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denumire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mai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utilizeaza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astazi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structura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lor</a:t>
            </a:r>
            <a:r>
              <a:rPr lang="en-US" sz="1400" dirty="0">
                <a:latin typeface="Elephant" pitchFamily="18" charset="0"/>
              </a:rPr>
              <a:t> e </a:t>
            </a:r>
            <a:r>
              <a:rPr lang="en-US" sz="1400" dirty="0" err="1">
                <a:latin typeface="Elephant" pitchFamily="18" charset="0"/>
              </a:rPr>
              <a:t>alta.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3000" y="403860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Zaharidele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descompun</a:t>
            </a:r>
            <a:r>
              <a:rPr lang="en-US" sz="1400" dirty="0">
                <a:latin typeface="Elephant" pitchFamily="18" charset="0"/>
              </a:rPr>
              <a:t> la</a:t>
            </a:r>
          </a:p>
          <a:p>
            <a:pPr algn="just"/>
            <a:r>
              <a:rPr lang="en-US" sz="1400" dirty="0" err="1">
                <a:latin typeface="Elephant" pitchFamily="18" charset="0"/>
              </a:rPr>
              <a:t>incalzire</a:t>
            </a:r>
            <a:r>
              <a:rPr lang="en-US" sz="1400" dirty="0">
                <a:latin typeface="Elephant" pitchFamily="18" charset="0"/>
              </a:rPr>
              <a:t> in carbon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apa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2" y="4800600"/>
            <a:ext cx="17049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97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3581400" cy="1143000"/>
          </a:xfrm>
        </p:spPr>
        <p:txBody>
          <a:bodyPr>
            <a:normAutofit/>
          </a:bodyPr>
          <a:lstStyle/>
          <a:p>
            <a:r>
              <a:rPr lang="en-US" sz="2800" u="sng" dirty="0" err="1">
                <a:latin typeface="Elephant" pitchFamily="18" charset="0"/>
              </a:rPr>
              <a:t>Monozaharide</a:t>
            </a:r>
            <a:endParaRPr lang="en-US" sz="2800" u="sng" dirty="0">
              <a:latin typeface="Elephant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295397"/>
            <a:ext cx="41372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polihidroxialdehide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numite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aldoze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polihidroxicetone</a:t>
            </a:r>
            <a:r>
              <a:rPr lang="en-US" sz="1400" dirty="0">
                <a:latin typeface="Elephant" pitchFamily="18" charset="0"/>
              </a:rPr>
              <a:t>, </a:t>
            </a:r>
          </a:p>
          <a:p>
            <a:r>
              <a:rPr lang="en-US" sz="1400" dirty="0" err="1">
                <a:latin typeface="Elephant" pitchFamily="18" charset="0"/>
              </a:rPr>
              <a:t>numite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cetoze</a:t>
            </a:r>
            <a:r>
              <a:rPr lang="en-US" sz="1400" dirty="0">
                <a:latin typeface="Elephant" pitchFamily="18" charset="0"/>
              </a:rPr>
              <a:t>, cu </a:t>
            </a:r>
            <a:r>
              <a:rPr lang="en-US" sz="1400" dirty="0" err="1">
                <a:latin typeface="Elephant" pitchFamily="18" charset="0"/>
              </a:rPr>
              <a:t>formelele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generale</a:t>
            </a:r>
            <a:r>
              <a:rPr lang="en-US" sz="1400" dirty="0">
                <a:latin typeface="Elephant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43" y="2099582"/>
            <a:ext cx="23622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3590796"/>
            <a:ext cx="41930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Molecula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formata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dintr</a:t>
            </a:r>
            <a:r>
              <a:rPr lang="en-US" sz="1400" dirty="0">
                <a:latin typeface="Elephant" pitchFamily="18" charset="0"/>
              </a:rPr>
              <a:t>-o </a:t>
            </a:r>
            <a:r>
              <a:rPr lang="en-US" sz="1400" dirty="0" err="1">
                <a:latin typeface="Elephant" pitchFamily="18" charset="0"/>
              </a:rPr>
              <a:t>grupa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carbonil</a:t>
            </a:r>
            <a:r>
              <a:rPr lang="en-US" sz="1400" dirty="0">
                <a:latin typeface="Elephant" pitchFamily="18" charset="0"/>
              </a:rPr>
              <a:t> de tip </a:t>
            </a:r>
            <a:r>
              <a:rPr lang="en-US" sz="1400" dirty="0" err="1">
                <a:latin typeface="Elephant" pitchFamily="18" charset="0"/>
              </a:rPr>
              <a:t>aldehida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cetona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una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doua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alcool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primar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una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multe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alcool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secundar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829" y="4702629"/>
            <a:ext cx="37737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caracterizarea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se </a:t>
            </a:r>
            <a:r>
              <a:rPr lang="en-US" sz="1400" dirty="0" err="1">
                <a:latin typeface="Elephant" pitchFamily="18" charset="0"/>
              </a:rPr>
              <a:t>precizeaza</a:t>
            </a:r>
            <a:r>
              <a:rPr lang="en-US" sz="1400" dirty="0">
                <a:latin typeface="Elephant" pitchFamily="18" charset="0"/>
              </a:rPr>
              <a:t>: </a:t>
            </a:r>
            <a:r>
              <a:rPr lang="en-US" sz="1400" dirty="0" err="1">
                <a:latin typeface="Elephant" pitchFamily="18" charset="0"/>
              </a:rPr>
              <a:t>tipul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carbonil</a:t>
            </a:r>
            <a:r>
              <a:rPr lang="en-US" sz="1400" dirty="0">
                <a:latin typeface="Elephant" pitchFamily="18" charset="0"/>
              </a:rPr>
              <a:t>,</a:t>
            </a:r>
          </a:p>
          <a:p>
            <a:r>
              <a:rPr lang="en-US" sz="1400" dirty="0" err="1">
                <a:latin typeface="Elephant" pitchFamily="18" charset="0"/>
              </a:rPr>
              <a:t>numarul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atomilor</a:t>
            </a:r>
            <a:r>
              <a:rPr lang="en-US" sz="1400" dirty="0">
                <a:latin typeface="Elephant" pitchFamily="18" charset="0"/>
              </a:rPr>
              <a:t> de carbon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apare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sufixul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caracteristic</a:t>
            </a:r>
            <a:r>
              <a:rPr lang="en-US" sz="1400" dirty="0">
                <a:latin typeface="Elephant" pitchFamily="18" charset="0"/>
              </a:rPr>
              <a:t> –</a:t>
            </a:r>
            <a:r>
              <a:rPr lang="en-US" sz="1400" dirty="0" err="1">
                <a:latin typeface="Elephant" pitchFamily="18" charset="0"/>
              </a:rPr>
              <a:t>oza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7429" y="685800"/>
            <a:ext cx="1399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u="sng" dirty="0" err="1">
                <a:latin typeface="Elephant" pitchFamily="18" charset="0"/>
              </a:rPr>
              <a:t>Izomerie</a:t>
            </a:r>
            <a:endParaRPr lang="en-US" sz="1600" u="sng" dirty="0">
              <a:latin typeface="Elephant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6800" y="1306280"/>
            <a:ext cx="401744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au in </a:t>
            </a:r>
            <a:r>
              <a:rPr lang="en-US" sz="1400" dirty="0" err="1">
                <a:latin typeface="Elephant" pitchFamily="18" charset="0"/>
              </a:rPr>
              <a:t>molecula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unul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mai</a:t>
            </a:r>
            <a:r>
              <a:rPr lang="en-US" sz="1400" dirty="0">
                <a:latin typeface="Elephant" pitchFamily="18" charset="0"/>
              </a:rPr>
              <a:t> multi </a:t>
            </a:r>
            <a:r>
              <a:rPr lang="en-US" sz="1400" dirty="0" err="1">
                <a:latin typeface="Elephant" pitchFamily="18" charset="0"/>
              </a:rPr>
              <a:t>atomi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carboni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asimetrici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optic active.</a:t>
            </a:r>
          </a:p>
          <a:p>
            <a:r>
              <a:rPr lang="en-US" sz="1400" dirty="0" err="1">
                <a:latin typeface="Elephant" pitchFamily="18" charset="0"/>
              </a:rPr>
              <a:t>Numarul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stereoizomerilor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calculeaza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dupa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relatia</a:t>
            </a:r>
            <a:r>
              <a:rPr lang="en-US" sz="1400" dirty="0">
                <a:latin typeface="Elephant" pitchFamily="18" charset="0"/>
              </a:rPr>
              <a:t> 2^n, </a:t>
            </a:r>
            <a:r>
              <a:rPr lang="en-US" sz="1400" dirty="0" err="1">
                <a:latin typeface="Elephant" pitchFamily="18" charset="0"/>
              </a:rPr>
              <a:t>unde</a:t>
            </a:r>
            <a:r>
              <a:rPr lang="en-US" sz="1400" dirty="0">
                <a:latin typeface="Elephant" pitchFamily="18" charset="0"/>
              </a:rPr>
              <a:t> n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numarul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atomilor</a:t>
            </a:r>
            <a:r>
              <a:rPr lang="en-US" sz="1400" dirty="0">
                <a:latin typeface="Elephant" pitchFamily="18" charset="0"/>
              </a:rPr>
              <a:t> de carbon </a:t>
            </a:r>
            <a:r>
              <a:rPr lang="en-US" sz="1400" dirty="0" err="1">
                <a:latin typeface="Elephant" pitchFamily="18" charset="0"/>
              </a:rPr>
              <a:t>chirali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Astfel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sunt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2^4=16 </a:t>
            </a:r>
            <a:r>
              <a:rPr lang="en-US" sz="1400" dirty="0" err="1">
                <a:latin typeface="Elephant" pitchFamily="18" charset="0"/>
              </a:rPr>
              <a:t>aldohexoze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2^3=8 </a:t>
            </a:r>
            <a:r>
              <a:rPr lang="en-US" sz="1400" dirty="0" err="1">
                <a:latin typeface="Elephant" pitchFamily="18" charset="0"/>
              </a:rPr>
              <a:t>cetohexoze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9719" y="3200400"/>
            <a:ext cx="40218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functie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configuratia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atimului</a:t>
            </a:r>
            <a:r>
              <a:rPr lang="en-US" sz="1400" dirty="0">
                <a:latin typeface="Elephant" pitchFamily="18" charset="0"/>
              </a:rPr>
              <a:t> de </a:t>
            </a:r>
          </a:p>
          <a:p>
            <a:r>
              <a:rPr lang="en-US" sz="1400" dirty="0">
                <a:latin typeface="Elephant" pitchFamily="18" charset="0"/>
              </a:rPr>
              <a:t>carbon </a:t>
            </a:r>
            <a:r>
              <a:rPr lang="en-US" sz="1400" dirty="0" err="1">
                <a:latin typeface="Elephant" pitchFamily="18" charset="0"/>
              </a:rPr>
              <a:t>asimetric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departat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grupa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>
                <a:latin typeface="Elephant" pitchFamily="18" charset="0"/>
              </a:rPr>
              <a:t>carbonil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incadrate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doua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serii</a:t>
            </a:r>
            <a:r>
              <a:rPr lang="en-US" sz="1400" dirty="0">
                <a:latin typeface="Elephant" pitchFamily="18" charset="0"/>
              </a:rPr>
              <a:t> notate cu D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799" y="4419247"/>
            <a:ext cx="40841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D au </a:t>
            </a:r>
            <a:r>
              <a:rPr lang="en-US" sz="1400" dirty="0" err="1">
                <a:latin typeface="Elephant" pitchFamily="18" charset="0"/>
              </a:rPr>
              <a:t>fost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cuprinse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cele</a:t>
            </a:r>
            <a:r>
              <a:rPr lang="en-US" sz="1400" dirty="0">
                <a:latin typeface="Elephant" pitchFamily="18" charset="0"/>
              </a:rPr>
              <a:t> care au </a:t>
            </a:r>
          </a:p>
          <a:p>
            <a:r>
              <a:rPr lang="en-US" sz="1400" dirty="0">
                <a:latin typeface="Elephant" pitchFamily="18" charset="0"/>
              </a:rPr>
              <a:t>la </a:t>
            </a:r>
            <a:r>
              <a:rPr lang="en-US" sz="1400" dirty="0" err="1">
                <a:latin typeface="Elephant" pitchFamily="18" charset="0"/>
              </a:rPr>
              <a:t>acest</a:t>
            </a:r>
            <a:r>
              <a:rPr lang="en-US" sz="1400" dirty="0">
                <a:latin typeface="Elephant" pitchFamily="18" charset="0"/>
              </a:rPr>
              <a:t> atom de carbon chiral o </a:t>
            </a:r>
            <a:r>
              <a:rPr lang="en-US" sz="1400" dirty="0" err="1">
                <a:latin typeface="Elephant" pitchFamily="18" charset="0"/>
              </a:rPr>
              <a:t>configuratie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identica</a:t>
            </a:r>
            <a:r>
              <a:rPr lang="en-US" sz="1400" dirty="0">
                <a:latin typeface="Elephant" pitchFamily="18" charset="0"/>
              </a:rPr>
              <a:t> cu a D-</a:t>
            </a:r>
            <a:r>
              <a:rPr lang="en-US" sz="1400" dirty="0" err="1">
                <a:latin typeface="Elephant" pitchFamily="18" charset="0"/>
              </a:rPr>
              <a:t>glicerinaldehidei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84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3" name="TextBox 2"/>
          <p:cNvSpPr txBox="1"/>
          <p:nvPr/>
        </p:nvSpPr>
        <p:spPr>
          <a:xfrm>
            <a:off x="457200" y="533399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Exemple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784" y="5029200"/>
            <a:ext cx="160934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42" y="1054499"/>
            <a:ext cx="1219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92" y="3048000"/>
            <a:ext cx="10287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684" y="3048000"/>
            <a:ext cx="981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85" y="1042198"/>
            <a:ext cx="1205827" cy="185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76800" y="618957"/>
            <a:ext cx="38965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L au </a:t>
            </a:r>
            <a:r>
              <a:rPr lang="en-US" sz="1400" dirty="0" err="1">
                <a:latin typeface="Elephant" pitchFamily="18" charset="0"/>
              </a:rPr>
              <a:t>fost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cuprinse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cele</a:t>
            </a:r>
            <a:r>
              <a:rPr lang="en-US" sz="1400" dirty="0">
                <a:latin typeface="Elephant" pitchFamily="18" charset="0"/>
              </a:rPr>
              <a:t> care au</a:t>
            </a:r>
          </a:p>
          <a:p>
            <a:r>
              <a:rPr lang="en-US" sz="1400" dirty="0" err="1">
                <a:latin typeface="Elephant" pitchFamily="18" charset="0"/>
              </a:rPr>
              <a:t>atomul</a:t>
            </a:r>
            <a:r>
              <a:rPr lang="en-US" sz="1400" dirty="0">
                <a:latin typeface="Elephant" pitchFamily="18" charset="0"/>
              </a:rPr>
              <a:t> de carbon chiral o </a:t>
            </a:r>
            <a:r>
              <a:rPr lang="en-US" sz="1400" dirty="0" err="1">
                <a:latin typeface="Elephant" pitchFamily="18" charset="0"/>
              </a:rPr>
              <a:t>configuratie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identica</a:t>
            </a:r>
            <a:r>
              <a:rPr lang="en-US" sz="1400" dirty="0">
                <a:latin typeface="Elephant" pitchFamily="18" charset="0"/>
              </a:rPr>
              <a:t> cu a L-</a:t>
            </a:r>
            <a:r>
              <a:rPr lang="en-US" sz="1400" dirty="0" err="1">
                <a:latin typeface="Elephant" pitchFamily="18" charset="0"/>
              </a:rPr>
              <a:t>glicerinaldehidei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1415534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Exemple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120" y="1981199"/>
            <a:ext cx="35718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245" y="3962400"/>
            <a:ext cx="233362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33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</p:spPr>
      </p:pic>
      <p:sp>
        <p:nvSpPr>
          <p:cNvPr id="3" name="Rectangle 2"/>
          <p:cNvSpPr/>
          <p:nvPr/>
        </p:nvSpPr>
        <p:spPr>
          <a:xfrm>
            <a:off x="381000" y="685800"/>
            <a:ext cx="4038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Fiecare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termen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L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enantiomerul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corespunzitor</a:t>
            </a:r>
            <a:r>
              <a:rPr lang="en-US" sz="1400" dirty="0">
                <a:latin typeface="Elephant" pitchFamily="18" charset="0"/>
              </a:rPr>
              <a:t> al </a:t>
            </a:r>
            <a:r>
              <a:rPr lang="en-US" sz="1400" dirty="0" err="1">
                <a:latin typeface="Elephant" pitchFamily="18" charset="0"/>
              </a:rPr>
              <a:t>unui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termen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3810000"/>
            <a:ext cx="403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Doua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izomere</a:t>
            </a:r>
            <a:r>
              <a:rPr lang="en-US" sz="1400" dirty="0">
                <a:latin typeface="Elephant" pitchFamily="18" charset="0"/>
              </a:rPr>
              <a:t> care </a:t>
            </a:r>
            <a:r>
              <a:rPr lang="en-US" sz="1400" dirty="0" err="1">
                <a:latin typeface="Elephant" pitchFamily="18" charset="0"/>
              </a:rPr>
              <a:t>difera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intre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doar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configuratia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unui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singur</a:t>
            </a:r>
            <a:r>
              <a:rPr lang="en-US" sz="1400" dirty="0">
                <a:latin typeface="Elephant" pitchFamily="18" charset="0"/>
              </a:rPr>
              <a:t> atom de carbon </a:t>
            </a:r>
            <a:r>
              <a:rPr lang="en-US" sz="1400" dirty="0" err="1">
                <a:latin typeface="Elephant" pitchFamily="18" charset="0"/>
              </a:rPr>
              <a:t>asimetric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numesc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epimeri</a:t>
            </a:r>
            <a:r>
              <a:rPr lang="en-US" sz="1400" dirty="0">
                <a:latin typeface="Elephant" pitchFamily="18" charset="0"/>
              </a:rPr>
              <a:t>. De </a:t>
            </a:r>
            <a:r>
              <a:rPr lang="en-US" sz="1400" dirty="0" err="1">
                <a:latin typeface="Elephant" pitchFamily="18" charset="0"/>
              </a:rPr>
              <a:t>exemplu</a:t>
            </a:r>
            <a:r>
              <a:rPr lang="en-US" sz="1400" dirty="0">
                <a:latin typeface="Elephant" pitchFamily="18" charset="0"/>
              </a:rPr>
              <a:t>, 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monoza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epimeri</a:t>
            </a:r>
            <a:r>
              <a:rPr lang="en-US" sz="1400" dirty="0">
                <a:latin typeface="Elephant" pitchFamily="18" charset="0"/>
              </a:rPr>
              <a:t> C2, </a:t>
            </a:r>
            <a:r>
              <a:rPr lang="en-US" sz="1400" dirty="0" err="1">
                <a:latin typeface="Elephant" pitchFamily="18" charset="0"/>
              </a:rPr>
              <a:t>iar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galactoza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epimeri</a:t>
            </a:r>
            <a:r>
              <a:rPr lang="en-US" sz="1400" dirty="0">
                <a:latin typeface="Elephant" pitchFamily="18" charset="0"/>
              </a:rPr>
              <a:t> C4. </a:t>
            </a:r>
            <a:r>
              <a:rPr lang="en-US" sz="1400" dirty="0" err="1">
                <a:latin typeface="Elephant" pitchFamily="18" charset="0"/>
              </a:rPr>
              <a:t>Epimerii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un </a:t>
            </a:r>
            <a:r>
              <a:rPr lang="en-US" sz="1400" dirty="0" err="1">
                <a:latin typeface="Elephant" pitchFamily="18" charset="0"/>
              </a:rPr>
              <a:t>caz</a:t>
            </a:r>
            <a:r>
              <a:rPr lang="en-US" sz="1400" dirty="0">
                <a:latin typeface="Elephant" pitchFamily="18" charset="0"/>
              </a:rPr>
              <a:t> particular de </a:t>
            </a:r>
            <a:r>
              <a:rPr lang="en-US" sz="1400" dirty="0" err="1">
                <a:latin typeface="Elephant" pitchFamily="18" charset="0"/>
              </a:rPr>
              <a:t>diastereoizomerie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752600"/>
            <a:ext cx="403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Notaliile</a:t>
            </a:r>
            <a:r>
              <a:rPr lang="en-US" sz="1400" dirty="0">
                <a:latin typeface="Elephant" pitchFamily="18" charset="0"/>
              </a:rPr>
              <a:t> L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D nu au </a:t>
            </a:r>
            <a:r>
              <a:rPr lang="en-US" sz="1400" dirty="0" err="1">
                <a:latin typeface="Elephant" pitchFamily="18" charset="0"/>
              </a:rPr>
              <a:t>nicio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cu</a:t>
            </a:r>
          </a:p>
          <a:p>
            <a:r>
              <a:rPr lang="en-US" sz="1400" dirty="0" err="1">
                <a:latin typeface="Elephant" pitchFamily="18" charset="0"/>
              </a:rPr>
              <a:t>cuvintele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dextrogir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levogir</a:t>
            </a:r>
            <a:r>
              <a:rPr lang="en-US" sz="1400" dirty="0">
                <a:latin typeface="Elephant" pitchFamily="18" charset="0"/>
              </a:rPr>
              <a:t>, care </a:t>
            </a:r>
            <a:r>
              <a:rPr lang="en-US" sz="1400" dirty="0" err="1">
                <a:latin typeface="Elephant" pitchFamily="18" charset="0"/>
              </a:rPr>
              <a:t>indica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sensul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rotatie</a:t>
            </a:r>
            <a:r>
              <a:rPr lang="en-US" sz="1400" dirty="0">
                <a:latin typeface="Elephant" pitchFamily="18" charset="0"/>
              </a:rPr>
              <a:t> al </a:t>
            </a:r>
            <a:r>
              <a:rPr lang="en-US" sz="1400" dirty="0" err="1">
                <a:latin typeface="Elephant" pitchFamily="18" charset="0"/>
              </a:rPr>
              <a:t>planului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luminii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polarizate</a:t>
            </a:r>
            <a:r>
              <a:rPr lang="en-US" sz="1400" dirty="0">
                <a:latin typeface="Elephant" pitchFamily="18" charset="0"/>
              </a:rPr>
              <a:t>. De </a:t>
            </a:r>
            <a:r>
              <a:rPr lang="en-US" sz="1400" dirty="0" err="1">
                <a:latin typeface="Elephant" pitchFamily="18" charset="0"/>
              </a:rPr>
              <a:t>exemplu</a:t>
            </a:r>
            <a:r>
              <a:rPr lang="en-US" sz="1400" dirty="0">
                <a:latin typeface="Elephant" pitchFamily="18" charset="0"/>
              </a:rPr>
              <a:t>. D-</a:t>
            </a:r>
            <a:r>
              <a:rPr lang="en-US" sz="1400" dirty="0" err="1">
                <a:latin typeface="Elephant" pitchFamily="18" charset="0"/>
              </a:rPr>
              <a:t>fructoza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levogira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iar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dextrogira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Marea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majoritate</a:t>
            </a:r>
            <a:r>
              <a:rPr lang="en-US" sz="1400" dirty="0">
                <a:latin typeface="Elephant" pitchFamily="18" charset="0"/>
              </a:rPr>
              <a:t> a </a:t>
            </a:r>
            <a:r>
              <a:rPr lang="en-US" sz="1400" dirty="0" err="1">
                <a:latin typeface="Elephant" pitchFamily="18" charset="0"/>
              </a:rPr>
              <a:t>monozaharidelor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naturale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fac</a:t>
            </a:r>
            <a:r>
              <a:rPr lang="en-US" sz="1400" dirty="0">
                <a:latin typeface="Elephant" pitchFamily="18" charset="0"/>
              </a:rPr>
              <a:t> parte din </a:t>
            </a:r>
            <a:r>
              <a:rPr lang="en-US" sz="1400" dirty="0" err="1">
                <a:latin typeface="Elephant" pitchFamily="18" charset="0"/>
              </a:rPr>
              <a:t>seria</a:t>
            </a:r>
            <a:r>
              <a:rPr lang="en-US" sz="1400" dirty="0">
                <a:latin typeface="Elephant" pitchFamily="18" charset="0"/>
              </a:rPr>
              <a:t> 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6543" y="501134"/>
            <a:ext cx="1487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u="sng" dirty="0" err="1">
                <a:latin typeface="Elephant" pitchFamily="18" charset="0"/>
              </a:rPr>
              <a:t>Structura</a:t>
            </a:r>
            <a:endParaRPr lang="en-US" sz="1600" u="sng" dirty="0">
              <a:latin typeface="Elephant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0" y="1219199"/>
            <a:ext cx="39319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Toate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pentozele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hexozele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adopta</a:t>
            </a:r>
            <a:r>
              <a:rPr lang="en-US" sz="1400" dirty="0">
                <a:latin typeface="Elephant" pitchFamily="18" charset="0"/>
              </a:rPr>
              <a:t> o</a:t>
            </a:r>
          </a:p>
          <a:p>
            <a:r>
              <a:rPr lang="en-US" sz="1400" dirty="0">
                <a:latin typeface="Elephant" pitchFamily="18" charset="0"/>
              </a:rPr>
              <a:t>forma </a:t>
            </a:r>
            <a:r>
              <a:rPr lang="en-US" sz="1400" dirty="0" err="1">
                <a:latin typeface="Elephant" pitchFamily="18" charset="0"/>
              </a:rPr>
              <a:t>cuclica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aditia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grupe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la </a:t>
            </a:r>
            <a:r>
              <a:rPr lang="en-US" sz="1400" dirty="0" err="1">
                <a:latin typeface="Elephant" pitchFamily="18" charset="0"/>
              </a:rPr>
              <a:t>grupa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carbonil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Formele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ciclice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mai</a:t>
            </a:r>
            <a:r>
              <a:rPr lang="en-US" sz="1400" dirty="0">
                <a:latin typeface="Elephant" pitchFamily="18" charset="0"/>
              </a:rPr>
              <a:t> stabile </a:t>
            </a:r>
            <a:r>
              <a:rPr lang="en-US" sz="1400" dirty="0" err="1">
                <a:latin typeface="Elephant" pitchFamily="18" charset="0"/>
              </a:rPr>
              <a:t>decat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aciclice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2315679"/>
            <a:ext cx="38427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Pentru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reprezentarea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structurilor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ciclice</a:t>
            </a:r>
            <a:r>
              <a:rPr lang="en-US" sz="1400" dirty="0">
                <a:latin typeface="Elephant" pitchFamily="18" charset="0"/>
              </a:rPr>
              <a:t> ale </a:t>
            </a:r>
            <a:r>
              <a:rPr lang="en-US" sz="1400" dirty="0" err="1">
                <a:latin typeface="Elephant" pitchFamily="18" charset="0"/>
              </a:rPr>
              <a:t>monozaharidelor</a:t>
            </a:r>
            <a:r>
              <a:rPr lang="en-US" sz="1400" dirty="0">
                <a:latin typeface="Elephant" pitchFamily="18" charset="0"/>
              </a:rPr>
              <a:t> se pot </a:t>
            </a:r>
            <a:r>
              <a:rPr lang="en-US" sz="1400" dirty="0" err="1">
                <a:latin typeface="Elephant" pitchFamily="18" charset="0"/>
              </a:rPr>
              <a:t>utiliza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formule</a:t>
            </a:r>
            <a:r>
              <a:rPr lang="en-US" sz="1400" dirty="0">
                <a:latin typeface="Elephant" pitchFamily="18" charset="0"/>
              </a:rPr>
              <a:t> Fischer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formule</a:t>
            </a:r>
            <a:r>
              <a:rPr lang="en-US" sz="1400" dirty="0">
                <a:latin typeface="Elephant" pitchFamily="18" charset="0"/>
              </a:rPr>
              <a:t> Haworth.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628" y="3430558"/>
            <a:ext cx="3775891" cy="1695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17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686" y="1219200"/>
            <a:ext cx="414068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urma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ciclizarii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apare</a:t>
            </a:r>
            <a:r>
              <a:rPr lang="en-US" sz="1400" dirty="0">
                <a:latin typeface="Elephant" pitchFamily="18" charset="0"/>
              </a:rPr>
              <a:t> o </a:t>
            </a:r>
            <a:r>
              <a:rPr lang="en-US" sz="1400" dirty="0" err="1">
                <a:latin typeface="Elephant" pitchFamily="18" charset="0"/>
              </a:rPr>
              <a:t>grupa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,</a:t>
            </a:r>
          </a:p>
          <a:p>
            <a:r>
              <a:rPr lang="en-US" sz="1400" dirty="0" err="1">
                <a:latin typeface="Elephant" pitchFamily="18" charset="0"/>
              </a:rPr>
              <a:t>numita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</a:t>
            </a:r>
            <a:r>
              <a:rPr lang="en-US" sz="1400" dirty="0">
                <a:latin typeface="Elephant" pitchFamily="18" charset="0"/>
              </a:rPr>
              <a:t>, care </a:t>
            </a:r>
            <a:r>
              <a:rPr lang="en-US" sz="1400" dirty="0" err="1">
                <a:latin typeface="Elephant" pitchFamily="18" charset="0"/>
              </a:rPr>
              <a:t>poate</a:t>
            </a:r>
            <a:r>
              <a:rPr lang="en-US" sz="1400" dirty="0">
                <a:latin typeface="Elephant" pitchFamily="18" charset="0"/>
              </a:rPr>
              <a:t> fi</a:t>
            </a:r>
          </a:p>
          <a:p>
            <a:r>
              <a:rPr lang="en-US" sz="1400" dirty="0" err="1">
                <a:latin typeface="Elephant" pitchFamily="18" charset="0"/>
              </a:rPr>
              <a:t>dispusa</a:t>
            </a:r>
            <a:r>
              <a:rPr lang="en-US" sz="1400" dirty="0">
                <a:latin typeface="Elephant" pitchFamily="18" charset="0"/>
              </a:rPr>
              <a:t>, in </a:t>
            </a:r>
            <a:r>
              <a:rPr lang="en-US" sz="1400" dirty="0" err="1">
                <a:latin typeface="Elephant" pitchFamily="18" charset="0"/>
              </a:rPr>
              <a:t>raport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hidroxilul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pozitia</a:t>
            </a:r>
            <a:r>
              <a:rPr lang="en-US" sz="1400" dirty="0">
                <a:latin typeface="Elephant" pitchFamily="18" charset="0"/>
              </a:rPr>
              <a:t> 4</a:t>
            </a:r>
          </a:p>
          <a:p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cel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pozitia</a:t>
            </a:r>
            <a:r>
              <a:rPr lang="en-US" sz="1400" dirty="0">
                <a:latin typeface="Elephant" pitchFamily="18" charset="0"/>
              </a:rPr>
              <a:t> 2, de </a:t>
            </a:r>
            <a:r>
              <a:rPr lang="en-US" sz="1400" dirty="0" err="1">
                <a:latin typeface="Elephant" pitchFamily="18" charset="0"/>
              </a:rPr>
              <a:t>aceeasi</a:t>
            </a:r>
            <a:r>
              <a:rPr lang="en-US" sz="1400" dirty="0">
                <a:latin typeface="Elephant" pitchFamily="18" charset="0"/>
              </a:rPr>
              <a:t> parte</a:t>
            </a:r>
          </a:p>
          <a:p>
            <a:r>
              <a:rPr lang="en-US" sz="1400" dirty="0">
                <a:latin typeface="Elephant" pitchFamily="18" charset="0"/>
              </a:rPr>
              <a:t>a </a:t>
            </a:r>
            <a:r>
              <a:rPr lang="en-US" sz="1400" dirty="0" err="1">
                <a:latin typeface="Elephant" pitchFamily="18" charset="0"/>
              </a:rPr>
              <a:t>catenei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ciclice</a:t>
            </a:r>
            <a:r>
              <a:rPr lang="en-US" sz="1400" dirty="0">
                <a:latin typeface="Elephant" pitchFamily="18" charset="0"/>
              </a:rPr>
              <a:t>, in </a:t>
            </a:r>
            <a:r>
              <a:rPr lang="en-US" sz="1400" dirty="0" err="1">
                <a:latin typeface="Elephant" pitchFamily="18" charset="0"/>
              </a:rPr>
              <a:t>stereoizomerul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glucoza</a:t>
            </a:r>
            <a:r>
              <a:rPr lang="en-US" sz="1400" dirty="0">
                <a:latin typeface="Elephant" pitchFamily="18" charset="0"/>
                <a:cs typeface="Times New Roman"/>
              </a:rPr>
              <a:t>,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sau</a:t>
            </a:r>
            <a:r>
              <a:rPr lang="en-US" sz="1400" dirty="0">
                <a:latin typeface="Elephant" pitchFamily="18" charset="0"/>
                <a:cs typeface="Times New Roman"/>
              </a:rPr>
              <a:t> de </a:t>
            </a:r>
            <a:r>
              <a:rPr lang="en-US" sz="1400" dirty="0" err="1">
                <a:latin typeface="Elephant" pitchFamily="18" charset="0"/>
                <a:cs typeface="Times New Roman"/>
              </a:rPr>
              <a:t>cealalta</a:t>
            </a:r>
            <a:r>
              <a:rPr lang="en-US" sz="1400" dirty="0">
                <a:latin typeface="Elephant" pitchFamily="18" charset="0"/>
                <a:cs typeface="Times New Roman"/>
              </a:rPr>
              <a:t> parte a </a:t>
            </a:r>
            <a:r>
              <a:rPr lang="en-US" sz="1400" dirty="0" err="1">
                <a:latin typeface="Elephant" pitchFamily="18" charset="0"/>
                <a:cs typeface="Times New Roman"/>
              </a:rPr>
              <a:t>catenei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ciclice</a:t>
            </a:r>
            <a:r>
              <a:rPr lang="en-US" sz="1400" dirty="0">
                <a:latin typeface="Elephant" pitchFamily="18" charset="0"/>
                <a:cs typeface="Times New Roman"/>
              </a:rPr>
              <a:t>, in 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stereoizomerul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glucoza</a:t>
            </a:r>
            <a:r>
              <a:rPr lang="en-US" sz="1400" dirty="0">
                <a:latin typeface="Elephant" pitchFamily="18" charset="0"/>
                <a:cs typeface="Times New Roman"/>
              </a:rPr>
              <a:t>.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5067" y="3581400"/>
            <a:ext cx="40601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La </a:t>
            </a:r>
            <a:r>
              <a:rPr lang="en-US" sz="1400" dirty="0" err="1">
                <a:latin typeface="Elephant" pitchFamily="18" charset="0"/>
              </a:rPr>
              <a:t>inchiderea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ciclului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atomul</a:t>
            </a:r>
            <a:r>
              <a:rPr lang="en-US" sz="1400" dirty="0">
                <a:latin typeface="Elephant" pitchFamily="18" charset="0"/>
              </a:rPr>
              <a:t> de carbon</a:t>
            </a:r>
          </a:p>
          <a:p>
            <a:r>
              <a:rPr lang="en-US" sz="1400" dirty="0">
                <a:latin typeface="Elephant" pitchFamily="18" charset="0"/>
              </a:rPr>
              <a:t>din </a:t>
            </a:r>
            <a:r>
              <a:rPr lang="en-US" sz="1400" dirty="0" err="1">
                <a:latin typeface="Elephant" pitchFamily="18" charset="0"/>
              </a:rPr>
              <a:t>grupa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devine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asimetric</a:t>
            </a:r>
            <a:r>
              <a:rPr lang="en-US" sz="1400" dirty="0">
                <a:latin typeface="Elephant" pitchFamily="18" charset="0"/>
              </a:rPr>
              <a:t>, se</a:t>
            </a:r>
          </a:p>
          <a:p>
            <a:r>
              <a:rPr lang="en-US" sz="1400" dirty="0" err="1">
                <a:latin typeface="Elephant" pitchFamily="18" charset="0"/>
              </a:rPr>
              <a:t>numeste</a:t>
            </a:r>
            <a:r>
              <a:rPr lang="en-US" sz="1400" dirty="0">
                <a:latin typeface="Elephant" pitchFamily="18" charset="0"/>
              </a:rPr>
              <a:t> carbon </a:t>
            </a:r>
            <a:r>
              <a:rPr lang="en-US" sz="1400" dirty="0" err="1">
                <a:latin typeface="Elephant" pitchFamily="18" charset="0"/>
              </a:rPr>
              <a:t>anomeric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singurul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atom de carbon din </a:t>
            </a:r>
            <a:r>
              <a:rPr lang="en-US" sz="1400" dirty="0" err="1">
                <a:latin typeface="Elephant" pitchFamily="18" charset="0"/>
              </a:rPr>
              <a:t>molecula</a:t>
            </a:r>
            <a:r>
              <a:rPr lang="en-US" sz="1400" dirty="0">
                <a:latin typeface="Elephant" pitchFamily="18" charset="0"/>
              </a:rPr>
              <a:t> care se </a:t>
            </a:r>
            <a:r>
              <a:rPr lang="en-US" sz="1400" dirty="0" err="1">
                <a:latin typeface="Elephant" pitchFamily="18" charset="0"/>
              </a:rPr>
              <a:t>leaga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>
                <a:latin typeface="Elephant" pitchFamily="18" charset="0"/>
              </a:rPr>
              <a:t>doi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atomi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oxigen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0568" y="454223"/>
            <a:ext cx="2283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 err="1">
                <a:latin typeface="Elephant" pitchFamily="18" charset="0"/>
              </a:rPr>
              <a:t>Proprietati</a:t>
            </a:r>
            <a:r>
              <a:rPr lang="en-US" sz="1600" dirty="0">
                <a:latin typeface="Elephant" pitchFamily="18" charset="0"/>
              </a:rPr>
              <a:t> </a:t>
            </a:r>
            <a:r>
              <a:rPr lang="en-US" sz="1600" dirty="0" err="1">
                <a:latin typeface="Elephant" pitchFamily="18" charset="0"/>
              </a:rPr>
              <a:t>fizice</a:t>
            </a:r>
            <a:r>
              <a:rPr lang="en-US" sz="1600" dirty="0">
                <a:latin typeface="Elephant" pitchFamily="18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206823"/>
            <a:ext cx="413978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Moleculele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asociate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legaturi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hidrogen</a:t>
            </a:r>
            <a:r>
              <a:rPr lang="en-US" sz="1400" dirty="0">
                <a:latin typeface="Elephant" pitchFamily="18" charset="0"/>
              </a:rPr>
              <a:t>;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substantele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solide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cristalizate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albe</a:t>
            </a:r>
            <a:r>
              <a:rPr lang="en-US" sz="1400" dirty="0">
                <a:latin typeface="Elephant" pitchFamily="18" charset="0"/>
              </a:rPr>
              <a:t>, care la </a:t>
            </a:r>
            <a:r>
              <a:rPr lang="en-US" sz="1400" dirty="0" err="1">
                <a:latin typeface="Elephant" pitchFamily="18" charset="0"/>
              </a:rPr>
              <a:t>incalzire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avansata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descompun</a:t>
            </a:r>
            <a:r>
              <a:rPr lang="en-US" sz="1400" dirty="0">
                <a:latin typeface="Elephant" pitchFamily="18" charset="0"/>
              </a:rPr>
              <a:t> in carbon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apa</a:t>
            </a:r>
            <a:r>
              <a:rPr lang="en-US" sz="1400" dirty="0">
                <a:latin typeface="Elephant" pitchFamily="18" charset="0"/>
              </a:rPr>
              <a:t>;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solubile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apa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putin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solubile</a:t>
            </a:r>
            <a:r>
              <a:rPr lang="en-US" sz="1400" dirty="0">
                <a:latin typeface="Elephant" pitchFamily="18" charset="0"/>
              </a:rPr>
              <a:t> in</a:t>
            </a:r>
          </a:p>
          <a:p>
            <a:r>
              <a:rPr lang="en-US" sz="1400" dirty="0" err="1">
                <a:latin typeface="Elephant" pitchFamily="18" charset="0"/>
              </a:rPr>
              <a:t>alcool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greu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solubile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solventi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organici</a:t>
            </a:r>
            <a:r>
              <a:rPr lang="en-US" sz="1400" dirty="0">
                <a:latin typeface="Elephant" pitchFamily="18" charset="0"/>
              </a:rPr>
              <a:t>;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Au gust </a:t>
            </a:r>
            <a:r>
              <a:rPr lang="en-US" sz="1400" dirty="0" err="1">
                <a:latin typeface="Elephant" pitchFamily="18" charset="0"/>
              </a:rPr>
              <a:t>dulce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proprietate</a:t>
            </a:r>
            <a:r>
              <a:rPr lang="en-US" sz="1400" dirty="0">
                <a:latin typeface="Elephant" pitchFamily="18" charset="0"/>
              </a:rPr>
              <a:t> care se</a:t>
            </a:r>
          </a:p>
          <a:p>
            <a:r>
              <a:rPr lang="en-US" sz="1400" dirty="0" err="1">
                <a:latin typeface="Elephant" pitchFamily="18" charset="0"/>
              </a:rPr>
              <a:t>intensifica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odata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cresterea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numarului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>
                <a:latin typeface="Elephant" pitchFamily="18" charset="0"/>
              </a:rPr>
              <a:t>grupe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molecula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>
                <a:latin typeface="Elephant" pitchFamily="18" charset="0"/>
              </a:rPr>
              <a:t>are 75% din </a:t>
            </a:r>
            <a:r>
              <a:rPr lang="en-US" sz="1400" dirty="0" err="1">
                <a:latin typeface="Elephant" pitchFamily="18" charset="0"/>
              </a:rPr>
              <a:t>puterea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indulcire</a:t>
            </a:r>
            <a:r>
              <a:rPr lang="en-US" sz="1400" dirty="0">
                <a:latin typeface="Elephant" pitchFamily="18" charset="0"/>
              </a:rPr>
              <a:t> a </a:t>
            </a:r>
            <a:r>
              <a:rPr lang="en-US" sz="1400" dirty="0" err="1">
                <a:latin typeface="Elephant" pitchFamily="18" charset="0"/>
              </a:rPr>
              <a:t>fructozei</a:t>
            </a:r>
            <a:r>
              <a:rPr lang="en-US" sz="1400" dirty="0">
                <a:latin typeface="Elephant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875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18997"/>
            <a:ext cx="2470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 err="1">
                <a:latin typeface="Elephant" pitchFamily="18" charset="0"/>
              </a:rPr>
              <a:t>Proprietati</a:t>
            </a:r>
            <a:r>
              <a:rPr lang="en-US" sz="1600" dirty="0">
                <a:latin typeface="Elephant" pitchFamily="18" charset="0"/>
              </a:rPr>
              <a:t> </a:t>
            </a:r>
            <a:r>
              <a:rPr lang="en-US" sz="1600" dirty="0" err="1">
                <a:latin typeface="Elephant" pitchFamily="18" charset="0"/>
              </a:rPr>
              <a:t>chimice</a:t>
            </a:r>
            <a:endParaRPr lang="en-US" sz="1600" dirty="0">
              <a:latin typeface="Elephant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E99CE-5C6B-64F5-65B8-A1A6E7F5C576}"/>
              </a:ext>
            </a:extLst>
          </p:cNvPr>
          <p:cNvSpPr txBox="1"/>
          <p:nvPr/>
        </p:nvSpPr>
        <p:spPr>
          <a:xfrm>
            <a:off x="562735" y="1079084"/>
            <a:ext cx="3527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u="sng" dirty="0" err="1">
                <a:latin typeface="Elephant" pitchFamily="18" charset="0"/>
              </a:rPr>
              <a:t>Reactia</a:t>
            </a:r>
            <a:r>
              <a:rPr lang="en-US" sz="1600" u="sng" dirty="0">
                <a:latin typeface="Elephant" pitchFamily="18" charset="0"/>
              </a:rPr>
              <a:t> de </a:t>
            </a:r>
            <a:r>
              <a:rPr lang="en-US" sz="1600" u="sng" dirty="0" err="1">
                <a:latin typeface="Elephant" pitchFamily="18" charset="0"/>
              </a:rPr>
              <a:t>oxidare</a:t>
            </a:r>
            <a:r>
              <a:rPr lang="en-US" sz="1600" u="sng" dirty="0">
                <a:latin typeface="Elephant" pitchFamily="18" charset="0"/>
              </a:rPr>
              <a:t> a </a:t>
            </a:r>
            <a:r>
              <a:rPr lang="en-US" sz="1600" u="sng" dirty="0" err="1">
                <a:latin typeface="Elephant" pitchFamily="18" charset="0"/>
              </a:rPr>
              <a:t>aldozelor</a:t>
            </a:r>
            <a:endParaRPr lang="en-US" sz="1600" u="sng" dirty="0">
              <a:latin typeface="Elephant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7DFBA-8E01-E9F2-5CDF-5AD830144717}"/>
              </a:ext>
            </a:extLst>
          </p:cNvPr>
          <p:cNvSpPr txBox="1"/>
          <p:nvPr/>
        </p:nvSpPr>
        <p:spPr>
          <a:xfrm>
            <a:off x="457201" y="1550894"/>
            <a:ext cx="3733799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350" dirty="0">
                <a:latin typeface="Elephant" pitchFamily="18" charset="0"/>
              </a:rPr>
              <a:t>In </a:t>
            </a:r>
            <a:r>
              <a:rPr lang="en-US" sz="1350" dirty="0" err="1">
                <a:latin typeface="Elephant" pitchFamily="18" charset="0"/>
              </a:rPr>
              <a:t>molecula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unei</a:t>
            </a:r>
            <a:r>
              <a:rPr lang="en-US" sz="1350" dirty="0">
                <a:latin typeface="Elephant" pitchFamily="18" charset="0"/>
              </a:rPr>
              <a:t> aldose se </a:t>
            </a:r>
            <a:r>
              <a:rPr lang="en-US" sz="1350" dirty="0" err="1">
                <a:latin typeface="Elephant" pitchFamily="18" charset="0"/>
              </a:rPr>
              <a:t>afla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grupe</a:t>
            </a:r>
            <a:r>
              <a:rPr lang="en-US" sz="1350" dirty="0">
                <a:latin typeface="Elephant" pitchFamily="18" charset="0"/>
              </a:rPr>
              <a:t> </a:t>
            </a:r>
          </a:p>
          <a:p>
            <a:r>
              <a:rPr lang="en-US" sz="1350" dirty="0" err="1">
                <a:latin typeface="Elephant" pitchFamily="18" charset="0"/>
              </a:rPr>
              <a:t>functionale</a:t>
            </a:r>
            <a:r>
              <a:rPr lang="en-US" sz="1350" dirty="0">
                <a:latin typeface="Elephant" pitchFamily="18" charset="0"/>
              </a:rPr>
              <a:t> (--CH=O, --CH2OH) care pot </a:t>
            </a:r>
            <a:r>
              <a:rPr lang="en-US" sz="1350" dirty="0" err="1">
                <a:latin typeface="Elephant" pitchFamily="18" charset="0"/>
              </a:rPr>
              <a:t>trece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usor</a:t>
            </a:r>
            <a:r>
              <a:rPr lang="en-US" sz="1350" dirty="0">
                <a:latin typeface="Elephant" pitchFamily="18" charset="0"/>
              </a:rPr>
              <a:t> in </a:t>
            </a:r>
            <a:r>
              <a:rPr lang="en-US" sz="1350" dirty="0" err="1">
                <a:latin typeface="Elephant" pitchFamily="18" charset="0"/>
              </a:rPr>
              <a:t>grupe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carboxil</a:t>
            </a:r>
            <a:r>
              <a:rPr lang="en-US" sz="1350" dirty="0">
                <a:latin typeface="Elephant" pitchFamily="18" charset="0"/>
              </a:rPr>
              <a:t> (--COOH) sub </a:t>
            </a:r>
            <a:r>
              <a:rPr lang="en-US" sz="1350" dirty="0" err="1">
                <a:latin typeface="Elephant" pitchFamily="18" charset="0"/>
              </a:rPr>
              <a:t>actiunea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unor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agenti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oxidanti</a:t>
            </a:r>
            <a:r>
              <a:rPr lang="en-US" sz="1350" dirty="0">
                <a:latin typeface="Elephant" pitchFamily="18" charset="0"/>
              </a:rPr>
              <a:t>.</a:t>
            </a:r>
          </a:p>
          <a:p>
            <a:endParaRPr lang="en-US" sz="1350" dirty="0">
              <a:latin typeface="Elephant" pitchFamily="18" charset="0"/>
            </a:endParaRPr>
          </a:p>
          <a:p>
            <a:r>
              <a:rPr lang="en-US" sz="1350" dirty="0">
                <a:latin typeface="Elephant" pitchFamily="18" charset="0"/>
              </a:rPr>
              <a:t>1.1 </a:t>
            </a:r>
            <a:r>
              <a:rPr lang="en-US" sz="1350" dirty="0" err="1">
                <a:latin typeface="Elephant" pitchFamily="18" charset="0"/>
              </a:rPr>
              <a:t>Reactia</a:t>
            </a:r>
            <a:r>
              <a:rPr lang="en-US" sz="1350" dirty="0">
                <a:latin typeface="Elephant" pitchFamily="18" charset="0"/>
              </a:rPr>
              <a:t> de </a:t>
            </a:r>
            <a:r>
              <a:rPr lang="en-US" sz="1350" dirty="0" err="1">
                <a:latin typeface="Elephant" pitchFamily="18" charset="0"/>
              </a:rPr>
              <a:t>oxidare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blanda</a:t>
            </a:r>
            <a:r>
              <a:rPr lang="en-US" sz="1350" dirty="0">
                <a:latin typeface="Elephant" pitchFamily="18" charset="0"/>
              </a:rPr>
              <a:t>:</a:t>
            </a: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endParaRPr lang="en-US" sz="1350" dirty="0">
              <a:latin typeface="Elephant" pitchFamily="18" charset="0"/>
            </a:endParaRPr>
          </a:p>
          <a:p>
            <a:r>
              <a:rPr lang="en-US" sz="1350" dirty="0" err="1">
                <a:latin typeface="Elephant" pitchFamily="18" charset="0"/>
              </a:rPr>
              <a:t>Conditii</a:t>
            </a:r>
            <a:r>
              <a:rPr lang="en-US" sz="1350" dirty="0">
                <a:latin typeface="Elephant" pitchFamily="18" charset="0"/>
              </a:rPr>
              <a:t>: </a:t>
            </a:r>
          </a:p>
          <a:p>
            <a:r>
              <a:rPr lang="en-US" sz="1350" dirty="0">
                <a:latin typeface="Elephant" pitchFamily="18" charset="0"/>
              </a:rPr>
              <a:t>a) </a:t>
            </a:r>
            <a:r>
              <a:rPr lang="en-US" sz="1350" dirty="0" err="1">
                <a:latin typeface="Elephant" pitchFamily="18" charset="0"/>
              </a:rPr>
              <a:t>apa</a:t>
            </a:r>
            <a:r>
              <a:rPr lang="en-US" sz="1350" dirty="0">
                <a:latin typeface="Elephant" pitchFamily="18" charset="0"/>
              </a:rPr>
              <a:t> de </a:t>
            </a:r>
            <a:r>
              <a:rPr lang="en-US" sz="1350" dirty="0" err="1">
                <a:latin typeface="Elephant" pitchFamily="18" charset="0"/>
              </a:rPr>
              <a:t>brom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sau</a:t>
            </a:r>
            <a:r>
              <a:rPr lang="en-US" sz="1350" dirty="0">
                <a:latin typeface="Elephant" pitchFamily="18" charset="0"/>
              </a:rPr>
              <a:t> </a:t>
            </a:r>
            <a:r>
              <a:rPr lang="en-US" sz="1350" dirty="0" err="1">
                <a:latin typeface="Elephant" pitchFamily="18" charset="0"/>
              </a:rPr>
              <a:t>apa</a:t>
            </a:r>
            <a:r>
              <a:rPr lang="en-US" sz="1350" dirty="0">
                <a:latin typeface="Elephant" pitchFamily="18" charset="0"/>
              </a:rPr>
              <a:t> de </a:t>
            </a:r>
            <a:r>
              <a:rPr lang="en-US" sz="1350" dirty="0" err="1">
                <a:latin typeface="Elephant" pitchFamily="18" charset="0"/>
              </a:rPr>
              <a:t>clor</a:t>
            </a:r>
            <a:r>
              <a:rPr lang="en-US" sz="1350" dirty="0">
                <a:latin typeface="Elephant" pitchFamily="18" charset="0"/>
              </a:rPr>
              <a:t>;</a:t>
            </a:r>
          </a:p>
          <a:p>
            <a:r>
              <a:rPr lang="en-US" sz="1350" dirty="0">
                <a:latin typeface="Elephant" pitchFamily="18" charset="0"/>
              </a:rPr>
              <a:t>b) </a:t>
            </a:r>
            <a:r>
              <a:rPr lang="en-US" sz="1350" dirty="0" err="1">
                <a:latin typeface="Elephant" pitchFamily="18" charset="0"/>
              </a:rPr>
              <a:t>reactiv</a:t>
            </a:r>
            <a:r>
              <a:rPr lang="en-US" sz="1350" dirty="0">
                <a:latin typeface="Elephant" pitchFamily="18" charset="0"/>
              </a:rPr>
              <a:t> Tollens, </a:t>
            </a:r>
            <a:r>
              <a:rPr lang="en-US" sz="1350" dirty="0" err="1">
                <a:latin typeface="Elephant" pitchFamily="18" charset="0"/>
              </a:rPr>
              <a:t>reactiv</a:t>
            </a:r>
            <a:r>
              <a:rPr lang="en-US" sz="1350" dirty="0">
                <a:latin typeface="Elephant" pitchFamily="18" charset="0"/>
              </a:rPr>
              <a:t> Fehling;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52EC1A-0B14-DBAC-F16C-5FAEF47B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24200"/>
            <a:ext cx="2081672" cy="10847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150579-39E9-DCAE-CF6F-3B3889F87079}"/>
              </a:ext>
            </a:extLst>
          </p:cNvPr>
          <p:cNvSpPr txBox="1"/>
          <p:nvPr/>
        </p:nvSpPr>
        <p:spPr>
          <a:xfrm>
            <a:off x="4953000" y="359574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Exemple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C7A035-4CED-BA1E-22E8-51AD76EF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168" y="923237"/>
            <a:ext cx="3420145" cy="18290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769C86-D43B-5025-333D-3008F7EE1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263" y="3105313"/>
            <a:ext cx="3665956" cy="9502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D46A0A-2BE0-CD1D-C644-0C9D0EDFE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591" y="4418936"/>
            <a:ext cx="3577301" cy="111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4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6ABF6C-5AA1-D639-48D4-EF3AAF106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0"/>
            <a:ext cx="9144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4A4EE-F0CE-B094-7D17-8F066D02C11C}"/>
              </a:ext>
            </a:extLst>
          </p:cNvPr>
          <p:cNvSpPr txBox="1"/>
          <p:nvPr/>
        </p:nvSpPr>
        <p:spPr>
          <a:xfrm>
            <a:off x="482740" y="535900"/>
            <a:ext cx="363206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solutii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bazice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monozaharidele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sufera</a:t>
            </a:r>
            <a:r>
              <a:rPr lang="en-US" sz="1400" dirty="0">
                <a:latin typeface="Elephant" pitchFamily="18" charset="0"/>
              </a:rPr>
              <a:t> un process </a:t>
            </a:r>
            <a:r>
              <a:rPr lang="en-US" sz="1400" dirty="0" err="1">
                <a:latin typeface="Elephant" pitchFamily="18" charset="0"/>
              </a:rPr>
              <a:t>ireversibil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epimerizare</a:t>
            </a:r>
            <a:r>
              <a:rPr lang="en-US" sz="1400" dirty="0">
                <a:latin typeface="Elephant" pitchFamily="18" charset="0"/>
              </a:rPr>
              <a:t> din care </a:t>
            </a:r>
            <a:r>
              <a:rPr lang="en-US" sz="1400" dirty="0" err="1">
                <a:latin typeface="Elephant" pitchFamily="18" charset="0"/>
              </a:rPr>
              <a:t>rezulta</a:t>
            </a:r>
            <a:r>
              <a:rPr lang="en-US" sz="1400" dirty="0">
                <a:latin typeface="Elephant" pitchFamily="18" charset="0"/>
              </a:rPr>
              <a:t> un </a:t>
            </a:r>
            <a:r>
              <a:rPr lang="en-US" sz="1400" dirty="0" err="1">
                <a:latin typeface="Elephant" pitchFamily="18" charset="0"/>
              </a:rPr>
              <a:t>amestec</a:t>
            </a:r>
            <a:r>
              <a:rPr lang="en-US" sz="1400" dirty="0">
                <a:latin typeface="Elephant" pitchFamily="18" charset="0"/>
              </a:rPr>
              <a:t> complex de aldose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cetoze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izomere</a:t>
            </a:r>
            <a:r>
              <a:rPr lang="en-US" sz="1400" dirty="0">
                <a:latin typeface="Elephant" pitchFamily="18" charset="0"/>
              </a:rPr>
              <a:t>. De </a:t>
            </a:r>
            <a:r>
              <a:rPr lang="en-US" sz="1400" dirty="0" err="1">
                <a:latin typeface="Elephant" pitchFamily="18" charset="0"/>
              </a:rPr>
              <a:t>exemplu</a:t>
            </a:r>
            <a:r>
              <a:rPr lang="en-US" sz="1400" dirty="0">
                <a:latin typeface="Elephant" pitchFamily="18" charset="0"/>
              </a:rPr>
              <a:t>, in </a:t>
            </a:r>
            <a:r>
              <a:rPr lang="en-US" sz="1400" dirty="0" err="1">
                <a:latin typeface="Elephant" pitchFamily="18" charset="0"/>
              </a:rPr>
              <a:t>mediu</a:t>
            </a:r>
            <a:r>
              <a:rPr lang="en-US" sz="1400" dirty="0">
                <a:latin typeface="Elephant" pitchFamily="18" charset="0"/>
              </a:rPr>
              <a:t> basic D-</a:t>
            </a:r>
            <a:r>
              <a:rPr lang="en-US" sz="1400" dirty="0" err="1">
                <a:latin typeface="Elephant" pitchFamily="18" charset="0"/>
              </a:rPr>
              <a:t>gluzcoza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trece</a:t>
            </a:r>
            <a:r>
              <a:rPr lang="en-US" sz="1400" dirty="0">
                <a:latin typeface="Elephant" pitchFamily="18" charset="0"/>
              </a:rPr>
              <a:t> in D-</a:t>
            </a:r>
            <a:r>
              <a:rPr lang="en-US" sz="1400" dirty="0" err="1">
                <a:latin typeface="Elephant" pitchFamily="18" charset="0"/>
              </a:rPr>
              <a:t>manoza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in D-</a:t>
            </a:r>
            <a:r>
              <a:rPr lang="en-US" sz="1400" dirty="0" err="1">
                <a:latin typeface="Elephant" pitchFamily="18" charset="0"/>
              </a:rPr>
              <a:t>fructoza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inver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manoza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fructoza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trec</a:t>
            </a:r>
            <a:r>
              <a:rPr lang="en-US" sz="1400" dirty="0">
                <a:latin typeface="Elephant" pitchFamily="18" charset="0"/>
              </a:rPr>
              <a:t> in 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. De </a:t>
            </a:r>
            <a:r>
              <a:rPr lang="en-US" sz="1400" dirty="0" err="1">
                <a:latin typeface="Elephant" pitchFamily="18" charset="0"/>
              </a:rPr>
              <a:t>aceea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reactivii</a:t>
            </a:r>
            <a:r>
              <a:rPr lang="en-US" sz="1400" dirty="0">
                <a:latin typeface="Elephant" pitchFamily="18" charset="0"/>
              </a:rPr>
              <a:t> Tollens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Fehling, care sunt </a:t>
            </a:r>
            <a:r>
              <a:rPr lang="en-US" sz="1400" dirty="0" err="1">
                <a:latin typeface="Elephant" pitchFamily="18" charset="0"/>
              </a:rPr>
              <a:t>solutii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bazice</a:t>
            </a:r>
            <a:r>
              <a:rPr lang="en-US" sz="1400" dirty="0">
                <a:latin typeface="Elephant" pitchFamily="18" charset="0"/>
              </a:rPr>
              <a:t>, nu pot fi </a:t>
            </a:r>
            <a:r>
              <a:rPr lang="en-US" sz="1400" dirty="0" err="1">
                <a:latin typeface="Elephant" pitchFamily="18" charset="0"/>
              </a:rPr>
              <a:t>folositi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pentru</a:t>
            </a:r>
            <a:r>
              <a:rPr lang="en-US" sz="1400" dirty="0">
                <a:latin typeface="Elephant" pitchFamily="18" charset="0"/>
              </a:rPr>
              <a:t> a </a:t>
            </a:r>
            <a:r>
              <a:rPr lang="en-US" sz="1400" dirty="0" err="1">
                <a:latin typeface="Elephant" pitchFamily="18" charset="0"/>
              </a:rPr>
              <a:t>diferentia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aldozele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cetoze</a:t>
            </a:r>
            <a:r>
              <a:rPr lang="en-US" sz="1400" dirty="0">
                <a:latin typeface="Elephant" pitchFamily="18" charset="0"/>
              </a:rPr>
              <a:t>, desi </a:t>
            </a:r>
            <a:r>
              <a:rPr lang="en-US" sz="1400" dirty="0" err="1">
                <a:latin typeface="Elephant" pitchFamily="18" charset="0"/>
              </a:rPr>
              <a:t>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oxideaxza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numani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alhidele</a:t>
            </a:r>
            <a:r>
              <a:rPr lang="en-US" sz="1400" dirty="0">
                <a:latin typeface="Elephant" pitchFamily="18" charset="0"/>
              </a:rPr>
              <a:t>, nu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cetonele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B5FCB-E463-A449-EADE-4621B6255C1B}"/>
              </a:ext>
            </a:extLst>
          </p:cNvPr>
          <p:cNvSpPr txBox="1"/>
          <p:nvPr/>
        </p:nvSpPr>
        <p:spPr>
          <a:xfrm>
            <a:off x="5029202" y="382011"/>
            <a:ext cx="37991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itchFamily="18" charset="0"/>
              </a:rPr>
              <a:t>1.2 </a:t>
            </a:r>
            <a:r>
              <a:rPr lang="en-US" sz="1400" dirty="0" err="1">
                <a:latin typeface="Elephant" pitchFamily="18" charset="0"/>
              </a:rPr>
              <a:t>Reactia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oxidare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energica</a:t>
            </a:r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Conditii</a:t>
            </a:r>
            <a:r>
              <a:rPr lang="en-US" sz="1400" dirty="0">
                <a:latin typeface="Elephant" pitchFamily="18" charset="0"/>
              </a:rPr>
              <a:t>:</a:t>
            </a:r>
          </a:p>
          <a:p>
            <a:pPr marL="342900" indent="-342900">
              <a:buAutoNum type="alphaLcParenR"/>
            </a:pPr>
            <a:r>
              <a:rPr lang="en-US" sz="1400" dirty="0">
                <a:latin typeface="Elephant" pitchFamily="18" charset="0"/>
              </a:rPr>
              <a:t>HNO3, </a:t>
            </a:r>
            <a:r>
              <a:rPr lang="en-US" sz="1400" dirty="0" err="1">
                <a:latin typeface="Elephant" pitchFamily="18" charset="0"/>
              </a:rPr>
              <a:t>solutie</a:t>
            </a:r>
            <a:r>
              <a:rPr lang="en-US" sz="1400" dirty="0">
                <a:latin typeface="Elephant" pitchFamily="18" charset="0"/>
              </a:rPr>
              <a:t> concentrate</a:t>
            </a:r>
          </a:p>
          <a:p>
            <a:pPr marL="342900" indent="-342900">
              <a:buAutoNum type="alphaLcParenR"/>
            </a:pP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tratarea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aldozelor</a:t>
            </a:r>
            <a:r>
              <a:rPr lang="en-US" sz="1400" dirty="0">
                <a:latin typeface="Elephant" pitchFamily="18" charset="0"/>
              </a:rPr>
              <a:t> cu HNO3, sunt oxidate </a:t>
            </a:r>
            <a:r>
              <a:rPr lang="en-US" sz="1400" dirty="0" err="1">
                <a:latin typeface="Elephant" pitchFamily="18" charset="0"/>
              </a:rPr>
              <a:t>grupele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aldehida</a:t>
            </a:r>
            <a:r>
              <a:rPr lang="en-US" sz="1400" dirty="0">
                <a:latin typeface="Elephant" pitchFamily="18" charset="0"/>
              </a:rPr>
              <a:t> (--CH=O) </a:t>
            </a:r>
            <a:r>
              <a:rPr lang="en-US" sz="1400" dirty="0" err="1">
                <a:latin typeface="Elephant" pitchFamily="18" charset="0"/>
              </a:rPr>
              <a:t>si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alcool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primar</a:t>
            </a:r>
            <a:r>
              <a:rPr lang="en-US" sz="1400" dirty="0">
                <a:latin typeface="Elephant" pitchFamily="18" charset="0"/>
              </a:rPr>
              <a:t> (--CH2—OH)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obtin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acizi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polihidroxicarboxilici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numiti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acizi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zaharici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acizi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aldarici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622D0B-4812-EB85-C9B8-6D10A6104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2" y="838200"/>
            <a:ext cx="3524742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60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C12C8C-275B-EEF1-01CA-1F463914C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0"/>
            <a:ext cx="9144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0A92C6-32B8-B18F-3669-863985C79614}"/>
              </a:ext>
            </a:extLst>
          </p:cNvPr>
          <p:cNvSpPr txBox="1"/>
          <p:nvPr/>
        </p:nvSpPr>
        <p:spPr>
          <a:xfrm>
            <a:off x="457200" y="457200"/>
            <a:ext cx="1291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Exemplu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20B938-1F6E-29EF-281E-4281AAFF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14400"/>
            <a:ext cx="3620497" cy="21888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C6128-8ED7-9CBB-E8CB-DA2DADBB2454}"/>
              </a:ext>
            </a:extLst>
          </p:cNvPr>
          <p:cNvSpPr txBox="1"/>
          <p:nvPr/>
        </p:nvSpPr>
        <p:spPr>
          <a:xfrm>
            <a:off x="458685" y="3406977"/>
            <a:ext cx="36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itchFamily="18" charset="0"/>
              </a:rPr>
              <a:t>2. </a:t>
            </a:r>
            <a:r>
              <a:rPr lang="en-US" sz="1400" dirty="0" err="1">
                <a:latin typeface="Elephant" pitchFamily="18" charset="0"/>
              </a:rPr>
              <a:t>Reactia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reducere</a:t>
            </a:r>
            <a:endParaRPr lang="en-US" sz="1400" dirty="0">
              <a:latin typeface="Elephant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D3925-C7F5-63F1-B2AC-792FF5721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18612"/>
            <a:ext cx="3482631" cy="876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ABC5E7-8D69-594A-807F-B225A80F0B86}"/>
              </a:ext>
            </a:extLst>
          </p:cNvPr>
          <p:cNvSpPr txBox="1"/>
          <p:nvPr/>
        </p:nvSpPr>
        <p:spPr>
          <a:xfrm>
            <a:off x="4990105" y="623814"/>
            <a:ext cx="373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O </a:t>
            </a:r>
            <a:r>
              <a:rPr lang="en-US" sz="1400" dirty="0" err="1">
                <a:latin typeface="Elephant" pitchFamily="18" charset="0"/>
              </a:rPr>
              <a:t>aldoza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formeaza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reducere</a:t>
            </a:r>
            <a:r>
              <a:rPr lang="en-US" sz="1400" dirty="0">
                <a:latin typeface="Elephant" pitchFamily="18" charset="0"/>
              </a:rPr>
              <a:t> un</a:t>
            </a:r>
          </a:p>
          <a:p>
            <a:r>
              <a:rPr lang="en-US" sz="1400" dirty="0" err="1">
                <a:latin typeface="Elephant" pitchFamily="18" charset="0"/>
              </a:rPr>
              <a:t>singur</a:t>
            </a:r>
            <a:r>
              <a:rPr lang="en-US" sz="1400" dirty="0">
                <a:latin typeface="Elephant" pitchFamily="18" charset="0"/>
              </a:rPr>
              <a:t> alditol.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reducerea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cetoze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atomul</a:t>
            </a:r>
            <a:r>
              <a:rPr lang="en-US" sz="1400" dirty="0">
                <a:latin typeface="Elephant" pitchFamily="18" charset="0"/>
              </a:rPr>
              <a:t> de carbon din </a:t>
            </a:r>
            <a:r>
              <a:rPr lang="en-US" sz="1400" dirty="0" err="1">
                <a:latin typeface="Elephant" pitchFamily="18" charset="0"/>
              </a:rPr>
              <a:t>grupa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devine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asimetric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obtin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doi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alditoli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izomeri</a:t>
            </a:r>
            <a:r>
              <a:rPr lang="en-US" sz="1400" dirty="0">
                <a:latin typeface="Elephant" pitchFamily="18" charset="0"/>
              </a:rPr>
              <a:t> care </a:t>
            </a:r>
            <a:r>
              <a:rPr lang="en-US" sz="1400" dirty="0" err="1">
                <a:latin typeface="Elephant" pitchFamily="18" charset="0"/>
              </a:rPr>
              <a:t>difera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intre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configuratia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acestui</a:t>
            </a:r>
            <a:r>
              <a:rPr lang="en-US" sz="1400" dirty="0">
                <a:latin typeface="Elephant" pitchFamily="18" charset="0"/>
              </a:rPr>
              <a:t> atom de carbon.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B4B2B-8473-EEB5-D52C-CA83244D014F}"/>
              </a:ext>
            </a:extLst>
          </p:cNvPr>
          <p:cNvSpPr txBox="1"/>
          <p:nvPr/>
        </p:nvSpPr>
        <p:spPr>
          <a:xfrm>
            <a:off x="4953000" y="2133600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Exemple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7356CE-BFF9-0D57-5ED4-6856167D3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257" y="2627723"/>
            <a:ext cx="3334215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4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5C8475-9D53-DFB3-1B8C-3D1A55BB1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0"/>
            <a:ext cx="914400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38AC16-10C0-BC87-C50C-ADD9FC61D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14400"/>
            <a:ext cx="3068679" cy="42701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7C0510-67EC-0369-C61E-DD78AE39E841}"/>
              </a:ext>
            </a:extLst>
          </p:cNvPr>
          <p:cNvSpPr txBox="1"/>
          <p:nvPr/>
        </p:nvSpPr>
        <p:spPr>
          <a:xfrm>
            <a:off x="4953000" y="451292"/>
            <a:ext cx="36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itchFamily="18" charset="0"/>
              </a:rPr>
              <a:t>3. </a:t>
            </a:r>
            <a:r>
              <a:rPr lang="en-US" sz="1400" dirty="0" err="1">
                <a:latin typeface="Elephant" pitchFamily="18" charset="0"/>
              </a:rPr>
              <a:t>Reactia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condensare</a:t>
            </a:r>
            <a:endParaRPr lang="en-US" sz="1400" dirty="0">
              <a:latin typeface="Elephant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5E746-51F7-CCB1-712E-609417593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914400"/>
            <a:ext cx="3720031" cy="9526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680A69-20C1-B403-1DCA-D0D7F17BBB38}"/>
              </a:ext>
            </a:extLst>
          </p:cNvPr>
          <p:cNvSpPr txBox="1"/>
          <p:nvPr/>
        </p:nvSpPr>
        <p:spPr>
          <a:xfrm>
            <a:off x="4909014" y="2162414"/>
            <a:ext cx="37200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Aldozele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cetozele</a:t>
            </a:r>
            <a:r>
              <a:rPr lang="en-US" sz="1400" dirty="0">
                <a:latin typeface="Elephant" pitchFamily="18" charset="0"/>
              </a:rPr>
              <a:t> pot da </a:t>
            </a:r>
            <a:r>
              <a:rPr lang="en-US" sz="1400" dirty="0" err="1">
                <a:latin typeface="Elephant" pitchFamily="18" charset="0"/>
              </a:rPr>
              <a:t>reactii</a:t>
            </a:r>
            <a:r>
              <a:rPr lang="en-US" sz="1400" dirty="0">
                <a:latin typeface="Elephant" pitchFamily="18" charset="0"/>
              </a:rPr>
              <a:t> de</a:t>
            </a:r>
          </a:p>
          <a:p>
            <a:r>
              <a:rPr lang="en-US" sz="1400" dirty="0" err="1">
                <a:latin typeface="Elephant" pitchFamily="18" charset="0"/>
              </a:rPr>
              <a:t>condensare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fenilhidrazina</a:t>
            </a:r>
            <a:r>
              <a:rPr lang="en-US" sz="1400" dirty="0">
                <a:latin typeface="Elephant" pitchFamily="18" charset="0"/>
              </a:rPr>
              <a:t>. La </a:t>
            </a:r>
            <a:r>
              <a:rPr lang="en-US" sz="1400" dirty="0" err="1">
                <a:latin typeface="Elephant" pitchFamily="18" charset="0"/>
              </a:rPr>
              <a:t>rece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formeaza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fenilhidrazonele</a:t>
            </a:r>
            <a:r>
              <a:rPr lang="en-US" sz="1400" dirty="0">
                <a:latin typeface="Elephant" pitchFamily="18" charset="0"/>
              </a:rPr>
              <a:t> care, la </a:t>
            </a:r>
            <a:r>
              <a:rPr lang="en-US" sz="1400" dirty="0" err="1">
                <a:latin typeface="Elephant" pitchFamily="18" charset="0"/>
              </a:rPr>
              <a:t>cald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exces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fenilhidrazina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trec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osazone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B7F05B-6E0D-7E47-F321-DA3F9A0B306D}"/>
              </a:ext>
            </a:extLst>
          </p:cNvPr>
          <p:cNvSpPr txBox="1"/>
          <p:nvPr/>
        </p:nvSpPr>
        <p:spPr>
          <a:xfrm>
            <a:off x="4909014" y="3528968"/>
            <a:ext cx="37200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Deoarece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formarea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osazonelor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sunt </a:t>
            </a:r>
            <a:r>
              <a:rPr lang="en-US" sz="1400" dirty="0" err="1">
                <a:latin typeface="Elephant" pitchFamily="18" charset="0"/>
              </a:rPr>
              <a:t>implicati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atomii</a:t>
            </a:r>
            <a:r>
              <a:rPr lang="en-US" sz="1400" dirty="0">
                <a:latin typeface="Elephant" pitchFamily="18" charset="0"/>
              </a:rPr>
              <a:t> de carbon din </a:t>
            </a:r>
            <a:r>
              <a:rPr lang="en-US" sz="1400" dirty="0" err="1">
                <a:latin typeface="Elephant" pitchFamily="18" charset="0"/>
              </a:rPr>
              <a:t>pozitiile</a:t>
            </a:r>
            <a:r>
              <a:rPr lang="en-US" sz="1400" dirty="0">
                <a:latin typeface="Elephant" pitchFamily="18" charset="0"/>
              </a:rPr>
              <a:t> 1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 2, </a:t>
            </a:r>
            <a:r>
              <a:rPr lang="en-US" sz="1400" dirty="0" err="1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aceleasi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configuratii</a:t>
            </a:r>
            <a:r>
              <a:rPr lang="en-US" sz="1400" dirty="0">
                <a:latin typeface="Elephant" pitchFamily="18" charset="0"/>
              </a:rPr>
              <a:t> ale </a:t>
            </a:r>
            <a:r>
              <a:rPr lang="en-US" sz="1400" dirty="0" err="1">
                <a:latin typeface="Elephant" pitchFamily="18" charset="0"/>
              </a:rPr>
              <a:t>celorlalti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atomi</a:t>
            </a:r>
            <a:r>
              <a:rPr lang="en-US" sz="1400" dirty="0">
                <a:latin typeface="Elephant" pitchFamily="18" charset="0"/>
              </a:rPr>
              <a:t> de carbon </a:t>
            </a:r>
            <a:r>
              <a:rPr lang="en-US" sz="1400" dirty="0" err="1">
                <a:latin typeface="Elephant" pitchFamily="18" charset="0"/>
              </a:rPr>
              <a:t>dau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aceeasi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osazona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Osazonele</a:t>
            </a:r>
            <a:r>
              <a:rPr lang="en-US" sz="1400" dirty="0">
                <a:latin typeface="Elephant" pitchFamily="18" charset="0"/>
              </a:rPr>
              <a:t> sunt </a:t>
            </a:r>
            <a:r>
              <a:rPr lang="en-US" sz="1400" dirty="0" err="1">
                <a:latin typeface="Elephant" pitchFamily="18" charset="0"/>
              </a:rPr>
              <a:t>substante</a:t>
            </a:r>
            <a:r>
              <a:rPr lang="en-US" sz="1400" dirty="0">
                <a:latin typeface="Elephant" pitchFamily="18" charset="0"/>
              </a:rPr>
              <a:t> frumos </a:t>
            </a:r>
            <a:r>
              <a:rPr lang="en-US" sz="1400" dirty="0" err="1">
                <a:latin typeface="Elephant" pitchFamily="18" charset="0"/>
              </a:rPr>
              <a:t>cristalizate</a:t>
            </a:r>
            <a:r>
              <a:rPr lang="en-US" sz="1400" dirty="0">
                <a:latin typeface="Elephant" pitchFamily="18" charset="0"/>
              </a:rPr>
              <a:t>, de </a:t>
            </a:r>
            <a:r>
              <a:rPr lang="en-US" sz="1400" dirty="0" err="1">
                <a:latin typeface="Elephant" pitchFamily="18" charset="0"/>
              </a:rPr>
              <a:t>culoare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galbena</a:t>
            </a:r>
            <a:r>
              <a:rPr lang="en-US" sz="1400" dirty="0">
                <a:latin typeface="Elephant" pitchFamily="18" charset="0"/>
              </a:rPr>
              <a:t> care </a:t>
            </a:r>
            <a:r>
              <a:rPr lang="en-US" sz="1400" dirty="0" err="1">
                <a:latin typeface="Elephant" pitchFamily="18" charset="0"/>
              </a:rPr>
              <a:t>servesc</a:t>
            </a:r>
            <a:r>
              <a:rPr lang="en-US" sz="1400" dirty="0">
                <a:latin typeface="Elephant" pitchFamily="18" charset="0"/>
              </a:rPr>
              <a:t> la </a:t>
            </a:r>
            <a:r>
              <a:rPr lang="en-US" sz="1400" dirty="0" err="1">
                <a:latin typeface="Elephant" pitchFamily="18" charset="0"/>
              </a:rPr>
              <a:t>caracterizarea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monozaharidelor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95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118688-D35B-D823-CD46-475E0BAE8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0"/>
            <a:ext cx="9144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77C32D-498F-98B8-7964-70E5C750E897}"/>
              </a:ext>
            </a:extLst>
          </p:cNvPr>
          <p:cNvSpPr txBox="1"/>
          <p:nvPr/>
        </p:nvSpPr>
        <p:spPr>
          <a:xfrm>
            <a:off x="533400" y="457200"/>
            <a:ext cx="36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itchFamily="18" charset="0"/>
              </a:rPr>
              <a:t>4. </a:t>
            </a:r>
            <a:r>
              <a:rPr lang="en-US" sz="1400" dirty="0" err="1">
                <a:latin typeface="Elephant" pitchFamily="18" charset="0"/>
              </a:rPr>
              <a:t>Reactii</a:t>
            </a:r>
            <a:r>
              <a:rPr lang="en-US" sz="1400" dirty="0">
                <a:latin typeface="Elephant" pitchFamily="18" charset="0"/>
              </a:rPr>
              <a:t> ale </a:t>
            </a:r>
            <a:r>
              <a:rPr lang="en-US" sz="1400" dirty="0" err="1">
                <a:latin typeface="Elephant" pitchFamily="18" charset="0"/>
              </a:rPr>
              <a:t>grupelor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515D3-8393-84E3-DB66-790708068DB4}"/>
              </a:ext>
            </a:extLst>
          </p:cNvPr>
          <p:cNvSpPr txBox="1"/>
          <p:nvPr/>
        </p:nvSpPr>
        <p:spPr>
          <a:xfrm>
            <a:off x="507023" y="918388"/>
            <a:ext cx="36320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Reactivitatea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in</a:t>
            </a:r>
          </a:p>
          <a:p>
            <a:r>
              <a:rPr lang="en-US" sz="1400" dirty="0" err="1">
                <a:latin typeface="Elephant" pitchFamily="18" charset="0"/>
              </a:rPr>
              <a:t>reactiile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alchilare</a:t>
            </a:r>
            <a:r>
              <a:rPr lang="en-US" sz="1400" dirty="0">
                <a:latin typeface="Elephant" pitchFamily="18" charset="0"/>
              </a:rPr>
              <a:t> (</a:t>
            </a:r>
            <a:r>
              <a:rPr lang="en-US" sz="1400" dirty="0" err="1">
                <a:latin typeface="Elephant" pitchFamily="18" charset="0"/>
              </a:rPr>
              <a:t>eterificare</a:t>
            </a:r>
            <a:r>
              <a:rPr lang="en-US" sz="1400" dirty="0">
                <a:latin typeface="Elephant" pitchFamily="18" charset="0"/>
              </a:rPr>
              <a:t>)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acilare</a:t>
            </a:r>
            <a:r>
              <a:rPr lang="en-US" sz="1400" dirty="0">
                <a:latin typeface="Elephant" pitchFamily="18" charset="0"/>
              </a:rPr>
              <a:t> (</a:t>
            </a:r>
            <a:r>
              <a:rPr lang="en-US" sz="1400" dirty="0" err="1">
                <a:latin typeface="Elephant" pitchFamily="18" charset="0"/>
              </a:rPr>
              <a:t>esterificare</a:t>
            </a:r>
            <a:r>
              <a:rPr lang="en-US" sz="1400" dirty="0">
                <a:latin typeface="Elephant" pitchFamily="18" charset="0"/>
              </a:rPr>
              <a:t>) </a:t>
            </a:r>
            <a:r>
              <a:rPr lang="en-US" sz="1400" dirty="0" err="1">
                <a:latin typeface="Elephant" pitchFamily="18" charset="0"/>
              </a:rPr>
              <a:t>scade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ordinea</a:t>
            </a:r>
            <a:r>
              <a:rPr lang="en-US" sz="1400" dirty="0">
                <a:latin typeface="Elephant" pitchFamily="18" charset="0"/>
              </a:rPr>
              <a:t>: --OH </a:t>
            </a:r>
            <a:r>
              <a:rPr lang="en-US" sz="1400" dirty="0" err="1">
                <a:latin typeface="Elephant" pitchFamily="18" charset="0"/>
              </a:rPr>
              <a:t>glicozidic</a:t>
            </a:r>
            <a:r>
              <a:rPr lang="en-US" sz="1400" dirty="0">
                <a:latin typeface="Elephant" pitchFamily="18" charset="0"/>
              </a:rPr>
              <a:t> &gt; --OH </a:t>
            </a:r>
            <a:r>
              <a:rPr lang="en-US" sz="1400" dirty="0" err="1">
                <a:latin typeface="Elephant" pitchFamily="18" charset="0"/>
              </a:rPr>
              <a:t>alcool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primar</a:t>
            </a:r>
            <a:r>
              <a:rPr lang="en-US" sz="1400" dirty="0">
                <a:latin typeface="Elephant" pitchFamily="18" charset="0"/>
              </a:rPr>
              <a:t> &gt; --OH </a:t>
            </a:r>
            <a:r>
              <a:rPr lang="en-US" sz="1400" dirty="0" err="1">
                <a:latin typeface="Elephant" pitchFamily="18" charset="0"/>
              </a:rPr>
              <a:t>alcool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secundar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>
                <a:latin typeface="Elephant" pitchFamily="18" charset="0"/>
              </a:rPr>
              <a:t>exemplu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hidroxilul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poate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reactiona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alcoolii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inferiori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mediu</a:t>
            </a:r>
            <a:r>
              <a:rPr lang="en-US" sz="1400" dirty="0">
                <a:latin typeface="Elephant" pitchFamily="18" charset="0"/>
              </a:rPr>
              <a:t> acid, </a:t>
            </a:r>
            <a:r>
              <a:rPr lang="en-US" sz="1400" dirty="0" err="1">
                <a:latin typeface="Elephant" pitchFamily="18" charset="0"/>
              </a:rPr>
              <a:t>formand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glicozide</a:t>
            </a:r>
            <a:r>
              <a:rPr lang="en-US" sz="1400" dirty="0">
                <a:latin typeface="Elephant" pitchFamily="18" charset="0"/>
              </a:rPr>
              <a:t>, in </a:t>
            </a:r>
            <a:r>
              <a:rPr lang="en-US" sz="1400" dirty="0" err="1">
                <a:latin typeface="Elephant" pitchFamily="18" charset="0"/>
              </a:rPr>
              <a:t>timp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celelalte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trec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eteri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numai</a:t>
            </a:r>
            <a:r>
              <a:rPr lang="en-US" sz="1400" dirty="0">
                <a:latin typeface="Elephant" pitchFamily="18" charset="0"/>
              </a:rPr>
              <a:t> in reactive cu CH3I in </a:t>
            </a:r>
            <a:r>
              <a:rPr lang="en-US" sz="1400" dirty="0" err="1">
                <a:latin typeface="Elephant" pitchFamily="18" charset="0"/>
              </a:rPr>
              <a:t>prezenta</a:t>
            </a:r>
            <a:r>
              <a:rPr lang="en-US" sz="1400" dirty="0">
                <a:latin typeface="Elephant" pitchFamily="18" charset="0"/>
              </a:rPr>
              <a:t> de Ag2O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sulfat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metil</a:t>
            </a:r>
            <a:r>
              <a:rPr lang="en-US" sz="1400" dirty="0">
                <a:latin typeface="Elephant" pitchFamily="18" charset="0"/>
              </a:rPr>
              <a:t> ((CH3O)2SO2) in </a:t>
            </a:r>
            <a:r>
              <a:rPr lang="en-US" sz="1400" dirty="0" err="1">
                <a:latin typeface="Elephant" pitchFamily="18" charset="0"/>
              </a:rPr>
              <a:t>mediu</a:t>
            </a:r>
            <a:r>
              <a:rPr lang="en-US" sz="1400" dirty="0">
                <a:latin typeface="Elephant" pitchFamily="18" charset="0"/>
              </a:rPr>
              <a:t> basic (NaOH).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F3057-C993-D212-BF7C-7FB34CA410FA}"/>
              </a:ext>
            </a:extLst>
          </p:cNvPr>
          <p:cNvSpPr txBox="1"/>
          <p:nvPr/>
        </p:nvSpPr>
        <p:spPr>
          <a:xfrm>
            <a:off x="4993196" y="419091"/>
            <a:ext cx="1291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Exemplu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7E1CDE-66F9-6371-D8A4-DC0EE9907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196" y="918388"/>
            <a:ext cx="3726607" cy="2114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8F776B-D7F5-A7B8-46AD-C6BA8E93793C}"/>
              </a:ext>
            </a:extLst>
          </p:cNvPr>
          <p:cNvSpPr txBox="1"/>
          <p:nvPr/>
        </p:nvSpPr>
        <p:spPr>
          <a:xfrm>
            <a:off x="4953000" y="3276600"/>
            <a:ext cx="36320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hidrozila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blanda</a:t>
            </a:r>
            <a:r>
              <a:rPr lang="en-US" sz="1400" dirty="0">
                <a:latin typeface="Elephant" pitchFamily="18" charset="0"/>
              </a:rPr>
              <a:t>, in </a:t>
            </a:r>
            <a:r>
              <a:rPr lang="en-US" sz="1400" dirty="0" err="1">
                <a:latin typeface="Elephant" pitchFamily="18" charset="0"/>
              </a:rPr>
              <a:t>prezentaa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 acid </a:t>
            </a:r>
            <a:r>
              <a:rPr lang="en-US" sz="1400" dirty="0" err="1">
                <a:latin typeface="Elephant" pitchFamily="18" charset="0"/>
              </a:rPr>
              <a:t>clorhidric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hidrolizeaza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numai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eterica</a:t>
            </a:r>
            <a:r>
              <a:rPr lang="en-US" sz="1400" dirty="0">
                <a:latin typeface="Elephant" pitchFamily="18" charset="0"/>
              </a:rPr>
              <a:t> de la </a:t>
            </a:r>
            <a:r>
              <a:rPr lang="en-US" sz="1400" dirty="0" err="1">
                <a:latin typeface="Elephant" pitchFamily="18" charset="0"/>
              </a:rPr>
              <a:t>atomul</a:t>
            </a:r>
            <a:r>
              <a:rPr lang="en-US" sz="1400" dirty="0">
                <a:latin typeface="Elephant" pitchFamily="18" charset="0"/>
              </a:rPr>
              <a:t> de carbon 1, </a:t>
            </a:r>
            <a:r>
              <a:rPr lang="en-US" sz="1400" dirty="0" err="1">
                <a:latin typeface="Elephant" pitchFamily="18" charset="0"/>
              </a:rPr>
              <a:t>refacand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reactia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esterificarem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grupa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reactioneaza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viteza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mai</a:t>
            </a:r>
            <a:r>
              <a:rPr lang="en-US" sz="1400" dirty="0">
                <a:latin typeface="Elephant" pitchFamily="18" charset="0"/>
              </a:rPr>
              <a:t> mare.</a:t>
            </a:r>
          </a:p>
        </p:txBody>
      </p:sp>
    </p:spTree>
    <p:extLst>
      <p:ext uri="{BB962C8B-B14F-4D97-AF65-F5344CB8AC3E}">
        <p14:creationId xmlns:p14="http://schemas.microsoft.com/office/powerpoint/2010/main" val="241133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4350DDE-B0CB-6327-BA04-3F560E481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0"/>
            <a:ext cx="914400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A2E892-B355-60E6-111E-11BE23203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85800"/>
            <a:ext cx="3586663" cy="9478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1D0B1-127D-0095-25BF-BE5CCC67820F}"/>
              </a:ext>
            </a:extLst>
          </p:cNvPr>
          <p:cNvSpPr txBox="1"/>
          <p:nvPr/>
        </p:nvSpPr>
        <p:spPr>
          <a:xfrm>
            <a:off x="464557" y="1905000"/>
            <a:ext cx="36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itchFamily="18" charset="0"/>
              </a:rPr>
              <a:t>3. </a:t>
            </a:r>
            <a:r>
              <a:rPr lang="en-US" sz="1400" dirty="0" err="1">
                <a:latin typeface="Elephant" pitchFamily="18" charset="0"/>
              </a:rPr>
              <a:t>Fermentatia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alcoolica</a:t>
            </a:r>
            <a:endParaRPr lang="en-US" sz="1400" dirty="0">
              <a:latin typeface="Elephant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B93133-175D-4EAF-6DA1-17EF8885E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331707"/>
            <a:ext cx="3586663" cy="56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77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5914" y="576943"/>
            <a:ext cx="2515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Elephant" pitchFamily="18" charset="0"/>
              </a:rPr>
              <a:t>Dizaharidele</a:t>
            </a:r>
            <a:endParaRPr lang="en-US" sz="2800" dirty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293911"/>
            <a:ext cx="403578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Molecula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unei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dizaharide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obtine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teoretic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eliminarea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unei</a:t>
            </a:r>
            <a:r>
              <a:rPr lang="en-US" sz="1400" dirty="0">
                <a:latin typeface="Elephant" pitchFamily="18" charset="0"/>
              </a:rPr>
              <a:t> molecule de</a:t>
            </a:r>
          </a:p>
          <a:p>
            <a:r>
              <a:rPr lang="en-US" sz="1400" dirty="0" err="1">
                <a:latin typeface="Elephant" pitchFamily="18" charset="0"/>
              </a:rPr>
              <a:t>apa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intre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doua</a:t>
            </a:r>
            <a:r>
              <a:rPr lang="en-US" sz="1400" dirty="0">
                <a:latin typeface="Elephant" pitchFamily="18" charset="0"/>
              </a:rPr>
              <a:t> molecule de </a:t>
            </a:r>
            <a:r>
              <a:rPr lang="en-US" sz="1400" dirty="0" err="1">
                <a:latin typeface="Elephant" pitchFamily="18" charset="0"/>
              </a:rPr>
              <a:t>monozaharide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identice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diferite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Eliminarea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poate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face in </a:t>
            </a:r>
            <a:r>
              <a:rPr lang="en-US" sz="1400" dirty="0" err="1">
                <a:latin typeface="Elephant" pitchFamily="18" charset="0"/>
              </a:rPr>
              <a:t>doua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moduri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Daca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eliminarea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apei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realizeaza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intre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hidroxidul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</a:t>
            </a:r>
            <a:r>
              <a:rPr lang="en-US" sz="1400" dirty="0">
                <a:latin typeface="Elephant" pitchFamily="18" charset="0"/>
              </a:rPr>
              <a:t> de la o </a:t>
            </a:r>
            <a:r>
              <a:rPr lang="en-US" sz="1400" dirty="0" err="1">
                <a:latin typeface="Elephant" pitchFamily="18" charset="0"/>
              </a:rPr>
              <a:t>molecula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>
                <a:latin typeface="Elephant" pitchFamily="18" charset="0"/>
              </a:rPr>
              <a:t>monozaharida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o </a:t>
            </a:r>
            <a:r>
              <a:rPr lang="en-US" sz="1400" dirty="0" err="1">
                <a:latin typeface="Elephant" pitchFamily="18" charset="0"/>
              </a:rPr>
              <a:t>grupa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, de </a:t>
            </a:r>
          </a:p>
          <a:p>
            <a:r>
              <a:rPr lang="en-US" sz="1400" dirty="0" err="1">
                <a:latin typeface="Elephant" pitchFamily="18" charset="0"/>
              </a:rPr>
              <a:t>obicei</a:t>
            </a:r>
            <a:r>
              <a:rPr lang="en-US" sz="1400" dirty="0">
                <a:latin typeface="Elephant" pitchFamily="18" charset="0"/>
              </a:rPr>
              <a:t> din </a:t>
            </a:r>
            <a:r>
              <a:rPr lang="en-US" sz="1400" dirty="0" err="1">
                <a:latin typeface="Elephant" pitchFamily="18" charset="0"/>
              </a:rPr>
              <a:t>pozitia</a:t>
            </a:r>
            <a:r>
              <a:rPr lang="en-US" sz="1400" dirty="0">
                <a:latin typeface="Elephant" pitchFamily="18" charset="0"/>
              </a:rPr>
              <a:t> 4, de la </a:t>
            </a:r>
            <a:r>
              <a:rPr lang="en-US" sz="1400" dirty="0" err="1">
                <a:latin typeface="Elephant" pitchFamily="18" charset="0"/>
              </a:rPr>
              <a:t>cealalta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molecula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 </a:t>
            </a:r>
            <a:r>
              <a:rPr lang="en-US" sz="1400" dirty="0" err="1">
                <a:latin typeface="Elephant" pitchFamily="18" charset="0"/>
              </a:rPr>
              <a:t>monozaharida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eterica</a:t>
            </a:r>
            <a:r>
              <a:rPr lang="en-US" sz="1400" dirty="0">
                <a:latin typeface="Elephant" pitchFamily="18" charset="0"/>
              </a:rPr>
              <a:t> (C-O-C)</a:t>
            </a:r>
          </a:p>
          <a:p>
            <a:r>
              <a:rPr lang="en-US" sz="1400" dirty="0">
                <a:latin typeface="Elephant" pitchFamily="18" charset="0"/>
              </a:rPr>
              <a:t>se </a:t>
            </a:r>
            <a:r>
              <a:rPr lang="en-US" sz="1400" dirty="0" err="1">
                <a:latin typeface="Elephant" pitchFamily="18" charset="0"/>
              </a:rPr>
              <a:t>numeste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monocarbonilica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Daca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</a:t>
            </a:r>
            <a:r>
              <a:rPr lang="en-US" sz="1400" dirty="0">
                <a:latin typeface="Elephant" pitchFamily="18" charset="0"/>
              </a:rPr>
              <a:t> care </a:t>
            </a:r>
            <a:r>
              <a:rPr lang="en-US" sz="1400" dirty="0" err="1">
                <a:latin typeface="Elephant" pitchFamily="18" charset="0"/>
              </a:rPr>
              <a:t>participa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la </a:t>
            </a:r>
            <a:r>
              <a:rPr lang="en-US" sz="1400" dirty="0" err="1">
                <a:latin typeface="Elephant" pitchFamily="18" charset="0"/>
              </a:rPr>
              <a:t>condensare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provine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dintr</a:t>
            </a:r>
            <a:r>
              <a:rPr lang="en-US" sz="1400" dirty="0">
                <a:latin typeface="Elephant" pitchFamily="18" charset="0"/>
              </a:rPr>
              <a:t>-un </a:t>
            </a:r>
            <a:r>
              <a:rPr lang="en-US" sz="1400" dirty="0" err="1">
                <a:latin typeface="Elephant" pitchFamily="18" charset="0"/>
              </a:rPr>
              <a:t>anomer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,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legatura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eterica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este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>
                <a:latin typeface="Elephant" pitchFamily="18" charset="0"/>
                <a:cs typeface="Times New Roman"/>
              </a:rPr>
              <a:t>. (A)</a:t>
            </a:r>
          </a:p>
          <a:p>
            <a:endParaRPr lang="en-US" sz="1400" dirty="0">
              <a:latin typeface="Elephant" pitchFamily="18" charset="0"/>
              <a:cs typeface="Times New Roman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  <a:cs typeface="Times New Roman"/>
              </a:rPr>
              <a:t>Daca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hidroxilul</a:t>
            </a:r>
            <a:r>
              <a:rPr lang="en-US" sz="1400" dirty="0">
                <a:latin typeface="Elephant" pitchFamily="18" charset="0"/>
                <a:cs typeface="Times New Roman"/>
              </a:rPr>
              <a:t> care </a:t>
            </a:r>
            <a:r>
              <a:rPr lang="en-US" sz="1400" dirty="0" err="1">
                <a:latin typeface="Elephant" pitchFamily="18" charset="0"/>
                <a:cs typeface="Times New Roman"/>
              </a:rPr>
              <a:t>participa</a:t>
            </a:r>
            <a:r>
              <a:rPr lang="en-US" sz="1400" dirty="0">
                <a:latin typeface="Elephant" pitchFamily="18" charset="0"/>
                <a:cs typeface="Times New Roman"/>
              </a:rPr>
              <a:t> la 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condensare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provine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dintr</a:t>
            </a:r>
            <a:r>
              <a:rPr lang="en-US" sz="1400" dirty="0">
                <a:latin typeface="Elephant" pitchFamily="18" charset="0"/>
                <a:cs typeface="Times New Roman"/>
              </a:rPr>
              <a:t>-un </a:t>
            </a:r>
            <a:r>
              <a:rPr lang="en-US" sz="1400" dirty="0" err="1">
                <a:latin typeface="Elephant" pitchFamily="18" charset="0"/>
                <a:cs typeface="Times New Roman"/>
              </a:rPr>
              <a:t>anomer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, 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legatura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eterica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este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>
                <a:latin typeface="Elephant" pitchFamily="18" charset="0"/>
                <a:cs typeface="Times New Roman"/>
              </a:rPr>
              <a:t>.</a:t>
            </a:r>
            <a:r>
              <a:rPr lang="en-US" sz="1400" dirty="0">
                <a:latin typeface="Elephant" pitchFamily="18" charset="0"/>
              </a:rPr>
              <a:t> (B)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749" y="772853"/>
            <a:ext cx="2963352" cy="272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962400"/>
            <a:ext cx="3905250" cy="149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493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7685" y="609600"/>
            <a:ext cx="39593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Daca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eliminarea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apei</a:t>
            </a:r>
            <a:r>
              <a:rPr lang="en-US" sz="1400" dirty="0">
                <a:latin typeface="Elephant" pitchFamily="18" charset="0"/>
              </a:rPr>
              <a:t> are </a:t>
            </a:r>
            <a:r>
              <a:rPr lang="en-US" sz="1400" dirty="0" err="1">
                <a:latin typeface="Elephant" pitchFamily="18" charset="0"/>
              </a:rPr>
              <a:t>loc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intre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grupele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glicozodice</a:t>
            </a:r>
            <a:r>
              <a:rPr lang="en-US" sz="1400" dirty="0">
                <a:latin typeface="Elephant" pitchFamily="18" charset="0"/>
              </a:rPr>
              <a:t> ale </a:t>
            </a:r>
            <a:r>
              <a:rPr lang="en-US" sz="1400" dirty="0" err="1">
                <a:latin typeface="Elephant" pitchFamily="18" charset="0"/>
              </a:rPr>
              <a:t>celor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doua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monozaharide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eterica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formata</a:t>
            </a:r>
            <a:r>
              <a:rPr lang="en-US" sz="1400" dirty="0">
                <a:latin typeface="Elephant" pitchFamily="18" charset="0"/>
              </a:rPr>
              <a:t> se</a:t>
            </a:r>
          </a:p>
          <a:p>
            <a:r>
              <a:rPr lang="en-US" sz="1400" dirty="0" err="1">
                <a:latin typeface="Elephant" pitchFamily="18" charset="0"/>
              </a:rPr>
              <a:t>numeste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dicarbonilica</a:t>
            </a:r>
            <a:r>
              <a:rPr lang="en-US" sz="1400" dirty="0">
                <a:latin typeface="Elephant" pitchFamily="18" charset="0"/>
              </a:rPr>
              <a:t> (</a:t>
            </a:r>
            <a:r>
              <a:rPr lang="en-US" sz="1400" dirty="0" err="1">
                <a:latin typeface="Elephant" pitchFamily="18" charset="0"/>
              </a:rPr>
              <a:t>cazul</a:t>
            </a:r>
            <a:r>
              <a:rPr lang="en-US" sz="1400" dirty="0">
                <a:latin typeface="Elephant" pitchFamily="18" charset="0"/>
              </a:rPr>
              <a:t> C).</a:t>
            </a:r>
          </a:p>
          <a:p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molecula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zaharozei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unitatea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glucoza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unitatea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fructoza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unite </a:t>
            </a:r>
            <a:r>
              <a:rPr lang="en-US" sz="1400" dirty="0" err="1">
                <a:latin typeface="Elephant" pitchFamily="18" charset="0"/>
              </a:rPr>
              <a:t>printr</a:t>
            </a:r>
            <a:r>
              <a:rPr lang="en-US" sz="1400" dirty="0">
                <a:latin typeface="Elephant" pitchFamily="18" charset="0"/>
              </a:rPr>
              <a:t>-o</a:t>
            </a:r>
          </a:p>
          <a:p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dicarbonilica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>
                <a:latin typeface="Elephant" pitchFamily="18" charset="0"/>
                <a:cs typeface="Times New Roman"/>
              </a:rPr>
              <a:t> din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partea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glucozei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glicozidica</a:t>
            </a:r>
            <a:r>
              <a:rPr lang="en-US" sz="1400" dirty="0">
                <a:latin typeface="Elephant" pitchFamily="18" charset="0"/>
                <a:cs typeface="Times New Roman"/>
              </a:rPr>
              <a:t> din </a:t>
            </a:r>
            <a:r>
              <a:rPr lang="en-US" sz="1400" dirty="0" err="1">
                <a:latin typeface="Elephant" pitchFamily="18" charset="0"/>
                <a:cs typeface="Times New Roman"/>
              </a:rPr>
              <a:t>partea</a:t>
            </a:r>
            <a:endParaRPr lang="en-US" sz="1400" dirty="0">
              <a:latin typeface="Elephant" pitchFamily="18" charset="0"/>
              <a:cs typeface="Times New Roman"/>
            </a:endParaRP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fructozei</a:t>
            </a:r>
            <a:endParaRPr lang="en-US" sz="1400" dirty="0">
              <a:latin typeface="Elephant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5" y="2895600"/>
            <a:ext cx="3634813" cy="247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29200" y="533400"/>
            <a:ext cx="1335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 dirty="0" err="1">
                <a:latin typeface="Elephant" pitchFamily="18" charset="0"/>
              </a:rPr>
              <a:t>Proprietati</a:t>
            </a:r>
            <a:endParaRPr lang="en-US" sz="1600" u="sng" dirty="0">
              <a:latin typeface="Elephant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800" y="1295399"/>
            <a:ext cx="4253729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Proprietatile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dizaharidelor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determinate de </a:t>
            </a:r>
            <a:r>
              <a:rPr lang="en-US" sz="1400" dirty="0" err="1">
                <a:latin typeface="Elephant" pitchFamily="18" charset="0"/>
              </a:rPr>
              <a:t>natura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legaturii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eterice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Dizaharidele</a:t>
            </a:r>
            <a:r>
              <a:rPr lang="en-US" sz="1400" dirty="0">
                <a:latin typeface="Elephant" pitchFamily="18" charset="0"/>
              </a:rPr>
              <a:t> cu </a:t>
            </a:r>
            <a:r>
              <a:rPr lang="en-US" sz="1400" dirty="0" err="1">
                <a:latin typeface="Elephant" pitchFamily="18" charset="0"/>
              </a:rPr>
              <a:t>legatura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monocarbonilica</a:t>
            </a:r>
            <a:r>
              <a:rPr lang="en-US" sz="1400" dirty="0">
                <a:latin typeface="Elephant" pitchFamily="18" charset="0"/>
              </a:rPr>
              <a:t>,</a:t>
            </a:r>
          </a:p>
          <a:p>
            <a:r>
              <a:rPr lang="en-US" sz="1400" dirty="0" err="1">
                <a:latin typeface="Elephant" pitchFamily="18" charset="0"/>
              </a:rPr>
              <a:t>avand</a:t>
            </a:r>
            <a:r>
              <a:rPr lang="en-US" sz="1400" dirty="0">
                <a:latin typeface="Elephant" pitchFamily="18" charset="0"/>
              </a:rPr>
              <a:t> un </a:t>
            </a:r>
            <a:r>
              <a:rPr lang="en-US" sz="1400" dirty="0" err="1">
                <a:latin typeface="Elephant" pitchFamily="18" charset="0"/>
              </a:rPr>
              <a:t>hidroxil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glicozidic</a:t>
            </a:r>
            <a:r>
              <a:rPr lang="en-US" sz="1400" dirty="0">
                <a:latin typeface="Elephant" pitchFamily="18" charset="0"/>
              </a:rPr>
              <a:t> liber, pot </a:t>
            </a:r>
            <a:r>
              <a:rPr lang="en-US" sz="1400" dirty="0" err="1">
                <a:latin typeface="Elephant" pitchFamily="18" charset="0"/>
              </a:rPr>
              <a:t>trece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in forma </a:t>
            </a:r>
            <a:r>
              <a:rPr lang="en-US" sz="1400" dirty="0" err="1">
                <a:latin typeface="Elephant" pitchFamily="18" charset="0"/>
              </a:rPr>
              <a:t>carbonilica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pot da </a:t>
            </a:r>
            <a:r>
              <a:rPr lang="en-US" sz="1400" dirty="0" err="1">
                <a:latin typeface="Elephant" pitchFamily="18" charset="0"/>
              </a:rPr>
              <a:t>reactii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specifice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acesteia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Aceste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dizaharide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exista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sub forma a </a:t>
            </a:r>
            <a:r>
              <a:rPr lang="en-US" sz="1400" dirty="0" err="1">
                <a:latin typeface="Elephant" pitchFamily="18" charset="0"/>
              </a:rPr>
              <a:t>doi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anomeri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prezinta</a:t>
            </a:r>
            <a:endParaRPr lang="en-US" sz="1400" dirty="0">
              <a:latin typeface="Elephant" pitchFamily="18" charset="0"/>
              <a:cs typeface="Times New Roman"/>
            </a:endParaRP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mutarotatie</a:t>
            </a:r>
            <a:r>
              <a:rPr lang="en-US" sz="1400" dirty="0">
                <a:latin typeface="Elephant" pitchFamily="18" charset="0"/>
                <a:cs typeface="Times New Roman"/>
              </a:rPr>
              <a:t>, se </a:t>
            </a:r>
            <a:r>
              <a:rPr lang="en-US" sz="1400" dirty="0" err="1">
                <a:latin typeface="Elephant" pitchFamily="18" charset="0"/>
                <a:cs typeface="Times New Roman"/>
              </a:rPr>
              <a:t>oxideaza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reduc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reactivii</a:t>
            </a:r>
            <a:r>
              <a:rPr lang="en-US" sz="1400" dirty="0">
                <a:latin typeface="Elephant" pitchFamily="18" charset="0"/>
                <a:cs typeface="Times New Roman"/>
              </a:rPr>
              <a:t>:</a:t>
            </a:r>
          </a:p>
          <a:p>
            <a:r>
              <a:rPr lang="en-US" sz="1400" dirty="0">
                <a:latin typeface="Elephant" pitchFamily="18" charset="0"/>
                <a:cs typeface="Times New Roman"/>
              </a:rPr>
              <a:t>Br2, </a:t>
            </a:r>
            <a:r>
              <a:rPr lang="en-US" sz="1400" dirty="0" err="1">
                <a:latin typeface="Elephant" pitchFamily="18" charset="0"/>
                <a:cs typeface="Times New Roman"/>
              </a:rPr>
              <a:t>Tollens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Fehling.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Acestea</a:t>
            </a:r>
            <a:r>
              <a:rPr lang="en-US" sz="1400" dirty="0">
                <a:latin typeface="Elephant" pitchFamily="18" charset="0"/>
                <a:cs typeface="Times New Roman"/>
              </a:rPr>
              <a:t> se </a:t>
            </a:r>
            <a:r>
              <a:rPr lang="en-US" sz="1400" dirty="0" err="1">
                <a:latin typeface="Elephant" pitchFamily="18" charset="0"/>
                <a:cs typeface="Times New Roman"/>
              </a:rPr>
              <a:t>numesc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dizaharide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reducatoare</a:t>
            </a:r>
            <a:r>
              <a:rPr lang="en-US" sz="1400" dirty="0">
                <a:latin typeface="Elephant" pitchFamily="18" charset="0"/>
                <a:cs typeface="Times New Roman"/>
              </a:rPr>
              <a:t>.</a:t>
            </a:r>
          </a:p>
          <a:p>
            <a:endParaRPr lang="en-US" sz="1400" dirty="0">
              <a:latin typeface="Elephant" pitchFamily="18" charset="0"/>
              <a:cs typeface="Times New Roman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  <a:cs typeface="Times New Roman"/>
              </a:rPr>
              <a:t>Dizaharidele</a:t>
            </a:r>
            <a:r>
              <a:rPr lang="en-US" sz="1400" dirty="0">
                <a:latin typeface="Elephant" pitchFamily="18" charset="0"/>
                <a:cs typeface="Times New Roman"/>
              </a:rPr>
              <a:t> cu </a:t>
            </a:r>
            <a:r>
              <a:rPr lang="en-US" sz="1400" dirty="0" err="1">
                <a:latin typeface="Elephant" pitchFamily="18" charset="0"/>
                <a:cs typeface="Times New Roman"/>
              </a:rPr>
              <a:t>legatura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dicarbonilica</a:t>
            </a:r>
            <a:r>
              <a:rPr lang="en-US" sz="1400" dirty="0">
                <a:latin typeface="Elephant" pitchFamily="18" charset="0"/>
                <a:cs typeface="Times New Roman"/>
              </a:rPr>
              <a:t>,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neavand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hidroxidul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</a:t>
            </a:r>
            <a:r>
              <a:rPr lang="en-US" sz="1400" dirty="0">
                <a:latin typeface="Elephant" pitchFamily="18" charset="0"/>
                <a:cs typeface="Times New Roman"/>
              </a:rPr>
              <a:t> live, nu </a:t>
            </a:r>
            <a:r>
              <a:rPr lang="en-US" sz="1400" dirty="0" err="1">
                <a:latin typeface="Elephant" pitchFamily="18" charset="0"/>
                <a:cs typeface="Times New Roman"/>
              </a:rPr>
              <a:t>mai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</a:p>
          <a:p>
            <a:r>
              <a:rPr lang="en-US" sz="1400" dirty="0">
                <a:latin typeface="Elephant" pitchFamily="18" charset="0"/>
                <a:cs typeface="Times New Roman"/>
              </a:rPr>
              <a:t>pot </a:t>
            </a:r>
            <a:r>
              <a:rPr lang="en-US" sz="1400" dirty="0" err="1">
                <a:latin typeface="Elephant" pitchFamily="18" charset="0"/>
                <a:cs typeface="Times New Roman"/>
              </a:rPr>
              <a:t>trece</a:t>
            </a:r>
            <a:r>
              <a:rPr lang="en-US" sz="1400" dirty="0">
                <a:latin typeface="Elephant" pitchFamily="18" charset="0"/>
                <a:cs typeface="Times New Roman"/>
              </a:rPr>
              <a:t> in forma </a:t>
            </a:r>
            <a:r>
              <a:rPr lang="en-US" sz="1400" dirty="0" err="1">
                <a:latin typeface="Elephant" pitchFamily="18" charset="0"/>
                <a:cs typeface="Times New Roman"/>
              </a:rPr>
              <a:t>carbonilica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nu </a:t>
            </a:r>
            <a:r>
              <a:rPr lang="en-US" sz="1400" dirty="0" err="1">
                <a:latin typeface="Elephant" pitchFamily="18" charset="0"/>
                <a:cs typeface="Times New Roman"/>
              </a:rPr>
              <a:t>mai</a:t>
            </a:r>
            <a:r>
              <a:rPr lang="en-US" sz="1400" dirty="0">
                <a:latin typeface="Elephant" pitchFamily="18" charset="0"/>
                <a:cs typeface="Times New Roman"/>
              </a:rPr>
              <a:t> pot</a:t>
            </a:r>
          </a:p>
          <a:p>
            <a:r>
              <a:rPr lang="en-US" sz="1400" dirty="0">
                <a:latin typeface="Elephant" pitchFamily="18" charset="0"/>
                <a:cs typeface="Times New Roman"/>
              </a:rPr>
              <a:t>da </a:t>
            </a:r>
            <a:r>
              <a:rPr lang="en-US" sz="1400" dirty="0" err="1">
                <a:latin typeface="Elephant" pitchFamily="18" charset="0"/>
                <a:cs typeface="Times New Roman"/>
              </a:rPr>
              <a:t>reactiile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specifice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acesteia</a:t>
            </a:r>
            <a:r>
              <a:rPr lang="en-US" sz="1400" dirty="0">
                <a:latin typeface="Elephant" pitchFamily="18" charset="0"/>
                <a:cs typeface="Times New Roman"/>
              </a:rPr>
              <a:t>: </a:t>
            </a:r>
            <a:r>
              <a:rPr lang="en-US" sz="1400" dirty="0" err="1">
                <a:latin typeface="Elephant" pitchFamily="18" charset="0"/>
                <a:cs typeface="Times New Roman"/>
              </a:rPr>
              <a:t>fenomenul</a:t>
            </a:r>
            <a:endParaRPr lang="en-US" sz="1400" dirty="0">
              <a:latin typeface="Elephant" pitchFamily="18" charset="0"/>
              <a:cs typeface="Times New Roman"/>
            </a:endParaRPr>
          </a:p>
          <a:p>
            <a:r>
              <a:rPr lang="en-US" sz="1400" dirty="0">
                <a:latin typeface="Elephant" pitchFamily="18" charset="0"/>
                <a:cs typeface="Times New Roman"/>
              </a:rPr>
              <a:t>de </a:t>
            </a:r>
            <a:r>
              <a:rPr lang="en-US" sz="1400" dirty="0" err="1">
                <a:latin typeface="Elephant" pitchFamily="18" charset="0"/>
                <a:cs typeface="Times New Roman"/>
              </a:rPr>
              <a:t>mutoritatie</a:t>
            </a:r>
            <a:r>
              <a:rPr lang="en-US" sz="1400" dirty="0">
                <a:latin typeface="Elephant" pitchFamily="18" charset="0"/>
                <a:cs typeface="Times New Roman"/>
              </a:rPr>
              <a:t>, </a:t>
            </a:r>
            <a:r>
              <a:rPr lang="en-US" sz="1400" dirty="0" err="1">
                <a:latin typeface="Elephant" pitchFamily="18" charset="0"/>
                <a:cs typeface="Times New Roman"/>
              </a:rPr>
              <a:t>reducere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solutiilor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Tolens</a:t>
            </a:r>
            <a:r>
              <a:rPr lang="en-US" sz="1400" dirty="0">
                <a:latin typeface="Elephant" pitchFamily="18" charset="0"/>
                <a:cs typeface="Times New Roman"/>
              </a:rPr>
              <a:t>,</a:t>
            </a:r>
          </a:p>
          <a:p>
            <a:r>
              <a:rPr lang="en-US" sz="1400" dirty="0">
                <a:latin typeface="Elephant" pitchFamily="18" charset="0"/>
                <a:cs typeface="Times New Roman"/>
              </a:rPr>
              <a:t>Fehling </a:t>
            </a:r>
            <a:r>
              <a:rPr lang="en-US" sz="1400" dirty="0" err="1">
                <a:latin typeface="Elephant" pitchFamily="18" charset="0"/>
                <a:cs typeface="Times New Roman"/>
              </a:rPr>
              <a:t>si</a:t>
            </a:r>
            <a:r>
              <a:rPr lang="en-US" sz="1400" dirty="0">
                <a:latin typeface="Elephant" pitchFamily="18" charset="0"/>
                <a:cs typeface="Times New Roman"/>
              </a:rPr>
              <a:t> Br2.</a:t>
            </a: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Ele</a:t>
            </a:r>
            <a:r>
              <a:rPr lang="en-US" sz="1400" dirty="0">
                <a:latin typeface="Elephant" pitchFamily="18" charset="0"/>
                <a:cs typeface="Times New Roman"/>
              </a:rPr>
              <a:t> se </a:t>
            </a:r>
            <a:r>
              <a:rPr lang="en-US" sz="1400" dirty="0" err="1">
                <a:latin typeface="Elephant" pitchFamily="18" charset="0"/>
                <a:cs typeface="Times New Roman"/>
              </a:rPr>
              <a:t>numesc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dizaharide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nereducatoare</a:t>
            </a:r>
            <a:r>
              <a:rPr lang="en-US" sz="1400" dirty="0">
                <a:latin typeface="Elephant" pitchFamily="18" charset="0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491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9877" y="1143000"/>
            <a:ext cx="389908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Hidroliza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oligozaharidelor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un</a:t>
            </a:r>
          </a:p>
          <a:p>
            <a:r>
              <a:rPr lang="en-US" sz="1400" dirty="0" err="1">
                <a:latin typeface="Elephant" pitchFamily="18" charset="0"/>
              </a:rPr>
              <a:t>proces</a:t>
            </a:r>
            <a:r>
              <a:rPr lang="en-US" sz="1400" dirty="0">
                <a:latin typeface="Elephant" pitchFamily="18" charset="0"/>
              </a:rPr>
              <a:t> invers </a:t>
            </a:r>
            <a:r>
              <a:rPr lang="en-US" sz="1400" dirty="0" err="1">
                <a:latin typeface="Elephant" pitchFamily="18" charset="0"/>
              </a:rPr>
              <a:t>condensarii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biochimice</a:t>
            </a:r>
            <a:r>
              <a:rPr lang="en-US" sz="1400" dirty="0">
                <a:latin typeface="Elephant" pitchFamily="18" charset="0"/>
              </a:rPr>
              <a:t> a </a:t>
            </a:r>
          </a:p>
          <a:p>
            <a:r>
              <a:rPr lang="en-US" sz="1400" dirty="0" err="1">
                <a:latin typeface="Elephant" pitchFamily="18" charset="0"/>
              </a:rPr>
              <a:t>monozaharidelor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Hidroliza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mediu</a:t>
            </a:r>
            <a:r>
              <a:rPr lang="en-US" sz="1400" dirty="0">
                <a:latin typeface="Elephant" pitchFamily="18" charset="0"/>
              </a:rPr>
              <a:t> acid</a:t>
            </a:r>
          </a:p>
          <a:p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o </a:t>
            </a:r>
            <a:r>
              <a:rPr lang="en-US" sz="1400" dirty="0" err="1">
                <a:latin typeface="Elephant" pitchFamily="18" charset="0"/>
              </a:rPr>
              <a:t>hidroliza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totala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conduce la</a:t>
            </a:r>
          </a:p>
          <a:p>
            <a:r>
              <a:rPr lang="en-US" sz="1400" dirty="0" err="1">
                <a:latin typeface="Elephant" pitchFamily="18" charset="0"/>
              </a:rPr>
              <a:t>monozaharidele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constituente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29" y="2623358"/>
            <a:ext cx="33051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99877" y="3581400"/>
            <a:ext cx="41135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itchFamily="18" charset="0"/>
              </a:rPr>
              <a:t>In </a:t>
            </a:r>
            <a:r>
              <a:rPr lang="en-US" sz="1400" dirty="0" err="1">
                <a:latin typeface="Elephant" pitchFamily="18" charset="0"/>
              </a:rPr>
              <a:t>mediu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viu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reactiile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hidroliza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sunt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catalizate</a:t>
            </a:r>
            <a:r>
              <a:rPr lang="en-US" sz="1400" dirty="0">
                <a:latin typeface="Elephant" pitchFamily="18" charset="0"/>
              </a:rPr>
              <a:t> d </a:t>
            </a:r>
            <a:r>
              <a:rPr lang="en-US" sz="1400" dirty="0" err="1">
                <a:latin typeface="Elephant" pitchFamily="18" charset="0"/>
              </a:rPr>
              <a:t>enzime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specifice</a:t>
            </a:r>
            <a:r>
              <a:rPr lang="en-US" sz="1400" dirty="0">
                <a:latin typeface="Elephant" pitchFamily="18" charset="0"/>
              </a:rPr>
              <a:t>. </a:t>
            </a:r>
            <a:r>
              <a:rPr lang="en-US" sz="1400" dirty="0" err="1">
                <a:latin typeface="Elephant" pitchFamily="18" charset="0"/>
              </a:rPr>
              <a:t>Legaturile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eterice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sunt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hidrolizate</a:t>
            </a:r>
            <a:r>
              <a:rPr lang="en-US" sz="1400" dirty="0">
                <a:latin typeface="Elephant" pitchFamily="18" charset="0"/>
                <a:cs typeface="Times New Roman"/>
              </a:rPr>
              <a:t> de </a:t>
            </a:r>
          </a:p>
          <a:p>
            <a:r>
              <a:rPr lang="el-GR" sz="1400" dirty="0">
                <a:latin typeface="Times New Roman"/>
                <a:cs typeface="Times New Roman"/>
              </a:rPr>
              <a:t>α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glicozidaze</a:t>
            </a:r>
            <a:r>
              <a:rPr lang="en-US" sz="1400" dirty="0">
                <a:latin typeface="Elephant" pitchFamily="18" charset="0"/>
                <a:cs typeface="Times New Roman"/>
              </a:rPr>
              <a:t>. </a:t>
            </a:r>
            <a:r>
              <a:rPr lang="en-US" sz="1400" dirty="0" err="1">
                <a:latin typeface="Elephant" pitchFamily="18" charset="0"/>
                <a:cs typeface="Times New Roman"/>
              </a:rPr>
              <a:t>Legaturile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eterice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glicozidice</a:t>
            </a:r>
            <a:endParaRPr lang="en-US" sz="1400" dirty="0">
              <a:latin typeface="Elephant" pitchFamily="18" charset="0"/>
              <a:cs typeface="Times New Roman"/>
            </a:endParaRPr>
          </a:p>
          <a:p>
            <a:r>
              <a:rPr lang="en-US" sz="1400" dirty="0" err="1">
                <a:latin typeface="Elephant" pitchFamily="18" charset="0"/>
                <a:cs typeface="Times New Roman"/>
              </a:rPr>
              <a:t>sunt</a:t>
            </a:r>
            <a:r>
              <a:rPr lang="en-US" sz="1400" dirty="0">
                <a:latin typeface="Elephant" pitchFamily="18" charset="0"/>
                <a:cs typeface="Times New Roman"/>
              </a:rPr>
              <a:t> </a:t>
            </a:r>
            <a:r>
              <a:rPr lang="en-US" sz="1400" dirty="0" err="1">
                <a:latin typeface="Elephant" pitchFamily="18" charset="0"/>
                <a:cs typeface="Times New Roman"/>
              </a:rPr>
              <a:t>hidrolizate</a:t>
            </a:r>
            <a:r>
              <a:rPr lang="en-US" sz="1400" dirty="0">
                <a:latin typeface="Elephant" pitchFamily="18" charset="0"/>
                <a:cs typeface="Times New Roman"/>
              </a:rPr>
              <a:t> de </a:t>
            </a:r>
            <a:r>
              <a:rPr lang="el-GR" sz="1400" dirty="0">
                <a:latin typeface="Times New Roman"/>
                <a:cs typeface="Times New Roman"/>
              </a:rPr>
              <a:t>β</a:t>
            </a:r>
            <a:r>
              <a:rPr lang="en-US" sz="1400" dirty="0">
                <a:latin typeface="Elephant" pitchFamily="18" charset="0"/>
                <a:cs typeface="Times New Roman"/>
              </a:rPr>
              <a:t>-</a:t>
            </a:r>
            <a:r>
              <a:rPr lang="en-US" sz="1400" dirty="0" err="1">
                <a:latin typeface="Elephant" pitchFamily="18" charset="0"/>
                <a:cs typeface="Times New Roman"/>
              </a:rPr>
              <a:t>glicozidaze</a:t>
            </a:r>
            <a:r>
              <a:rPr lang="en-US" sz="1400" dirty="0">
                <a:latin typeface="Elephant" pitchFamily="18" charset="0"/>
                <a:cs typeface="Times New Roman"/>
              </a:rPr>
              <a:t>.</a:t>
            </a:r>
            <a:endParaRPr lang="en-US" sz="1400" dirty="0">
              <a:latin typeface="Elephant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990600"/>
            <a:ext cx="399263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Zaharoza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o </a:t>
            </a:r>
            <a:r>
              <a:rPr lang="en-US" sz="1400" dirty="0" err="1">
                <a:latin typeface="Elephant" pitchFamily="18" charset="0"/>
              </a:rPr>
              <a:t>substanta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solida</a:t>
            </a:r>
            <a:r>
              <a:rPr lang="en-US" sz="1400" dirty="0">
                <a:latin typeface="Elephant" pitchFamily="18" charset="0"/>
              </a:rPr>
              <a:t>, alba</a:t>
            </a:r>
          </a:p>
          <a:p>
            <a:r>
              <a:rPr lang="en-US" sz="1400" dirty="0" err="1">
                <a:latin typeface="Elephant" pitchFamily="18" charset="0"/>
              </a:rPr>
              <a:t>cristalizata</a:t>
            </a:r>
            <a:r>
              <a:rPr lang="en-US" sz="1400" dirty="0">
                <a:latin typeface="Elephant" pitchFamily="18" charset="0"/>
              </a:rPr>
              <a:t>, cu gust </a:t>
            </a:r>
            <a:r>
              <a:rPr lang="en-US" sz="1400" dirty="0" err="1">
                <a:latin typeface="Elephant" pitchFamily="18" charset="0"/>
              </a:rPr>
              <a:t>dulce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solubila</a:t>
            </a:r>
            <a:r>
              <a:rPr lang="en-US" sz="1400" dirty="0">
                <a:latin typeface="Elephant" pitchFamily="18" charset="0"/>
              </a:rPr>
              <a:t> in </a:t>
            </a:r>
            <a:r>
              <a:rPr lang="en-US" sz="1400" dirty="0" err="1">
                <a:latin typeface="Elephant" pitchFamily="18" charset="0"/>
              </a:rPr>
              <a:t>apa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r>
              <a:rPr lang="en-US" sz="1400" dirty="0" err="1">
                <a:latin typeface="Elephant" pitchFamily="18" charset="0"/>
              </a:rPr>
              <a:t>Zaharoza</a:t>
            </a:r>
            <a:r>
              <a:rPr lang="en-US" sz="1400" dirty="0">
                <a:latin typeface="Elephant" pitchFamily="18" charset="0"/>
              </a:rPr>
              <a:t> se </a:t>
            </a:r>
            <a:r>
              <a:rPr lang="en-US" sz="1400" dirty="0" err="1">
                <a:latin typeface="Elephant" pitchFamily="18" charset="0"/>
              </a:rPr>
              <a:t>topeste</a:t>
            </a:r>
            <a:r>
              <a:rPr lang="en-US" sz="1400" dirty="0">
                <a:latin typeface="Elephant" pitchFamily="18" charset="0"/>
              </a:rPr>
              <a:t> la 185 grade Celsius</a:t>
            </a:r>
          </a:p>
          <a:p>
            <a:r>
              <a:rPr lang="en-US" sz="1400" dirty="0" err="1">
                <a:latin typeface="Elephant" pitchFamily="18" charset="0"/>
              </a:rPr>
              <a:t>cand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formeaza</a:t>
            </a:r>
            <a:r>
              <a:rPr lang="en-US" sz="1400" dirty="0">
                <a:latin typeface="Elephant" pitchFamily="18" charset="0"/>
              </a:rPr>
              <a:t> un </a:t>
            </a:r>
            <a:r>
              <a:rPr lang="en-US" sz="1400" dirty="0" err="1">
                <a:latin typeface="Elephant" pitchFamily="18" charset="0"/>
              </a:rPr>
              <a:t>lichid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galben-brun</a:t>
            </a:r>
            <a:r>
              <a:rPr lang="en-US" sz="1400" dirty="0">
                <a:latin typeface="Elephant" pitchFamily="18" charset="0"/>
              </a:rPr>
              <a:t> care</a:t>
            </a:r>
          </a:p>
          <a:p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racire</a:t>
            </a:r>
            <a:r>
              <a:rPr lang="en-US" sz="1400" dirty="0">
                <a:latin typeface="Elephant" pitchFamily="18" charset="0"/>
              </a:rPr>
              <a:t> da o </a:t>
            </a:r>
            <a:r>
              <a:rPr lang="en-US" sz="1400" dirty="0" err="1">
                <a:latin typeface="Elephant" pitchFamily="18" charset="0"/>
              </a:rPr>
              <a:t>masa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amorfa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densa</a:t>
            </a:r>
            <a:r>
              <a:rPr lang="en-US" sz="1400" dirty="0">
                <a:latin typeface="Elephant" pitchFamily="18" charset="0"/>
              </a:rPr>
              <a:t> cu </a:t>
            </a:r>
          </a:p>
          <a:p>
            <a:r>
              <a:rPr lang="en-US" sz="1400" dirty="0">
                <a:latin typeface="Elephant" pitchFamily="18" charset="0"/>
              </a:rPr>
              <a:t>aspect </a:t>
            </a:r>
            <a:r>
              <a:rPr lang="en-US" sz="1400" dirty="0" err="1">
                <a:latin typeface="Elephant" pitchFamily="18" charset="0"/>
              </a:rPr>
              <a:t>sticlos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numita</a:t>
            </a:r>
            <a:r>
              <a:rPr lang="en-US" sz="1400" dirty="0">
                <a:latin typeface="Elephant" pitchFamily="18" charset="0"/>
              </a:rPr>
              <a:t> caramel. 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Daca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incalzirea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avansata</a:t>
            </a:r>
            <a:r>
              <a:rPr lang="en-US" sz="1400" dirty="0">
                <a:latin typeface="Elephant" pitchFamily="18" charset="0"/>
              </a:rPr>
              <a:t> are </a:t>
            </a:r>
            <a:r>
              <a:rPr lang="en-US" sz="1400" dirty="0" err="1">
                <a:latin typeface="Elephant" pitchFamily="18" charset="0"/>
              </a:rPr>
              <a:t>loc</a:t>
            </a:r>
            <a:r>
              <a:rPr lang="en-US" sz="1400" dirty="0">
                <a:latin typeface="Elephant" pitchFamily="18" charset="0"/>
              </a:rPr>
              <a:t> un</a:t>
            </a:r>
          </a:p>
          <a:p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proces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deshidratare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zaharoza</a:t>
            </a:r>
            <a:r>
              <a:rPr lang="en-US" sz="1400" dirty="0">
                <a:latin typeface="Elephant" pitchFamily="18" charset="0"/>
              </a:rPr>
              <a:t> se</a:t>
            </a:r>
          </a:p>
          <a:p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carbonizeaza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hidroliza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acida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sau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enzimatica</a:t>
            </a:r>
            <a:r>
              <a:rPr lang="en-US" sz="1400" dirty="0">
                <a:latin typeface="Elephant" pitchFamily="18" charset="0"/>
              </a:rPr>
              <a:t>, </a:t>
            </a:r>
          </a:p>
          <a:p>
            <a:r>
              <a:rPr lang="en-US" sz="1400" dirty="0" err="1">
                <a:latin typeface="Elephant" pitchFamily="18" charset="0"/>
              </a:rPr>
              <a:t>zaharoza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formeaza</a:t>
            </a:r>
            <a:r>
              <a:rPr lang="en-US" sz="1400" dirty="0">
                <a:latin typeface="Elephant" pitchFamily="18" charset="0"/>
              </a:rPr>
              <a:t> un </a:t>
            </a:r>
            <a:r>
              <a:rPr lang="en-US" sz="1400" dirty="0" err="1">
                <a:latin typeface="Elephant" pitchFamily="18" charset="0"/>
              </a:rPr>
              <a:t>amestec</a:t>
            </a:r>
            <a:r>
              <a:rPr lang="en-US" sz="1400" dirty="0">
                <a:latin typeface="Elephant" pitchFamily="18" charset="0"/>
              </a:rPr>
              <a:t> </a:t>
            </a:r>
          </a:p>
          <a:p>
            <a:r>
              <a:rPr lang="en-US" sz="1400" dirty="0" err="1">
                <a:latin typeface="Elephant" pitchFamily="18" charset="0"/>
              </a:rPr>
              <a:t>echimolecular</a:t>
            </a:r>
            <a:r>
              <a:rPr lang="en-US" sz="1400" dirty="0">
                <a:latin typeface="Elephant" pitchFamily="18" charset="0"/>
              </a:rPr>
              <a:t> de D-</a:t>
            </a:r>
            <a:r>
              <a:rPr lang="en-US" sz="1400" dirty="0" err="1">
                <a:latin typeface="Elephant" pitchFamily="18" charset="0"/>
              </a:rPr>
              <a:t>glucoza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D-</a:t>
            </a:r>
            <a:r>
              <a:rPr lang="en-US" sz="1400" dirty="0" err="1">
                <a:latin typeface="Elephant" pitchFamily="18" charset="0"/>
              </a:rPr>
              <a:t>fructoza</a:t>
            </a:r>
            <a:r>
              <a:rPr lang="en-US" sz="1400" dirty="0">
                <a:latin typeface="Elephant" pitchFamily="18" charset="0"/>
              </a:rPr>
              <a:t>,</a:t>
            </a:r>
          </a:p>
          <a:p>
            <a:r>
              <a:rPr lang="en-US" sz="1400" dirty="0" err="1">
                <a:latin typeface="Elephant" pitchFamily="18" charset="0"/>
              </a:rPr>
              <a:t>numit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zahar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invertit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Zaharoza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dextrogira</a:t>
            </a:r>
            <a:r>
              <a:rPr lang="en-US" sz="1400" dirty="0">
                <a:latin typeface="Elephant" pitchFamily="18" charset="0"/>
              </a:rPr>
              <a:t>, </a:t>
            </a:r>
            <a:r>
              <a:rPr lang="en-US" sz="1400" dirty="0" err="1">
                <a:latin typeface="Elephant" pitchFamily="18" charset="0"/>
              </a:rPr>
              <a:t>iar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solutia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rezultata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hidroliza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levrogira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196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57200"/>
            <a:ext cx="2464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 err="1">
                <a:latin typeface="Elephant" pitchFamily="18" charset="0"/>
              </a:rPr>
              <a:t>Polizaharide</a:t>
            </a:r>
            <a:endParaRPr lang="en-US" sz="2800" u="sng" dirty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371598"/>
            <a:ext cx="39839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Sunt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compusi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macrimoleculari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naturali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 err="1">
                <a:latin typeface="Elephant" pitchFamily="18" charset="0"/>
              </a:rPr>
              <a:t>obtinuti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prin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policondensarea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biochimica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a </a:t>
            </a:r>
            <a:r>
              <a:rPr lang="en-US" sz="1400" dirty="0" err="1">
                <a:latin typeface="Elephant" pitchFamily="18" charset="0"/>
              </a:rPr>
              <a:t>unor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monozaharide</a:t>
            </a:r>
            <a:r>
              <a:rPr lang="en-US" sz="1400" dirty="0">
                <a:latin typeface="Elephant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E0DE2-26F9-EE76-0CB0-6F9C51842CBB}"/>
              </a:ext>
            </a:extLst>
          </p:cNvPr>
          <p:cNvSpPr txBox="1"/>
          <p:nvPr/>
        </p:nvSpPr>
        <p:spPr>
          <a:xfrm>
            <a:off x="422031" y="2292824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latin typeface="Elephant" pitchFamily="18" charset="0"/>
              </a:rPr>
              <a:t>Amidon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6B387-47FC-3177-C61B-16A4E61D5543}"/>
              </a:ext>
            </a:extLst>
          </p:cNvPr>
          <p:cNvSpPr txBox="1"/>
          <p:nvPr/>
        </p:nvSpPr>
        <p:spPr>
          <a:xfrm>
            <a:off x="430201" y="2769669"/>
            <a:ext cx="3836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itchFamily="18" charset="0"/>
              </a:rPr>
              <a:t>Amidonul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polizaharida</a:t>
            </a:r>
            <a:r>
              <a:rPr lang="en-US" sz="1400" dirty="0">
                <a:latin typeface="Elephant" pitchFamily="18" charset="0"/>
              </a:rPr>
              <a:t> de </a:t>
            </a:r>
            <a:r>
              <a:rPr lang="en-US" sz="1400" dirty="0" err="1">
                <a:latin typeface="Elephant" pitchFamily="18" charset="0"/>
              </a:rPr>
              <a:t>rezerva</a:t>
            </a:r>
            <a:endParaRPr lang="en-US" sz="1400" dirty="0">
              <a:latin typeface="Elephant" pitchFamily="18" charset="0"/>
            </a:endParaRPr>
          </a:p>
          <a:p>
            <a:r>
              <a:rPr lang="en-US" sz="1400" dirty="0">
                <a:latin typeface="Elephant" pitchFamily="18" charset="0"/>
              </a:rPr>
              <a:t>a </a:t>
            </a:r>
            <a:r>
              <a:rPr lang="en-US" sz="1400" dirty="0" err="1">
                <a:latin typeface="Elephant" pitchFamily="18" charset="0"/>
              </a:rPr>
              <a:t>plantelor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este</a:t>
            </a:r>
            <a:r>
              <a:rPr lang="en-US" sz="1400" dirty="0">
                <a:latin typeface="Elephant" pitchFamily="18" charset="0"/>
              </a:rPr>
              <a:t> format din </a:t>
            </a:r>
            <a:r>
              <a:rPr lang="en-US" sz="1400" dirty="0" err="1">
                <a:latin typeface="Elephant" pitchFamily="18" charset="0"/>
              </a:rPr>
              <a:t>doua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componente</a:t>
            </a:r>
            <a:r>
              <a:rPr lang="en-US" sz="1400" dirty="0">
                <a:latin typeface="Elephant" pitchFamily="18" charset="0"/>
              </a:rPr>
              <a:t>: </a:t>
            </a:r>
            <a:r>
              <a:rPr lang="en-US" sz="1400" dirty="0" err="1">
                <a:latin typeface="Elephant" pitchFamily="18" charset="0"/>
              </a:rPr>
              <a:t>amiloza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si</a:t>
            </a:r>
            <a:r>
              <a:rPr lang="en-US" sz="1400" dirty="0">
                <a:latin typeface="Elephant" pitchFamily="18" charset="0"/>
              </a:rPr>
              <a:t> </a:t>
            </a:r>
            <a:r>
              <a:rPr lang="en-US" sz="1400" dirty="0" err="1">
                <a:latin typeface="Elephant" pitchFamily="18" charset="0"/>
              </a:rPr>
              <a:t>amilopectina</a:t>
            </a:r>
            <a:r>
              <a:rPr lang="en-US" sz="1400" dirty="0">
                <a:latin typeface="Elephant" pitchFamily="18" charset="0"/>
              </a:rPr>
              <a:t>.</a:t>
            </a:r>
          </a:p>
          <a:p>
            <a:endParaRPr lang="en-US" sz="1400" dirty="0">
              <a:latin typeface="Elephant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0CB858-DBFF-AFF7-B710-9BA3D56F1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81400"/>
            <a:ext cx="3508310" cy="2024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B03254-69C7-B41D-1925-A3F1CEDF5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511" y="457200"/>
            <a:ext cx="3712289" cy="16219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8D6FC5-A1E8-A0E0-FA29-885EB6D04471}"/>
              </a:ext>
            </a:extLst>
          </p:cNvPr>
          <p:cNvSpPr txBox="1"/>
          <p:nvPr/>
        </p:nvSpPr>
        <p:spPr>
          <a:xfrm>
            <a:off x="4773601" y="2492879"/>
            <a:ext cx="3836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b="0" i="0" dirty="0">
                <a:effectLst/>
                <a:latin typeface="Elephant" panose="02020904090505020303" pitchFamily="18" charset="0"/>
              </a:rPr>
              <a:t>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resturile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a-D</a:t>
            </a:r>
          </a:p>
          <a:p>
            <a:r>
              <a:rPr lang="en-US" sz="1400" b="0" i="0" dirty="0" err="1">
                <a:effectLst/>
                <a:latin typeface="Elephant" panose="02020904090505020303" pitchFamily="18" charset="0"/>
              </a:rPr>
              <a:t>glucopiranoză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sunt unite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pozițiile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1-4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prin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legături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monocarbonilice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a-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glicozidice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aceea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nu sunt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ramificate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Între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covalenţele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C-O-C din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puntea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eterică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este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un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unghi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111°.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toate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punțile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eterice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au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aceeaşi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orientare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atomii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oxigen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aflându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-se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aceeaşi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parte 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axei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</a:t>
            </a:r>
            <a:endParaRPr lang="en-US" sz="1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253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336108-3721-4503-65D4-054C0C836D1D}"/>
              </a:ext>
            </a:extLst>
          </p:cNvPr>
          <p:cNvSpPr txBox="1"/>
          <p:nvPr/>
        </p:nvSpPr>
        <p:spPr>
          <a:xfrm>
            <a:off x="381000" y="476815"/>
            <a:ext cx="383699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b="0" i="0" dirty="0">
                <a:effectLst/>
                <a:latin typeface="Elephant" panose="02020904090505020303" pitchFamily="18" charset="0"/>
              </a:rPr>
              <a:t>Din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această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cauză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macromoleculele</a:t>
            </a:r>
            <a:endParaRPr lang="en-US" sz="1400" dirty="0">
              <a:latin typeface="Elephant" panose="02020904090505020303" pitchFamily="18" charset="0"/>
            </a:endParaRPr>
          </a:p>
          <a:p>
            <a:r>
              <a:rPr lang="en-US" sz="1400" b="0" i="0" dirty="0">
                <a:effectLst/>
                <a:latin typeface="Elephant" panose="02020904090505020303" pitchFamily="18" charset="0"/>
              </a:rPr>
              <a:t>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sunt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răsucite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spirală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canalul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interiorul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spiralei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pot fi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adsorbite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moleculele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iod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situație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în care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apare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o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colorație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albastră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persistentă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Structura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simplă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facilitează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accesul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moleculelor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apă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jurul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acestor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molecule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este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solubilă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apă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caldă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anose="02020904090505020303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0" i="0" dirty="0">
                <a:effectLst/>
                <a:latin typeface="Elephant" panose="02020904090505020303" pitchFamily="18" charset="0"/>
              </a:rPr>
              <a:t>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plante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amidoul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găseşte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sub</a:t>
            </a:r>
          </a:p>
          <a:p>
            <a:r>
              <a:rPr lang="en-US" sz="1400" b="0" i="0" dirty="0" err="1">
                <a:effectLst/>
                <a:latin typeface="Elephant" panose="02020904090505020303" pitchFamily="18" charset="0"/>
              </a:rPr>
              <a:t>formă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granule, 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căror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formă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mărime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sunt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caracteristice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fiecărei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specii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vegetale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Amiloza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reprezintă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10-20% din masa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amidonului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constituie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în mare parte,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miezul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granulei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amidon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Are formula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generală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H(CHO) OH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sau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simplu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-(C,H,O,)-, în care n=300-1200, în funcție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specia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vegetală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din care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provine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</a:t>
            </a:r>
            <a:endParaRPr lang="en-US" sz="1400" b="1" dirty="0">
              <a:latin typeface="Elephant" panose="020209040905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CEB3B-0974-5316-CB9C-646350366288}"/>
              </a:ext>
            </a:extLst>
          </p:cNvPr>
          <p:cNvSpPr txBox="1"/>
          <p:nvPr/>
        </p:nvSpPr>
        <p:spPr>
          <a:xfrm>
            <a:off x="5029200" y="533400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 dirty="0" err="1">
                <a:latin typeface="Elephant" pitchFamily="18" charset="0"/>
              </a:rPr>
              <a:t>Utilizari</a:t>
            </a:r>
            <a:endParaRPr lang="en-US" sz="1600" u="sng" dirty="0">
              <a:latin typeface="Elephant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DDED2-B564-FA6D-A5D3-3D371445CAF5}"/>
              </a:ext>
            </a:extLst>
          </p:cNvPr>
          <p:cNvSpPr txBox="1"/>
          <p:nvPr/>
        </p:nvSpPr>
        <p:spPr>
          <a:xfrm>
            <a:off x="4762500" y="914400"/>
            <a:ext cx="3836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>
                <a:latin typeface="Elephant" panose="02020904090505020303" pitchFamily="18" charset="0"/>
              </a:rPr>
              <a:t>Sub forma de coca </a:t>
            </a:r>
            <a:r>
              <a:rPr lang="en-US" sz="1400" dirty="0" err="1">
                <a:latin typeface="Elephant" panose="02020904090505020303" pitchFamily="18" charset="0"/>
              </a:rPr>
              <a:t>fiarta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sau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coapta</a:t>
            </a:r>
            <a:r>
              <a:rPr lang="en-US" sz="1400" dirty="0">
                <a:latin typeface="Elephant" panose="02020904090505020303" pitchFamily="18" charset="0"/>
              </a:rPr>
              <a:t>,</a:t>
            </a:r>
          </a:p>
          <a:p>
            <a:r>
              <a:rPr lang="en-US" sz="1400" dirty="0" err="1">
                <a:latin typeface="Elephant" panose="02020904090505020303" pitchFamily="18" charset="0"/>
              </a:rPr>
              <a:t>amidonul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constituie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hrana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baza</a:t>
            </a:r>
            <a:r>
              <a:rPr lang="en-US" sz="1400" dirty="0">
                <a:latin typeface="Elephant" panose="02020904090505020303" pitchFamily="18" charset="0"/>
              </a:rPr>
              <a:t> a </a:t>
            </a:r>
            <a:r>
              <a:rPr lang="en-US" sz="1400" dirty="0" err="1">
                <a:latin typeface="Elephant" panose="02020904090505020303" pitchFamily="18" charset="0"/>
              </a:rPr>
              <a:t>omului</a:t>
            </a:r>
            <a:r>
              <a:rPr lang="en-US" sz="1400" dirty="0">
                <a:latin typeface="Elephant" panose="02020904090505020303" pitchFamily="18" charset="0"/>
              </a:rPr>
              <a:t>. </a:t>
            </a:r>
            <a:r>
              <a:rPr lang="en-US" sz="1400" dirty="0" err="1">
                <a:latin typeface="Elephant" panose="02020904090505020303" pitchFamily="18" charset="0"/>
              </a:rPr>
              <a:t>Prin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hidroliza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totala</a:t>
            </a:r>
            <a:r>
              <a:rPr lang="en-US" sz="1400" dirty="0">
                <a:latin typeface="Elephant" panose="02020904090505020303" pitchFamily="18" charset="0"/>
              </a:rPr>
              <a:t> a </a:t>
            </a:r>
            <a:r>
              <a:rPr lang="en-US" sz="1400" dirty="0" err="1">
                <a:latin typeface="Elephant" panose="02020904090505020303" pitchFamily="18" charset="0"/>
              </a:rPr>
              <a:t>amidonului</a:t>
            </a:r>
            <a:r>
              <a:rPr lang="en-US" sz="1400" dirty="0">
                <a:latin typeface="Elephant" panose="02020904090505020303" pitchFamily="18" charset="0"/>
              </a:rPr>
              <a:t> se </a:t>
            </a:r>
            <a:r>
              <a:rPr lang="en-US" sz="1400" dirty="0" err="1">
                <a:latin typeface="Elephant" panose="02020904090505020303" pitchFamily="18" charset="0"/>
              </a:rPr>
              <a:t>obtine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glucoza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  <a:endParaRPr lang="en-US" sz="1400" b="1" dirty="0">
              <a:latin typeface="Elephant" panose="020209040905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57C2F1-502D-FB00-9EA8-47ECD0B5F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865" y="1910953"/>
            <a:ext cx="3172268" cy="3334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2A528C-156D-32A5-0C70-CD559F6DF7B6}"/>
              </a:ext>
            </a:extLst>
          </p:cNvPr>
          <p:cNvSpPr txBox="1"/>
          <p:nvPr/>
        </p:nvSpPr>
        <p:spPr>
          <a:xfrm>
            <a:off x="4762500" y="2335794"/>
            <a:ext cx="38369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Amidonul</a:t>
            </a:r>
            <a:r>
              <a:rPr lang="en-US" sz="1400" dirty="0">
                <a:latin typeface="Elephant" panose="02020904090505020303" pitchFamily="18" charset="0"/>
              </a:rPr>
              <a:t> din </a:t>
            </a:r>
            <a:r>
              <a:rPr lang="en-US" sz="1400" dirty="0" err="1">
                <a:latin typeface="Elephant" panose="02020904090505020303" pitchFamily="18" charset="0"/>
              </a:rPr>
              <a:t>unele</a:t>
            </a:r>
            <a:r>
              <a:rPr lang="en-US" sz="1400" dirty="0">
                <a:latin typeface="Elephant" panose="02020904090505020303" pitchFamily="18" charset="0"/>
              </a:rPr>
              <a:t> cereale </a:t>
            </a:r>
            <a:r>
              <a:rPr lang="en-US" sz="1400" dirty="0" err="1">
                <a:latin typeface="Elephant" panose="02020904090505020303" pitchFamily="18" charset="0"/>
              </a:rPr>
              <a:t>este</a:t>
            </a:r>
            <a:endParaRPr lang="en-US" sz="1400" dirty="0">
              <a:latin typeface="Elephant" panose="02020904090505020303" pitchFamily="18" charset="0"/>
            </a:endParaRPr>
          </a:p>
          <a:p>
            <a:r>
              <a:rPr lang="en-US" sz="1400" dirty="0" err="1">
                <a:latin typeface="Elephant" panose="02020904090505020303" pitchFamily="18" charset="0"/>
              </a:rPr>
              <a:t>utilizat</a:t>
            </a:r>
            <a:r>
              <a:rPr lang="en-US" sz="1400" dirty="0">
                <a:latin typeface="Elephant" panose="02020904090505020303" pitchFamily="18" charset="0"/>
              </a:rPr>
              <a:t> ca </a:t>
            </a:r>
            <a:r>
              <a:rPr lang="en-US" sz="1400" dirty="0" err="1">
                <a:latin typeface="Elephant" panose="02020904090505020303" pitchFamily="18" charset="0"/>
              </a:rPr>
              <a:t>materie</a:t>
            </a:r>
            <a:r>
              <a:rPr lang="en-US" sz="1400" dirty="0">
                <a:latin typeface="Elephant" panose="02020904090505020303" pitchFamily="18" charset="0"/>
              </a:rPr>
              <a:t> prima in </a:t>
            </a:r>
            <a:r>
              <a:rPr lang="en-US" sz="1400" dirty="0" err="1">
                <a:latin typeface="Elephant" panose="02020904090505020303" pitchFamily="18" charset="0"/>
              </a:rPr>
              <a:t>industria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berii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a </a:t>
            </a:r>
            <a:r>
              <a:rPr lang="en-US" sz="1400" dirty="0" err="1">
                <a:latin typeface="Elephant" panose="02020904090505020303" pitchFamily="18" charset="0"/>
              </a:rPr>
              <a:t>bauturilor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alcoolice</a:t>
            </a:r>
            <a:r>
              <a:rPr lang="en-US" sz="1400" dirty="0">
                <a:latin typeface="Elephant" panose="02020904090505020303" pitchFamily="18" charset="0"/>
              </a:rPr>
              <a:t>. </a:t>
            </a:r>
            <a:r>
              <a:rPr lang="en-US" sz="1400" dirty="0" err="1">
                <a:latin typeface="Elephant" panose="02020904090505020303" pitchFamily="18" charset="0"/>
              </a:rPr>
              <a:t>Alcoolul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etilic</a:t>
            </a:r>
            <a:r>
              <a:rPr lang="en-US" sz="1400" dirty="0">
                <a:latin typeface="Elephant" panose="02020904090505020303" pitchFamily="18" charset="0"/>
              </a:rPr>
              <a:t> se </a:t>
            </a:r>
            <a:r>
              <a:rPr lang="en-US" sz="1400" dirty="0" err="1">
                <a:latin typeface="Elephant" panose="02020904090505020303" pitchFamily="18" charset="0"/>
              </a:rPr>
              <a:t>obtine</a:t>
            </a:r>
            <a:r>
              <a:rPr lang="en-US" sz="1400" dirty="0">
                <a:latin typeface="Elephant" panose="02020904090505020303" pitchFamily="18" charset="0"/>
              </a:rPr>
              <a:t> din </a:t>
            </a:r>
            <a:r>
              <a:rPr lang="en-US" sz="1400" dirty="0" err="1">
                <a:latin typeface="Elephant" panose="02020904090505020303" pitchFamily="18" charset="0"/>
              </a:rPr>
              <a:t>amidon</a:t>
            </a:r>
            <a:r>
              <a:rPr lang="en-US" sz="1400" dirty="0">
                <a:latin typeface="Elephant" panose="02020904090505020303" pitchFamily="18" charset="0"/>
              </a:rPr>
              <a:t> conform </a:t>
            </a:r>
            <a:r>
              <a:rPr lang="en-US" sz="1400" dirty="0" err="1">
                <a:latin typeface="Elephant" panose="02020904090505020303" pitchFamily="18" charset="0"/>
              </a:rPr>
              <a:t>schemei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83C138-2967-4064-E58A-DF08BD2AB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754" y="3596764"/>
            <a:ext cx="3644564" cy="8293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512478-FCFE-1B91-C8B4-081C7A780441}"/>
              </a:ext>
            </a:extLst>
          </p:cNvPr>
          <p:cNvSpPr txBox="1"/>
          <p:nvPr/>
        </p:nvSpPr>
        <p:spPr>
          <a:xfrm>
            <a:off x="4762499" y="4520016"/>
            <a:ext cx="3836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Prin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distilarea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amestecului</a:t>
            </a:r>
            <a:r>
              <a:rPr lang="en-US" sz="1400" dirty="0">
                <a:latin typeface="Elephant" panose="02020904090505020303" pitchFamily="18" charset="0"/>
              </a:rPr>
              <a:t> de</a:t>
            </a:r>
          </a:p>
          <a:p>
            <a:r>
              <a:rPr lang="en-US" sz="1400" dirty="0" err="1">
                <a:latin typeface="Elephant" panose="02020904090505020303" pitchFamily="18" charset="0"/>
              </a:rPr>
              <a:t>reactiv</a:t>
            </a:r>
            <a:r>
              <a:rPr lang="en-US" sz="1400" dirty="0">
                <a:latin typeface="Elephant" panose="02020904090505020303" pitchFamily="18" charset="0"/>
              </a:rPr>
              <a:t> se </a:t>
            </a:r>
            <a:r>
              <a:rPr lang="en-US" sz="1400" dirty="0" err="1">
                <a:latin typeface="Elephant" panose="02020904090505020303" pitchFamily="18" charset="0"/>
              </a:rPr>
              <a:t>obtine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spirtul</a:t>
            </a:r>
            <a:r>
              <a:rPr lang="en-US" sz="1400" dirty="0">
                <a:latin typeface="Elephant" panose="02020904090505020303" pitchFamily="18" charset="0"/>
              </a:rPr>
              <a:t> alb. </a:t>
            </a:r>
            <a:r>
              <a:rPr lang="en-US" sz="1400" dirty="0" err="1">
                <a:latin typeface="Elephant" panose="02020904090505020303" pitchFamily="18" charset="0"/>
              </a:rPr>
              <a:t>Prin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intreruperea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hidrolizei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acide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sau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enzimatice</a:t>
            </a:r>
            <a:r>
              <a:rPr lang="en-US" sz="1400" dirty="0">
                <a:latin typeface="Elephant" panose="02020904090505020303" pitchFamily="18" charset="0"/>
              </a:rPr>
              <a:t> a </a:t>
            </a:r>
            <a:r>
              <a:rPr lang="en-US" sz="1400" dirty="0" err="1">
                <a:latin typeface="Elephant" panose="02020904090505020303" pitchFamily="18" charset="0"/>
              </a:rPr>
              <a:t>amidonului</a:t>
            </a:r>
            <a:r>
              <a:rPr lang="en-US" sz="1400" dirty="0">
                <a:latin typeface="Elephant" panose="02020904090505020303" pitchFamily="18" charset="0"/>
              </a:rPr>
              <a:t>, se </a:t>
            </a:r>
            <a:r>
              <a:rPr lang="en-US" sz="1400" dirty="0" err="1">
                <a:latin typeface="Elephant" panose="02020904090505020303" pitchFamily="18" charset="0"/>
              </a:rPr>
              <a:t>obtine</a:t>
            </a:r>
            <a:endParaRPr lang="en-US" sz="1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320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8B4E8AC7-B02F-E911-0F2D-E2142181D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F301BB-9C8F-EB80-268E-D21048496424}"/>
              </a:ext>
            </a:extLst>
          </p:cNvPr>
          <p:cNvSpPr txBox="1"/>
          <p:nvPr/>
        </p:nvSpPr>
        <p:spPr>
          <a:xfrm>
            <a:off x="457200" y="533400"/>
            <a:ext cx="3836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anose="02020904090505020303" pitchFamily="18" charset="0"/>
              </a:rPr>
              <a:t>un sirop </a:t>
            </a:r>
            <a:r>
              <a:rPr lang="en-US" sz="1400" dirty="0" err="1">
                <a:latin typeface="Elephant" panose="02020904090505020303" pitchFamily="18" charset="0"/>
              </a:rPr>
              <a:t>alcatuit</a:t>
            </a:r>
            <a:r>
              <a:rPr lang="en-US" sz="1400" dirty="0">
                <a:latin typeface="Elephant" panose="02020904090505020303" pitchFamily="18" charset="0"/>
              </a:rPr>
              <a:t> din dextrin, </a:t>
            </a:r>
            <a:r>
              <a:rPr lang="en-US" sz="1400" dirty="0" err="1">
                <a:latin typeface="Elephant" panose="02020904090505020303" pitchFamily="18" charset="0"/>
              </a:rPr>
              <a:t>maltoza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glucoza</a:t>
            </a:r>
            <a:r>
              <a:rPr lang="en-US" sz="1400" dirty="0">
                <a:latin typeface="Elephant" panose="02020904090505020303" pitchFamily="18" charset="0"/>
              </a:rPr>
              <a:t>. Este </a:t>
            </a:r>
            <a:r>
              <a:rPr lang="en-US" sz="1400" dirty="0" err="1">
                <a:latin typeface="Elephant" panose="02020904090505020303" pitchFamily="18" charset="0"/>
              </a:rPr>
              <a:t>numit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melasa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midonata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sau</a:t>
            </a:r>
            <a:r>
              <a:rPr lang="en-US" sz="1400" dirty="0">
                <a:latin typeface="Elephant" panose="02020904090505020303" pitchFamily="18" charset="0"/>
              </a:rPr>
              <a:t> sirop de </a:t>
            </a:r>
            <a:r>
              <a:rPr lang="en-US" sz="1400" dirty="0" err="1">
                <a:latin typeface="Elephant" panose="02020904090505020303" pitchFamily="18" charset="0"/>
              </a:rPr>
              <a:t>porumb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se </a:t>
            </a:r>
            <a:r>
              <a:rPr lang="en-US" sz="1400" dirty="0" err="1">
                <a:latin typeface="Elephant" panose="02020904090505020303" pitchFamily="18" charset="0"/>
              </a:rPr>
              <a:t>foloseste</a:t>
            </a:r>
            <a:r>
              <a:rPr lang="en-US" sz="1400" dirty="0">
                <a:latin typeface="Elephant" panose="02020904090505020303" pitchFamily="18" charset="0"/>
              </a:rPr>
              <a:t> la </a:t>
            </a:r>
            <a:r>
              <a:rPr lang="en-US" sz="1400" dirty="0" err="1">
                <a:latin typeface="Elephant" panose="02020904090505020303" pitchFamily="18" charset="0"/>
              </a:rPr>
              <a:t>indulcirea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produlesor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cofetarie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D6E6E-FFEA-A543-843C-386E1F6DF7F2}"/>
              </a:ext>
            </a:extLst>
          </p:cNvPr>
          <p:cNvSpPr txBox="1"/>
          <p:nvPr/>
        </p:nvSpPr>
        <p:spPr>
          <a:xfrm>
            <a:off x="486508" y="1752600"/>
            <a:ext cx="1297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 err="1">
                <a:latin typeface="Elephant" pitchFamily="18" charset="0"/>
              </a:rPr>
              <a:t>Celuloza</a:t>
            </a:r>
            <a:endParaRPr lang="en-US" sz="2000" u="sng" dirty="0">
              <a:latin typeface="Elephant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BBBDC-1F77-EDC1-2A24-6D561A3CCEB4}"/>
              </a:ext>
            </a:extLst>
          </p:cNvPr>
          <p:cNvSpPr txBox="1"/>
          <p:nvPr/>
        </p:nvSpPr>
        <p:spPr>
          <a:xfrm>
            <a:off x="486508" y="2286000"/>
            <a:ext cx="3836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celuloză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sunt</a:t>
            </a:r>
          </a:p>
          <a:p>
            <a:r>
              <a:rPr lang="en-US" sz="1400" b="0" i="0" dirty="0" err="1">
                <a:effectLst/>
                <a:latin typeface="Elephant" panose="02020904090505020303" pitchFamily="18" charset="0"/>
              </a:rPr>
              <a:t>formate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resturi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B-D-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glucopiranoză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unite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pozițiile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1-4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prin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legături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monocarbonilice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B-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glicozidice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celuloză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atomii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oxigen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punțile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eterice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sunt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orientați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alternativ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o parte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alta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axei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iar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celulozei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au o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orientare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liniară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</a:t>
            </a:r>
            <a:endParaRPr lang="en-US" sz="1400" dirty="0">
              <a:latin typeface="Elephant" panose="0202090409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21C77-0324-427D-2E41-687E230C543C}"/>
              </a:ext>
            </a:extLst>
          </p:cNvPr>
          <p:cNvSpPr txBox="1"/>
          <p:nvPr/>
        </p:nvSpPr>
        <p:spPr>
          <a:xfrm>
            <a:off x="4849803" y="480565"/>
            <a:ext cx="383699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b="0" i="0" dirty="0" err="1">
                <a:effectLst/>
                <a:latin typeface="Elephant" panose="02020904090505020303" pitchFamily="18" charset="0"/>
              </a:rPr>
              <a:t>Structura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filiformă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</a:t>
            </a:r>
          </a:p>
          <a:p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macromoleculelor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celuloză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permite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formarea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unor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legături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hidrogen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intramoleculare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orientarea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paralelă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a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macromoleculelor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realizarea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unui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număr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mare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legături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hidrogen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între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grupele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hidroxil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din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învecinate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felul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acesta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macromoleculele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sunt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foarte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strâns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împachetate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,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iar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firul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de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celuloză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este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rezistent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şi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celuloza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este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insolubilă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 în </a:t>
            </a:r>
            <a:r>
              <a:rPr lang="en-US" sz="1400" b="0" i="0" dirty="0" err="1">
                <a:effectLst/>
                <a:latin typeface="Elephant" panose="02020904090505020303" pitchFamily="18" charset="0"/>
              </a:rPr>
              <a:t>apă</a:t>
            </a:r>
            <a:r>
              <a:rPr lang="en-US" sz="1400" b="0" i="0" dirty="0">
                <a:effectLst/>
                <a:latin typeface="Elephant" panose="02020904090505020303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anose="02020904090505020303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r>
              <a:rPr lang="en-US" sz="1400" dirty="0">
                <a:latin typeface="Elephant" panose="02020904090505020303" pitchFamily="18" charset="0"/>
              </a:rPr>
              <a:t> are formula </a:t>
            </a:r>
            <a:r>
              <a:rPr lang="en-US" sz="1400" dirty="0" err="1">
                <a:latin typeface="Elephant" panose="02020904090505020303" pitchFamily="18" charset="0"/>
              </a:rPr>
              <a:t>generala</a:t>
            </a:r>
            <a:endParaRPr lang="en-US" sz="1400" dirty="0">
              <a:latin typeface="Elephant" panose="02020904090505020303" pitchFamily="18" charset="0"/>
            </a:endParaRPr>
          </a:p>
          <a:p>
            <a:r>
              <a:rPr lang="en-US" sz="1400" dirty="0">
                <a:latin typeface="Elephant" panose="02020904090505020303" pitchFamily="18" charset="0"/>
              </a:rPr>
              <a:t>  --(C6H10O5)N--, unde n </a:t>
            </a:r>
            <a:r>
              <a:rPr lang="en-US" sz="1400" dirty="0" err="1">
                <a:latin typeface="Elephant" panose="02020904090505020303" pitchFamily="18" charset="0"/>
              </a:rPr>
              <a:t>variaza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intre</a:t>
            </a:r>
            <a:r>
              <a:rPr lang="en-US" sz="1400" dirty="0">
                <a:latin typeface="Elephant" panose="02020904090505020303" pitchFamily="18" charset="0"/>
              </a:rPr>
              <a:t> 300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3400, in funcție de </a:t>
            </a:r>
            <a:r>
              <a:rPr lang="en-US" sz="1400" dirty="0" err="1">
                <a:latin typeface="Elephant" panose="02020904090505020303" pitchFamily="18" charset="0"/>
              </a:rPr>
              <a:t>specia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vegetala</a:t>
            </a:r>
            <a:r>
              <a:rPr lang="en-US" sz="1400" dirty="0">
                <a:latin typeface="Elephant" panose="02020904090505020303" pitchFamily="18" charset="0"/>
              </a:rPr>
              <a:t> din care </a:t>
            </a:r>
            <a:r>
              <a:rPr lang="en-US" sz="1400" dirty="0" err="1">
                <a:latin typeface="Elephant" panose="02020904090505020303" pitchFamily="18" charset="0"/>
              </a:rPr>
              <a:t>provine</a:t>
            </a:r>
            <a:r>
              <a:rPr lang="en-US" sz="1400" dirty="0">
                <a:latin typeface="Elephant" panose="02020904090505020303" pitchFamily="18" charset="0"/>
              </a:rPr>
              <a:t>. </a:t>
            </a: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formeaza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partile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sustinere</a:t>
            </a:r>
            <a:r>
              <a:rPr lang="en-US" sz="1400" dirty="0">
                <a:latin typeface="Elephant" panose="02020904090505020303" pitchFamily="18" charset="0"/>
              </a:rPr>
              <a:t> ale </a:t>
            </a:r>
            <a:r>
              <a:rPr lang="en-US" sz="1400" dirty="0" err="1">
                <a:latin typeface="Elephant" panose="02020904090505020303" pitchFamily="18" charset="0"/>
              </a:rPr>
              <a:t>plantelor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impreuna</a:t>
            </a:r>
            <a:r>
              <a:rPr lang="en-US" sz="1400" dirty="0">
                <a:latin typeface="Elephant" panose="02020904090505020303" pitchFamily="18" charset="0"/>
              </a:rPr>
              <a:t> cu </a:t>
            </a:r>
            <a:r>
              <a:rPr lang="en-US" sz="1400" dirty="0" err="1">
                <a:latin typeface="Elephant" panose="02020904090505020303" pitchFamily="18" charset="0"/>
              </a:rPr>
              <a:t>lignina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alte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substante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necelulozice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confera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plantelor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rezistenta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mecanica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elasticitate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3501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7E4085-8FF7-BCF0-F1C0-4CC09EC10A11}"/>
              </a:ext>
            </a:extLst>
          </p:cNvPr>
          <p:cNvSpPr txBox="1"/>
          <p:nvPr/>
        </p:nvSpPr>
        <p:spPr>
          <a:xfrm>
            <a:off x="457200" y="484465"/>
            <a:ext cx="383699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Organismul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uman</a:t>
            </a:r>
            <a:r>
              <a:rPr lang="en-US" sz="1400" dirty="0">
                <a:latin typeface="Elephant" panose="02020904090505020303" pitchFamily="18" charset="0"/>
              </a:rPr>
              <a:t> nu are </a:t>
            </a:r>
            <a:r>
              <a:rPr lang="en-US" sz="1400" dirty="0" err="1">
                <a:latin typeface="Elephant" panose="02020904090505020303" pitchFamily="18" charset="0"/>
              </a:rPr>
              <a:t>enzimele</a:t>
            </a:r>
            <a:endParaRPr lang="en-US" sz="1400" dirty="0">
              <a:latin typeface="Elephant" panose="02020904090505020303" pitchFamily="18" charset="0"/>
            </a:endParaRPr>
          </a:p>
          <a:p>
            <a:r>
              <a:rPr lang="en-US" sz="1400" dirty="0" err="1">
                <a:latin typeface="Elephant" panose="02020904090505020303" pitchFamily="18" charset="0"/>
              </a:rPr>
              <a:t>necesare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hidrolizarii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celulozei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aceea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r>
              <a:rPr lang="en-US" sz="1400" dirty="0">
                <a:latin typeface="Elephant" panose="02020904090505020303" pitchFamily="18" charset="0"/>
              </a:rPr>
              <a:t> nu </a:t>
            </a:r>
            <a:r>
              <a:rPr lang="en-US" sz="1400" dirty="0" err="1">
                <a:latin typeface="Elephant" panose="02020904090505020303" pitchFamily="18" charset="0"/>
              </a:rPr>
              <a:t>este</a:t>
            </a:r>
            <a:r>
              <a:rPr lang="en-US" sz="1400" dirty="0">
                <a:latin typeface="Elephant" panose="02020904090505020303" pitchFamily="18" charset="0"/>
              </a:rPr>
              <a:t> o </a:t>
            </a:r>
            <a:r>
              <a:rPr lang="en-US" sz="1400" dirty="0" err="1">
                <a:latin typeface="Elephant" panose="02020904090505020303" pitchFamily="18" charset="0"/>
              </a:rPr>
              <a:t>substanta</a:t>
            </a:r>
            <a:r>
              <a:rPr lang="en-US" sz="1400" dirty="0">
                <a:latin typeface="Elephant" panose="02020904090505020303" pitchFamily="18" charset="0"/>
              </a:rPr>
              <a:t> nutritive </a:t>
            </a:r>
            <a:r>
              <a:rPr lang="en-US" sz="1400" dirty="0" err="1">
                <a:latin typeface="Elephant" panose="02020904090505020303" pitchFamily="18" charset="0"/>
              </a:rPr>
              <a:t>pentru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om.</a:t>
            </a:r>
            <a:endParaRPr lang="en-US" sz="1400" dirty="0">
              <a:latin typeface="Elephant" panose="02020904090505020303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anose="02020904090505020303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Cea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mai</a:t>
            </a:r>
            <a:r>
              <a:rPr lang="en-US" sz="1400" dirty="0">
                <a:latin typeface="Elephant" panose="02020904090505020303" pitchFamily="18" charset="0"/>
              </a:rPr>
              <a:t> mare </a:t>
            </a:r>
            <a:r>
              <a:rPr lang="en-US" sz="1400" dirty="0" err="1">
                <a:latin typeface="Elephant" panose="02020904090505020303" pitchFamily="18" charset="0"/>
              </a:rPr>
              <a:t>cantitate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endParaRPr lang="en-US" sz="1400" dirty="0">
              <a:latin typeface="Elephant" panose="02020904090505020303" pitchFamily="18" charset="0"/>
            </a:endParaRPr>
          </a:p>
          <a:p>
            <a:r>
              <a:rPr lang="en-US" sz="1400" dirty="0" err="1">
                <a:latin typeface="Elephant" panose="02020904090505020303" pitchFamily="18" charset="0"/>
              </a:rPr>
              <a:t>este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utilizata</a:t>
            </a:r>
            <a:r>
              <a:rPr lang="en-US" sz="1400" dirty="0">
                <a:latin typeface="Elephant" panose="02020904090505020303" pitchFamily="18" charset="0"/>
              </a:rPr>
              <a:t> la </a:t>
            </a:r>
            <a:r>
              <a:rPr lang="en-US" sz="1400" dirty="0" err="1">
                <a:latin typeface="Elephant" panose="02020904090505020303" pitchFamily="18" charset="0"/>
              </a:rPr>
              <a:t>obtinerea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fibrelor</a:t>
            </a:r>
            <a:r>
              <a:rPr lang="en-US" sz="1400" dirty="0">
                <a:latin typeface="Elephant" panose="02020904090505020303" pitchFamily="18" charset="0"/>
              </a:rPr>
              <a:t> textile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a </a:t>
            </a:r>
            <a:r>
              <a:rPr lang="en-US" sz="1400" dirty="0" err="1">
                <a:latin typeface="Elephant" panose="02020904090505020303" pitchFamily="18" charset="0"/>
              </a:rPr>
              <a:t>hartiei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anose="02020904090505020303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Grupele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hidroxil</a:t>
            </a:r>
            <a:r>
              <a:rPr lang="en-US" sz="1400" dirty="0">
                <a:latin typeface="Elephant" panose="02020904090505020303" pitchFamily="18" charset="0"/>
              </a:rPr>
              <a:t> din </a:t>
            </a: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r>
              <a:rPr lang="en-US" sz="1400" dirty="0">
                <a:latin typeface="Elephant" panose="02020904090505020303" pitchFamily="18" charset="0"/>
              </a:rPr>
              <a:t> sunt</a:t>
            </a:r>
          </a:p>
          <a:p>
            <a:r>
              <a:rPr lang="en-US" sz="1400" dirty="0">
                <a:latin typeface="Elephant" panose="02020904090505020303" pitchFamily="18" charset="0"/>
              </a:rPr>
              <a:t>implicate in </a:t>
            </a:r>
            <a:r>
              <a:rPr lang="en-US" sz="1400" dirty="0" err="1">
                <a:latin typeface="Elephant" panose="02020904090505020303" pitchFamily="18" charset="0"/>
              </a:rPr>
              <a:t>legaturi</a:t>
            </a:r>
            <a:r>
              <a:rPr lang="en-US" sz="1400" dirty="0">
                <a:latin typeface="Elephant" panose="02020904090505020303" pitchFamily="18" charset="0"/>
              </a:rPr>
              <a:t> de hydrogen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aceea</a:t>
            </a:r>
            <a:r>
              <a:rPr lang="en-US" sz="1400" dirty="0">
                <a:latin typeface="Elephant" panose="02020904090505020303" pitchFamily="18" charset="0"/>
              </a:rPr>
              <a:t> sunt </a:t>
            </a:r>
            <a:r>
              <a:rPr lang="en-US" sz="1400" dirty="0" err="1">
                <a:latin typeface="Elephant" panose="02020904090505020303" pitchFamily="18" charset="0"/>
              </a:rPr>
              <a:t>mai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putin</a:t>
            </a:r>
            <a:r>
              <a:rPr lang="en-US" sz="1400" dirty="0">
                <a:latin typeface="Elephant" panose="02020904090505020303" pitchFamily="18" charset="0"/>
              </a:rPr>
              <a:t> reactive.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latin typeface="Elephant" panose="02020904090505020303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Prin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tratarea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celulozei</a:t>
            </a:r>
            <a:r>
              <a:rPr lang="en-US" sz="1400" dirty="0">
                <a:latin typeface="Elephant" panose="02020904090505020303" pitchFamily="18" charset="0"/>
              </a:rPr>
              <a:t> cu acid azotic</a:t>
            </a:r>
          </a:p>
          <a:p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acid sulfuric, se </a:t>
            </a:r>
            <a:r>
              <a:rPr lang="en-US" sz="1400" dirty="0" err="1">
                <a:latin typeface="Elephant" panose="02020904090505020303" pitchFamily="18" charset="0"/>
              </a:rPr>
              <a:t>obtin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esteri</a:t>
            </a:r>
            <a:r>
              <a:rPr lang="en-US" sz="1400" dirty="0">
                <a:latin typeface="Elephant" panose="02020904090505020303" pitchFamily="18" charset="0"/>
              </a:rPr>
              <a:t> ai </a:t>
            </a:r>
            <a:r>
              <a:rPr lang="en-US" sz="1400" dirty="0" err="1">
                <a:latin typeface="Elephant" panose="02020904090505020303" pitchFamily="18" charset="0"/>
              </a:rPr>
              <a:t>celulozei</a:t>
            </a:r>
            <a:r>
              <a:rPr lang="en-US" sz="1400" dirty="0">
                <a:latin typeface="Elephant" panose="02020904090505020303" pitchFamily="18" charset="0"/>
              </a:rPr>
              <a:t> cu </a:t>
            </a:r>
            <a:r>
              <a:rPr lang="en-US" sz="1400" dirty="0" err="1">
                <a:latin typeface="Elephant" panose="02020904090505020303" pitchFamily="18" charset="0"/>
              </a:rPr>
              <a:t>acidul</a:t>
            </a:r>
            <a:r>
              <a:rPr lang="en-US" sz="1400" dirty="0">
                <a:latin typeface="Elephant" panose="02020904090505020303" pitchFamily="18" charset="0"/>
              </a:rPr>
              <a:t> azotic, </a:t>
            </a:r>
            <a:r>
              <a:rPr lang="en-US" sz="1400" dirty="0" err="1">
                <a:latin typeface="Elephant" panose="02020904090505020303" pitchFamily="18" charset="0"/>
              </a:rPr>
              <a:t>nitrati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r>
              <a:rPr lang="en-US" sz="1400" dirty="0">
                <a:latin typeface="Elephant" panose="02020904090505020303" pitchFamily="18" charset="0"/>
              </a:rPr>
              <a:t>, </a:t>
            </a:r>
            <a:r>
              <a:rPr lang="en-US" sz="1400" dirty="0" err="1">
                <a:latin typeface="Elephant" panose="02020904090505020303" pitchFamily="18" charset="0"/>
              </a:rPr>
              <a:t>numiti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impropriu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nitroceluloza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B9B6E-F1BF-CFC3-D223-FC24C1042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594519"/>
            <a:ext cx="3525521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67AC3A-0C75-6E81-BA68-1FA362413F2D}"/>
              </a:ext>
            </a:extLst>
          </p:cNvPr>
          <p:cNvSpPr txBox="1"/>
          <p:nvPr/>
        </p:nvSpPr>
        <p:spPr>
          <a:xfrm>
            <a:off x="5029200" y="1691481"/>
            <a:ext cx="355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Elephant" panose="02020904090505020303" pitchFamily="18" charset="0"/>
              </a:rPr>
              <a:t>Ecuatia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reactiei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poate</a:t>
            </a:r>
            <a:r>
              <a:rPr lang="en-US" sz="1400" dirty="0">
                <a:latin typeface="Elephant" panose="02020904090505020303" pitchFamily="18" charset="0"/>
              </a:rPr>
              <a:t> fi redate </a:t>
            </a:r>
            <a:r>
              <a:rPr lang="en-US" sz="1400" dirty="0" err="1">
                <a:latin typeface="Elephant" panose="02020904090505020303" pitchFamily="18" charset="0"/>
              </a:rPr>
              <a:t>mai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simplu</a:t>
            </a:r>
            <a:r>
              <a:rPr lang="en-US" sz="1400" dirty="0">
                <a:latin typeface="Elephant" panose="02020904090505020303" pitchFamily="18" charset="0"/>
              </a:rPr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F3EC6E-8D5E-15FD-E395-A6BF6E3AF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722" y="2317705"/>
            <a:ext cx="3559199" cy="647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09D606-7739-0278-6B3F-1D629FB03DE2}"/>
              </a:ext>
            </a:extLst>
          </p:cNvPr>
          <p:cNvSpPr txBox="1"/>
          <p:nvPr/>
        </p:nvSpPr>
        <p:spPr>
          <a:xfrm>
            <a:off x="4965878" y="3115155"/>
            <a:ext cx="35591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lephant" panose="02020904090505020303" pitchFamily="18" charset="0"/>
              </a:rPr>
              <a:t>In </a:t>
            </a:r>
            <a:r>
              <a:rPr lang="en-US" sz="1400" dirty="0" err="1">
                <a:latin typeface="Elephant" panose="02020904090505020303" pitchFamily="18" charset="0"/>
              </a:rPr>
              <a:t>fiecare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unitate</a:t>
            </a:r>
            <a:r>
              <a:rPr lang="en-US" sz="1400" dirty="0">
                <a:latin typeface="Elephant" panose="02020904090505020303" pitchFamily="18" charset="0"/>
              </a:rPr>
              <a:t> de </a:t>
            </a:r>
            <a:r>
              <a:rPr lang="en-US" sz="1400" dirty="0" err="1">
                <a:latin typeface="Elephant" panose="02020904090505020303" pitchFamily="18" charset="0"/>
              </a:rPr>
              <a:t>glucoza</a:t>
            </a:r>
            <a:r>
              <a:rPr lang="en-US" sz="1400" dirty="0">
                <a:latin typeface="Elephant" panose="02020904090505020303" pitchFamily="18" charset="0"/>
              </a:rPr>
              <a:t> din </a:t>
            </a:r>
            <a:r>
              <a:rPr lang="en-US" sz="1400" dirty="0" err="1">
                <a:latin typeface="Elephant" panose="02020904090505020303" pitchFamily="18" charset="0"/>
              </a:rPr>
              <a:t>celuloza</a:t>
            </a:r>
            <a:r>
              <a:rPr lang="en-US" sz="1400" dirty="0">
                <a:latin typeface="Elephant" panose="02020904090505020303" pitchFamily="18" charset="0"/>
              </a:rPr>
              <a:t>, pot fi </a:t>
            </a:r>
            <a:r>
              <a:rPr lang="en-US" sz="1400" dirty="0" err="1">
                <a:latin typeface="Elephant" panose="02020904090505020303" pitchFamily="18" charset="0"/>
              </a:rPr>
              <a:t>esterificate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una</a:t>
            </a:r>
            <a:r>
              <a:rPr lang="en-US" sz="1400" dirty="0">
                <a:latin typeface="Elephant" panose="02020904090505020303" pitchFamily="18" charset="0"/>
              </a:rPr>
              <a:t>, </a:t>
            </a:r>
            <a:r>
              <a:rPr lang="en-US" sz="1400" dirty="0" err="1">
                <a:latin typeface="Elephant" panose="02020904090505020303" pitchFamily="18" charset="0"/>
              </a:rPr>
              <a:t>doua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sau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trei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grupe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hidroxil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4A568C-A45A-FD9F-EB18-089C5D983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523" y="3938025"/>
            <a:ext cx="3715120" cy="86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8B86BD-AF87-E5C1-2BD5-8FC28705C7CD}"/>
              </a:ext>
            </a:extLst>
          </p:cNvPr>
          <p:cNvSpPr txBox="1"/>
          <p:nvPr/>
        </p:nvSpPr>
        <p:spPr>
          <a:xfrm>
            <a:off x="533400" y="531782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 err="1">
                <a:latin typeface="Elephant" pitchFamily="18" charset="0"/>
              </a:rPr>
              <a:t>Glicogen</a:t>
            </a:r>
            <a:endParaRPr lang="en-US" sz="2000" u="sng" dirty="0">
              <a:latin typeface="Elephant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97AF5-B9E8-A467-0560-4096296CB427}"/>
              </a:ext>
            </a:extLst>
          </p:cNvPr>
          <p:cNvSpPr txBox="1"/>
          <p:nvPr/>
        </p:nvSpPr>
        <p:spPr>
          <a:xfrm>
            <a:off x="457200" y="1002596"/>
            <a:ext cx="3836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 err="1">
                <a:latin typeface="Elephant" panose="02020904090505020303" pitchFamily="18" charset="0"/>
              </a:rPr>
              <a:t>Glicogenul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este</a:t>
            </a:r>
            <a:r>
              <a:rPr lang="en-US" sz="1400" dirty="0">
                <a:latin typeface="Elephant" panose="02020904090505020303" pitchFamily="18" charset="0"/>
              </a:rPr>
              <a:t> o </a:t>
            </a:r>
            <a:r>
              <a:rPr lang="en-US" sz="1400" dirty="0" err="1">
                <a:latin typeface="Elephant" panose="02020904090505020303" pitchFamily="18" charset="0"/>
              </a:rPr>
              <a:t>polizaharida</a:t>
            </a:r>
            <a:r>
              <a:rPr lang="en-US" sz="1400" dirty="0">
                <a:latin typeface="Elephant" panose="02020904090505020303" pitchFamily="18" charset="0"/>
              </a:rPr>
              <a:t> de</a:t>
            </a:r>
          </a:p>
          <a:p>
            <a:r>
              <a:rPr lang="en-US" sz="1400" dirty="0" err="1">
                <a:latin typeface="Elephant" panose="02020904090505020303" pitchFamily="18" charset="0"/>
              </a:rPr>
              <a:t>rezerva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pentru</a:t>
            </a:r>
            <a:r>
              <a:rPr lang="en-US" sz="1400" dirty="0">
                <a:latin typeface="Elephant" panose="02020904090505020303" pitchFamily="18" charset="0"/>
              </a:rPr>
              <a:t> om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animale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este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depozitat</a:t>
            </a:r>
            <a:r>
              <a:rPr lang="en-US" sz="1400" dirty="0">
                <a:latin typeface="Elephant" panose="02020904090505020303" pitchFamily="18" charset="0"/>
              </a:rPr>
              <a:t> in </a:t>
            </a:r>
            <a:r>
              <a:rPr lang="en-US" sz="1400" dirty="0" err="1">
                <a:latin typeface="Elephant" panose="02020904090505020303" pitchFamily="18" charset="0"/>
              </a:rPr>
              <a:t>ficat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in </a:t>
            </a:r>
            <a:r>
              <a:rPr lang="en-US" sz="1400" dirty="0" err="1">
                <a:latin typeface="Elephant" panose="02020904090505020303" pitchFamily="18" charset="0"/>
              </a:rPr>
              <a:t>concentratie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mai</a:t>
            </a:r>
            <a:r>
              <a:rPr lang="en-US" sz="1400" dirty="0">
                <a:latin typeface="Elephant" panose="02020904090505020303" pitchFamily="18" charset="0"/>
              </a:rPr>
              <a:t> mica in </a:t>
            </a:r>
            <a:r>
              <a:rPr lang="en-US" sz="1400" dirty="0" err="1">
                <a:latin typeface="Elephant" panose="02020904090505020303" pitchFamily="18" charset="0"/>
              </a:rPr>
              <a:t>muschi</a:t>
            </a:r>
            <a:r>
              <a:rPr lang="en-US" sz="1400" dirty="0">
                <a:latin typeface="Elephant" panose="02020904090505020303" pitchFamily="18" charset="0"/>
              </a:rPr>
              <a:t>. Este format ca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amilopectina</a:t>
            </a:r>
            <a:r>
              <a:rPr lang="en-US" sz="1400" dirty="0">
                <a:latin typeface="Elephant" panose="02020904090505020303" pitchFamily="18" charset="0"/>
              </a:rPr>
              <a:t> sin </a:t>
            </a:r>
            <a:r>
              <a:rPr lang="en-US" sz="1400" dirty="0" err="1">
                <a:latin typeface="Elephant" panose="02020904090505020303" pitchFamily="18" charset="0"/>
              </a:rPr>
              <a:t>resturi</a:t>
            </a:r>
            <a:r>
              <a:rPr lang="en-US" sz="1400" dirty="0">
                <a:latin typeface="Elephant" panose="02020904090505020303" pitchFamily="18" charset="0"/>
              </a:rPr>
              <a:t> de a-D-</a:t>
            </a:r>
            <a:r>
              <a:rPr lang="en-US" sz="1400" dirty="0" err="1">
                <a:latin typeface="Elephant" panose="02020904090505020303" pitchFamily="18" charset="0"/>
              </a:rPr>
              <a:t>glicopiranoza</a:t>
            </a:r>
            <a:r>
              <a:rPr lang="en-US" sz="1400" dirty="0">
                <a:latin typeface="Elephant" panose="02020904090505020303" pitchFamily="18" charset="0"/>
              </a:rPr>
              <a:t> legate in </a:t>
            </a:r>
            <a:r>
              <a:rPr lang="en-US" sz="1400" dirty="0" err="1">
                <a:latin typeface="Elephant" panose="02020904090505020303" pitchFamily="18" charset="0"/>
              </a:rPr>
              <a:t>pozitiile</a:t>
            </a:r>
            <a:r>
              <a:rPr lang="en-US" sz="1400" dirty="0">
                <a:latin typeface="Elephant" panose="02020904090505020303" pitchFamily="18" charset="0"/>
              </a:rPr>
              <a:t> 1-4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1-6. Are </a:t>
            </a:r>
            <a:r>
              <a:rPr lang="en-US" sz="1400" dirty="0" err="1">
                <a:latin typeface="Elephant" panose="02020904090505020303" pitchFamily="18" charset="0"/>
              </a:rPr>
              <a:t>macromoleculele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mai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mici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si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mai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ramnificate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decat</a:t>
            </a:r>
            <a:r>
              <a:rPr lang="en-US" sz="1400" dirty="0">
                <a:latin typeface="Elephant" panose="02020904090505020303" pitchFamily="18" charset="0"/>
              </a:rPr>
              <a:t> </a:t>
            </a:r>
            <a:r>
              <a:rPr lang="en-US" sz="1400" dirty="0" err="1">
                <a:latin typeface="Elephant" panose="02020904090505020303" pitchFamily="18" charset="0"/>
              </a:rPr>
              <a:t>amilopectina</a:t>
            </a:r>
            <a:r>
              <a:rPr lang="en-US" sz="1400" dirty="0">
                <a:latin typeface="Elephant" panose="020209040905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64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285750" indent="-285750">
          <a:buFont typeface="Wingdings" pitchFamily="2" charset="2"/>
          <a:buChar char="v"/>
          <a:defRPr sz="1400" dirty="0" err="1" smtClean="0">
            <a:latin typeface="Elephant" pitchFamily="18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2164</Words>
  <Application>Microsoft Office PowerPoint</Application>
  <PresentationFormat>On-screen Show (4:3)</PresentationFormat>
  <Paragraphs>270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Cascadia Mono</vt:lpstr>
      <vt:lpstr>Elephant</vt:lpstr>
      <vt:lpstr>Times New Roman</vt:lpstr>
      <vt:lpstr>Wingdings</vt:lpstr>
      <vt:lpstr>Office Theme</vt:lpstr>
      <vt:lpstr>PowerPoint Presentation</vt:lpstr>
      <vt:lpstr>Monozaharide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Gabi</dc:creator>
  <cp:lastModifiedBy>Cozma Dacian</cp:lastModifiedBy>
  <cp:revision>24</cp:revision>
  <dcterms:created xsi:type="dcterms:W3CDTF">2006-08-16T00:00:00Z</dcterms:created>
  <dcterms:modified xsi:type="dcterms:W3CDTF">2024-05-10T21:36:20Z</dcterms:modified>
</cp:coreProperties>
</file>